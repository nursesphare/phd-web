
<file path=[Content_Types].xml><?xml version="1.0" encoding="utf-8"?>
<Types xmlns="http://schemas.openxmlformats.org/package/2006/content-types">
  <Default ContentType="application/xml" Extension="xml"/>
  <Default ContentType="image/jpeg" Extension="jpe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presentation.main+xml" PartName="/ppt/presentation.xml"/>
  <Override ContentType="application/vnd.ms-office.chartstyle+xml" PartName="/ppt/charts/style1.xml"/>
  <Override ContentType="application/vnd.ms-office.chartstyle+xml" PartName="/ppt/charts/style2.xml"/>
  <Override ContentType="application/vnd.ms-office.chartcolorstyle+xml" PartName="/ppt/charts/colors1.xml"/>
  <Override ContentType="application/vnd.ms-office.chartcolorstyle+xml" PartName="/ppt/charts/colors2.xml"/>
  <Override ContentType="application/vnd.openxmlformats-officedocument.presentationml.presProps+xml" PartName="/ppt/presProps1.xml"/>
  <Override ContentType="application/vnd.openxmlformats-officedocument.theme+xml" PartName="/ppt/theme/theme1.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7.xml"/><Relationship Id="rId22" Type="http://schemas.openxmlformats.org/officeDocument/2006/relationships/slide" Target="slides/slide19.xml"/><Relationship Id="rId21" Type="http://schemas.openxmlformats.org/officeDocument/2006/relationships/slide" Target="slides/slide18.xml"/><Relationship Id="rId24" Type="http://schemas.openxmlformats.org/officeDocument/2006/relationships/slide" Target="slides/slide21.xml"/><Relationship Id="rId23" Type="http://schemas.openxmlformats.org/officeDocument/2006/relationships/slide" Target="slides/slide20.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25" Type="http://schemas.openxmlformats.org/officeDocument/2006/relationships/slide" Target="slides/slide22.xml"/><Relationship Id="rId28" Type="http://schemas.openxmlformats.org/officeDocument/2006/relationships/slide" Target="slides/slide25.xml"/><Relationship Id="rId27" Type="http://schemas.openxmlformats.org/officeDocument/2006/relationships/slide" Target="slides/slide24.xml"/><Relationship Id="rId5" Type="http://schemas.openxmlformats.org/officeDocument/2006/relationships/slide" Target="slides/slide2.xml"/><Relationship Id="rId6" Type="http://schemas.openxmlformats.org/officeDocument/2006/relationships/slide" Target="slides/slide3.xml"/><Relationship Id="rId29" Type="http://schemas.openxmlformats.org/officeDocument/2006/relationships/slide" Target="slides/slide26.xml"/><Relationship Id="rId7" Type="http://schemas.openxmlformats.org/officeDocument/2006/relationships/slide" Target="slides/slide4.xml"/><Relationship Id="rId8" Type="http://schemas.openxmlformats.org/officeDocument/2006/relationships/slide" Target="slides/slide5.xml"/><Relationship Id="rId31" Type="http://schemas.openxmlformats.org/officeDocument/2006/relationships/slide" Target="slides/slide28.xml"/><Relationship Id="rId30" Type="http://schemas.openxmlformats.org/officeDocument/2006/relationships/slide" Target="slides/slide27.xml"/><Relationship Id="rId11" Type="http://schemas.openxmlformats.org/officeDocument/2006/relationships/slide" Target="slides/slide8.xml"/><Relationship Id="rId10" Type="http://schemas.openxmlformats.org/officeDocument/2006/relationships/slide" Target="slides/slide7.xml"/><Relationship Id="rId13" Type="http://schemas.openxmlformats.org/officeDocument/2006/relationships/slide" Target="slides/slide10.xml"/><Relationship Id="rId12" Type="http://schemas.openxmlformats.org/officeDocument/2006/relationships/slide" Target="slides/slide9.xml"/><Relationship Id="rId15" Type="http://schemas.openxmlformats.org/officeDocument/2006/relationships/slide" Target="slides/slide12.xml"/><Relationship Id="rId14" Type="http://schemas.openxmlformats.org/officeDocument/2006/relationships/slide" Target="slides/slide11.xml"/><Relationship Id="rId17" Type="http://schemas.openxmlformats.org/officeDocument/2006/relationships/slide" Target="slides/slide14.xml"/><Relationship Id="rId16" Type="http://schemas.openxmlformats.org/officeDocument/2006/relationships/slide" Target="slides/slide13.xml"/><Relationship Id="rId19" Type="http://schemas.openxmlformats.org/officeDocument/2006/relationships/slide" Target="slides/slide16.xml"/><Relationship Id="rId18" Type="http://schemas.openxmlformats.org/officeDocument/2006/relationships/slide" Target="slides/slide15.xml"/></Relationships>
</file>

<file path=ppt/charts/_rels/chart1.xml.rels><?xml version="1.0" encoding="UTF-8" standalone="yes"?>
<Relationships xmlns="http://schemas.openxmlformats.org/package/2006/relationships"><Relationship Id="rId2" Type="http://schemas.microsoft.com/office/2011/relationships/chartColorStyle" Target="colors1.xml" /><Relationship Id="rId1" Type="http://schemas.microsoft.com/office/2011/relationships/chartStyle" Target="style1.xml" /></Relationships>
</file>

<file path=ppt/charts/_rels/chart2.xml.rels><?xml version="1.0" encoding="UTF-8" standalone="yes"?>
<Relationships xmlns="http://schemas.openxmlformats.org/package/2006/relationships"><Relationship Id="rId2" Type="http://schemas.microsoft.com/office/2011/relationships/chartColorStyle" Target="colors2.xml" /><Relationship Id="rId1" Type="http://schemas.microsoft.com/office/2011/relationships/chartStyle" Target="style2.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Readmissions within 24 hours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ar-AE"/>
        </a:p>
      </c:txPr>
    </c:title>
    <c:autoTitleDeleted val="0"/>
    <c:view3D>
      <c:rotX val="15"/>
      <c:rotY val="34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'[المصنف (5).xlsx]ورقة1'!$B$1</c:f>
              <c:strCache>
                <c:ptCount val="1"/>
              </c:strCache>
            </c:strRef>
          </c:tx>
          <c:spPr>
            <a:solidFill>
              <a:schemeClr val="accent1"/>
            </a:solidFill>
            <a:ln>
              <a:noFill/>
            </a:ln>
            <a:effectLst/>
            <a:sp3d/>
          </c:spPr>
          <c:invertIfNegative val="0"/>
          <c:cat>
            <c:strRef>
              <c:f>'[المصنف (5).xlsx]ورقة1'!$A$2:$A$12</c:f>
              <c:strCache>
                <c:ptCount val="11"/>
                <c:pt idx="0">
                  <c:v>JANUARY</c:v>
                </c:pt>
                <c:pt idx="1">
                  <c:v>February </c:v>
                </c:pt>
                <c:pt idx="2">
                  <c:v>March </c:v>
                </c:pt>
                <c:pt idx="3">
                  <c:v>April</c:v>
                </c:pt>
                <c:pt idx="4">
                  <c:v>May</c:v>
                </c:pt>
                <c:pt idx="5">
                  <c:v>June</c:v>
                </c:pt>
                <c:pt idx="6">
                  <c:v>July</c:v>
                </c:pt>
                <c:pt idx="7">
                  <c:v>August </c:v>
                </c:pt>
                <c:pt idx="8">
                  <c:v>September </c:v>
                </c:pt>
                <c:pt idx="9">
                  <c:v>October </c:v>
                </c:pt>
                <c:pt idx="10">
                  <c:v>November </c:v>
                </c:pt>
              </c:strCache>
            </c:strRef>
          </c:cat>
          <c:val>
            <c:numRef>
              <c:f>'[المصنف (5).xlsx]ورقة1'!$B$2:$B$12</c:f>
              <c:numCache>
                <c:formatCode>General</c:formatCode>
                <c:ptCount val="11"/>
                <c:pt idx="0">
                  <c:v>0</c:v>
                </c:pt>
                <c:pt idx="1">
                  <c:v>1</c:v>
                </c:pt>
                <c:pt idx="2">
                  <c:v>1</c:v>
                </c:pt>
                <c:pt idx="3">
                  <c:v>0</c:v>
                </c:pt>
                <c:pt idx="4">
                  <c:v>0</c:v>
                </c:pt>
                <c:pt idx="5">
                  <c:v>0</c:v>
                </c:pt>
                <c:pt idx="6">
                  <c:v>1</c:v>
                </c:pt>
                <c:pt idx="7">
                  <c:v>1</c:v>
                </c:pt>
                <c:pt idx="8">
                  <c:v>1</c:v>
                </c:pt>
                <c:pt idx="9">
                  <c:v>1</c:v>
                </c:pt>
                <c:pt idx="10">
                  <c:v>0</c:v>
                </c:pt>
              </c:numCache>
            </c:numRef>
          </c:val>
          <c:extLst>
            <c:ext xmlns:c16="http://schemas.microsoft.com/office/drawing/2014/chart" uri="{C3380CC4-5D6E-409C-BE32-E72D297353CC}">
              <c16:uniqueId val="{00000000-E23A-4B4C-91F1-4507102A7F39}"/>
            </c:ext>
          </c:extLst>
        </c:ser>
        <c:dLbls>
          <c:showLegendKey val="0"/>
          <c:showVal val="0"/>
          <c:showCatName val="0"/>
          <c:showSerName val="0"/>
          <c:showPercent val="0"/>
          <c:showBubbleSize val="0"/>
        </c:dLbls>
        <c:gapWidth val="150"/>
        <c:shape val="box"/>
        <c:axId val="451525135"/>
        <c:axId val="451524687"/>
        <c:axId val="0"/>
      </c:bar3DChart>
      <c:catAx>
        <c:axId val="451525135"/>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crossAx val="451524687"/>
        <c:crosses val="autoZero"/>
        <c:auto val="1"/>
        <c:lblAlgn val="ctr"/>
        <c:lblOffset val="100"/>
        <c:noMultiLvlLbl val="0"/>
      </c:catAx>
      <c:valAx>
        <c:axId val="451524687"/>
        <c:scaling>
          <c:orientation val="minMax"/>
        </c:scaling>
        <c:delete val="0"/>
        <c:axPos val="r"/>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crossAx val="451525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ar-AE"/>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ar-AE"/>
              <a:t> </a:t>
            </a:r>
            <a:r>
              <a:rPr lang="en-US"/>
              <a:t>Medication Error</a:t>
            </a:r>
            <a:endParaRPr lang="ar-AE"/>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ar-AE"/>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spPr>
            <a:solidFill>
              <a:schemeClr val="accent1"/>
            </a:solidFill>
            <a:ln>
              <a:noFill/>
            </a:ln>
            <a:effectLst/>
            <a:sp3d/>
          </c:spPr>
          <c:invertIfNegative val="0"/>
          <c:cat>
            <c:strRef>
              <c:f>'[المصنف (5).xlsx]ورقة1'!$A$1:$A$12</c:f>
              <c:strCache>
                <c:ptCount val="12"/>
                <c:pt idx="0">
                  <c:v>Month</c:v>
                </c:pt>
                <c:pt idx="1">
                  <c:v>JANUARY</c:v>
                </c:pt>
                <c:pt idx="2">
                  <c:v>February </c:v>
                </c:pt>
                <c:pt idx="3">
                  <c:v>March </c:v>
                </c:pt>
                <c:pt idx="4">
                  <c:v>April</c:v>
                </c:pt>
                <c:pt idx="5">
                  <c:v>May</c:v>
                </c:pt>
                <c:pt idx="6">
                  <c:v>June</c:v>
                </c:pt>
                <c:pt idx="7">
                  <c:v>July</c:v>
                </c:pt>
                <c:pt idx="8">
                  <c:v>August </c:v>
                </c:pt>
                <c:pt idx="9">
                  <c:v>September </c:v>
                </c:pt>
                <c:pt idx="10">
                  <c:v>October </c:v>
                </c:pt>
                <c:pt idx="11">
                  <c:v>November </c:v>
                </c:pt>
              </c:strCache>
            </c:strRef>
          </c:cat>
          <c:val>
            <c:numRef>
              <c:f>'[المصنف (5).xlsx]ورقة1'!$B$1:$B$12</c:f>
              <c:numCache>
                <c:formatCode>General</c:formatCode>
                <c:ptCount val="12"/>
                <c:pt idx="1">
                  <c:v>3</c:v>
                </c:pt>
                <c:pt idx="2">
                  <c:v>4</c:v>
                </c:pt>
                <c:pt idx="3">
                  <c:v>1</c:v>
                </c:pt>
                <c:pt idx="4">
                  <c:v>1</c:v>
                </c:pt>
                <c:pt idx="5">
                  <c:v>2</c:v>
                </c:pt>
                <c:pt idx="6">
                  <c:v>0</c:v>
                </c:pt>
                <c:pt idx="7">
                  <c:v>2</c:v>
                </c:pt>
                <c:pt idx="8">
                  <c:v>1</c:v>
                </c:pt>
                <c:pt idx="9">
                  <c:v>1</c:v>
                </c:pt>
                <c:pt idx="10">
                  <c:v>0</c:v>
                </c:pt>
                <c:pt idx="11">
                  <c:v>1</c:v>
                </c:pt>
              </c:numCache>
            </c:numRef>
          </c:val>
          <c:extLst>
            <c:ext xmlns:c16="http://schemas.microsoft.com/office/drawing/2014/chart" uri="{C3380CC4-5D6E-409C-BE32-E72D297353CC}">
              <c16:uniqueId val="{00000000-7A9B-4F47-B2DA-FD20AA2AF2E4}"/>
            </c:ext>
          </c:extLst>
        </c:ser>
        <c:dLbls>
          <c:showLegendKey val="0"/>
          <c:showVal val="0"/>
          <c:showCatName val="0"/>
          <c:showSerName val="0"/>
          <c:showPercent val="0"/>
          <c:showBubbleSize val="0"/>
        </c:dLbls>
        <c:gapWidth val="150"/>
        <c:shape val="box"/>
        <c:axId val="454270479"/>
        <c:axId val="454281679"/>
        <c:axId val="726986671"/>
      </c:bar3DChart>
      <c:catAx>
        <c:axId val="454270479"/>
        <c:scaling>
          <c:orientation val="maxMin"/>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crossAx val="454281679"/>
        <c:crosses val="autoZero"/>
        <c:auto val="1"/>
        <c:lblAlgn val="ctr"/>
        <c:lblOffset val="100"/>
        <c:noMultiLvlLbl val="0"/>
      </c:catAx>
      <c:valAx>
        <c:axId val="454281679"/>
        <c:scaling>
          <c:orientation val="minMax"/>
        </c:scaling>
        <c:delete val="0"/>
        <c:axPos val="r"/>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crossAx val="454270479"/>
        <c:crosses val="autoZero"/>
        <c:crossBetween val="between"/>
      </c:valAx>
      <c:serAx>
        <c:axId val="726986671"/>
        <c:scaling>
          <c:orientation val="minMax"/>
        </c:scaling>
        <c:delete val="0"/>
        <c:axPos val="b"/>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crossAx val="454281679"/>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ar-AE"/>
    </a:p>
  </c:tx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22B5011-5053-4627-8F10-3E58B83156F4}" type="datetimeFigureOut">
              <a:rPr lang="en-PH" smtClean="0"/>
              <a:t>10/12/2022</a:t>
            </a:fld>
            <a:endParaRPr lang="en-PH"/>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PH"/>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2377956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2B5011-5053-4627-8F10-3E58B83156F4}" type="datetimeFigureOut">
              <a:rPr lang="en-PH" smtClean="0"/>
              <a:t>10/12/2022</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31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2B5011-5053-4627-8F10-3E58B83156F4}" type="datetimeFigureOut">
              <a:rPr lang="en-PH" smtClean="0"/>
              <a:t>10/12/2022</a:t>
            </a:fld>
            <a:endParaRPr lang="en-PH"/>
          </a:p>
        </p:txBody>
      </p:sp>
      <p:sp>
        <p:nvSpPr>
          <p:cNvPr id="5" name="Footer Placeholder 4"/>
          <p:cNvSpPr>
            <a:spLocks noGrp="1"/>
          </p:cNvSpPr>
          <p:nvPr>
            <p:ph type="ftr" sz="quarter" idx="11"/>
          </p:nvPr>
        </p:nvSpPr>
        <p:spPr/>
        <p:txBody>
          <a:bodyPr/>
          <a:lstStyle/>
          <a:p>
            <a:endParaRPr lang="en-P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1309904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2B5011-5053-4627-8F10-3E58B83156F4}" type="datetimeFigureOut">
              <a:rPr lang="en-PH" smtClean="0"/>
              <a:t>10/12/2022</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690092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2B5011-5053-4627-8F10-3E58B83156F4}" type="datetimeFigureOut">
              <a:rPr lang="en-PH" smtClean="0"/>
              <a:t>10/12/2022</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2950306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2B5011-5053-4627-8F10-3E58B83156F4}" type="datetimeFigureOut">
              <a:rPr lang="en-PH" smtClean="0"/>
              <a:t>10/12/2022</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1366919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B5011-5053-4627-8F10-3E58B83156F4}" type="datetimeFigureOut">
              <a:rPr lang="en-PH" smtClean="0"/>
              <a:t>10/12/2022</a:t>
            </a:fld>
            <a:endParaRPr lang="en-PH"/>
          </a:p>
        </p:txBody>
      </p:sp>
      <p:sp>
        <p:nvSpPr>
          <p:cNvPr id="3" name="Footer Placeholder 2"/>
          <p:cNvSpPr>
            <a:spLocks noGrp="1"/>
          </p:cNvSpPr>
          <p:nvPr>
            <p:ph type="ftr" sz="quarter" idx="11"/>
          </p:nvPr>
        </p:nvSpPr>
        <p:spPr/>
        <p:txBody>
          <a:bodyPr/>
          <a:lstStyle/>
          <a:p>
            <a:endParaRPr lang="en-PH"/>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2496359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2B5011-5053-4627-8F10-3E58B83156F4}" type="datetimeFigureOut">
              <a:rPr lang="en-PH" smtClean="0"/>
              <a:t>10/12/2022</a:t>
            </a:fld>
            <a:endParaRPr lang="en-PH"/>
          </a:p>
        </p:txBody>
      </p:sp>
      <p:sp>
        <p:nvSpPr>
          <p:cNvPr id="6" name="Footer Placeholder 5"/>
          <p:cNvSpPr>
            <a:spLocks noGrp="1"/>
          </p:cNvSpPr>
          <p:nvPr>
            <p:ph type="ftr" sz="quarter" idx="11"/>
          </p:nvPr>
        </p:nvSpPr>
        <p:spPr/>
        <p:txBody>
          <a:bodyPr/>
          <a:lstStyle/>
          <a:p>
            <a:endParaRPr lang="en-P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3795290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2B5011-5053-4627-8F10-3E58B83156F4}" type="datetimeFigureOut">
              <a:rPr lang="en-PH" smtClean="0"/>
              <a:t>10/12/2022</a:t>
            </a:fld>
            <a:endParaRPr lang="en-PH"/>
          </a:p>
        </p:txBody>
      </p:sp>
      <p:sp>
        <p:nvSpPr>
          <p:cNvPr id="6" name="Footer Placeholder 5"/>
          <p:cNvSpPr>
            <a:spLocks noGrp="1"/>
          </p:cNvSpPr>
          <p:nvPr>
            <p:ph type="ftr" sz="quarter" idx="11"/>
          </p:nvPr>
        </p:nvSpPr>
        <p:spPr/>
        <p:txBody>
          <a:bodyPr/>
          <a:lstStyle/>
          <a:p>
            <a:endParaRPr lang="en-P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168594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2B5011-5053-4627-8F10-3E58B83156F4}" type="datetimeFigureOut">
              <a:rPr lang="en-PH" smtClean="0"/>
              <a:t>10/12/2022</a:t>
            </a:fld>
            <a:endParaRPr lang="en-PH"/>
          </a:p>
        </p:txBody>
      </p:sp>
      <p:sp>
        <p:nvSpPr>
          <p:cNvPr id="6" name="Footer Placeholder 5"/>
          <p:cNvSpPr>
            <a:spLocks noGrp="1"/>
          </p:cNvSpPr>
          <p:nvPr>
            <p:ph type="ftr" sz="quarter" idx="11"/>
          </p:nvPr>
        </p:nvSpPr>
        <p:spPr/>
        <p:txBody>
          <a:bodyPr/>
          <a:lstStyle/>
          <a:p>
            <a:endParaRPr lang="en-P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242171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22B5011-5053-4627-8F10-3E58B83156F4}" type="datetimeFigureOut">
              <a:rPr lang="en-PH" smtClean="0"/>
              <a:t>10/12/2022</a:t>
            </a:fld>
            <a:endParaRPr lang="en-PH"/>
          </a:p>
        </p:txBody>
      </p:sp>
      <p:sp>
        <p:nvSpPr>
          <p:cNvPr id="5" name="Footer Placeholder 4"/>
          <p:cNvSpPr>
            <a:spLocks noGrp="1"/>
          </p:cNvSpPr>
          <p:nvPr>
            <p:ph type="ftr" sz="quarter" idx="11"/>
          </p:nvPr>
        </p:nvSpPr>
        <p:spPr/>
        <p:txBody>
          <a:bodyPr/>
          <a:lstStyle/>
          <a:p>
            <a:endParaRPr lang="en-PH"/>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3991237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22B5011-5053-4627-8F10-3E58B83156F4}" type="datetimeFigureOut">
              <a:rPr lang="en-PH" smtClean="0"/>
              <a:t>10/12/2022</a:t>
            </a:fld>
            <a:endParaRPr lang="en-PH"/>
          </a:p>
        </p:txBody>
      </p:sp>
      <p:sp>
        <p:nvSpPr>
          <p:cNvPr id="5" name="Footer Placeholder 4"/>
          <p:cNvSpPr>
            <a:spLocks noGrp="1"/>
          </p:cNvSpPr>
          <p:nvPr>
            <p:ph type="ftr" sz="quarter" idx="11"/>
          </p:nvPr>
        </p:nvSpPr>
        <p:spPr/>
        <p:txBody>
          <a:bodyPr/>
          <a:lstStyle/>
          <a:p>
            <a:endParaRPr lang="en-PH"/>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2817068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2B5011-5053-4627-8F10-3E58B83156F4}" type="datetimeFigureOut">
              <a:rPr lang="en-PH" smtClean="0"/>
              <a:t>10/12/2022</a:t>
            </a:fld>
            <a:endParaRPr lang="en-PH"/>
          </a:p>
        </p:txBody>
      </p:sp>
      <p:sp>
        <p:nvSpPr>
          <p:cNvPr id="5" name="Footer Placeholder 4"/>
          <p:cNvSpPr>
            <a:spLocks noGrp="1"/>
          </p:cNvSpPr>
          <p:nvPr>
            <p:ph type="ftr" sz="quarter" idx="11"/>
          </p:nvPr>
        </p:nvSpPr>
        <p:spPr/>
        <p:txBody>
          <a:bodyPr/>
          <a:lstStyle/>
          <a:p>
            <a:endParaRPr lang="en-PH"/>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2858714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22B5011-5053-4627-8F10-3E58B83156F4}" type="datetimeFigureOut">
              <a:rPr lang="en-PH" smtClean="0"/>
              <a:t>10/12/2022</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32978531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22B5011-5053-4627-8F10-3E58B83156F4}" type="datetimeFigureOut">
              <a:rPr lang="en-PH" smtClean="0"/>
              <a:t>10/12/2022</a:t>
            </a:fld>
            <a:endParaRPr lang="en-PH"/>
          </a:p>
        </p:txBody>
      </p:sp>
      <p:sp>
        <p:nvSpPr>
          <p:cNvPr id="8" name="Footer Placeholder 7"/>
          <p:cNvSpPr>
            <a:spLocks noGrp="1"/>
          </p:cNvSpPr>
          <p:nvPr>
            <p:ph type="ftr" sz="quarter" idx="11"/>
          </p:nvPr>
        </p:nvSpPr>
        <p:spPr>
          <a:xfrm>
            <a:off x="561111" y="6391838"/>
            <a:ext cx="3644282" cy="304801"/>
          </a:xfrm>
        </p:spPr>
        <p:txBody>
          <a:bodyPr/>
          <a:lstStyle/>
          <a:p>
            <a:endParaRPr lang="en-PH"/>
          </a:p>
        </p:txBody>
      </p:sp>
      <p:sp>
        <p:nvSpPr>
          <p:cNvPr id="9" name="Slide Number Placeholder 8"/>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674475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22B5011-5053-4627-8F10-3E58B83156F4}" type="datetimeFigureOut">
              <a:rPr lang="en-PH" smtClean="0"/>
              <a:t>10/12/2022</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3782049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22B5011-5053-4627-8F10-3E58B83156F4}" type="datetimeFigureOut">
              <a:rPr lang="en-PH" smtClean="0"/>
              <a:t>10/12/2022</a:t>
            </a:fld>
            <a:endParaRPr lang="en-PH"/>
          </a:p>
        </p:txBody>
      </p:sp>
      <p:sp>
        <p:nvSpPr>
          <p:cNvPr id="5" name="Footer Placeholder 4"/>
          <p:cNvSpPr>
            <a:spLocks noGrp="1"/>
          </p:cNvSpPr>
          <p:nvPr>
            <p:ph type="ftr" sz="quarter" idx="11"/>
          </p:nvPr>
        </p:nvSpPr>
        <p:spPr/>
        <p:txBody>
          <a:bodyPr/>
          <a:lstStyle/>
          <a:p>
            <a:endParaRPr lang="en-PH"/>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CB327DA-66EF-4952-9352-E3B4C722A046}" type="slidenum">
              <a:rPr lang="en-PH" smtClean="0"/>
              <a:t>‹#›</a:t>
            </a:fld>
            <a:endParaRPr lang="en-PH"/>
          </a:p>
        </p:txBody>
      </p:sp>
    </p:spTree>
    <p:extLst>
      <p:ext uri="{BB962C8B-B14F-4D97-AF65-F5344CB8AC3E}">
        <p14:creationId xmlns:p14="http://schemas.microsoft.com/office/powerpoint/2010/main" val="420836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22B5011-5053-4627-8F10-3E58B83156F4}" type="datetimeFigureOut">
              <a:rPr lang="en-PH" smtClean="0"/>
              <a:t>10/12/2022</a:t>
            </a:fld>
            <a:endParaRPr lang="en-PH"/>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PH"/>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ECB327DA-66EF-4952-9352-E3B4C722A046}" type="slidenum">
              <a:rPr lang="en-PH" smtClean="0"/>
              <a:t>‹#›</a:t>
            </a:fld>
            <a:endParaRPr lang="en-PH"/>
          </a:p>
        </p:txBody>
      </p:sp>
    </p:spTree>
    <p:extLst>
      <p:ext uri="{BB962C8B-B14F-4D97-AF65-F5344CB8AC3E}">
        <p14:creationId xmlns:p14="http://schemas.microsoft.com/office/powerpoint/2010/main" val="2362272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6.jpeg" /><Relationship Id="rId1" Type="http://schemas.openxmlformats.org/officeDocument/2006/relationships/slideLayout" Target="../slideLayouts/slideLayout2.xml" /><Relationship Id="rId4" Type="http://schemas.openxmlformats.org/officeDocument/2006/relationships/image" Target="../media/image8.jpeg" /></Relationships>
</file>

<file path=ppt/slides/_rels/slide7.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chart" Target="../charts/chart2.xml" /><Relationship Id="rId2" Type="http://schemas.openxmlformats.org/officeDocument/2006/relationships/chart" Target="../charts/chart1.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6.xml.rels><?xml version="1.0" encoding="UTF-8" standalone="yes"?>
<Relationships xmlns="http://schemas.openxmlformats.org/package/2006/relationships"><Relationship Id="rId3" Type="http://schemas.openxmlformats.org/officeDocument/2006/relationships/image" Target="../media/image17.jpeg" /><Relationship Id="rId2" Type="http://schemas.openxmlformats.org/officeDocument/2006/relationships/image" Target="../media/image16.jpeg" /><Relationship Id="rId1" Type="http://schemas.openxmlformats.org/officeDocument/2006/relationships/slideLayout" Target="../slideLayouts/slideLayout6.xml" /></Relationships>
</file>

<file path=ppt/slides/_rels/slide27.xml.rels><?xml version="1.0" encoding="UTF-8" standalone="yes"?>
<Relationships xmlns="http://schemas.openxmlformats.org/package/2006/relationships"><Relationship Id="rId3" Type="http://schemas.openxmlformats.org/officeDocument/2006/relationships/image" Target="../media/image19.jpeg" /><Relationship Id="rId2" Type="http://schemas.openxmlformats.org/officeDocument/2006/relationships/image" Target="../media/image18.jpeg" /><Relationship Id="rId1" Type="http://schemas.openxmlformats.org/officeDocument/2006/relationships/slideLayout" Target="../slideLayouts/slideLayout6.xml" /></Relationships>
</file>

<file path=ppt/slides/_rels/slide28.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2E51F614-1B91-5E81-F682-DB5383BDB054}"/>
              </a:ext>
            </a:extLst>
          </p:cNvPr>
          <p:cNvPicPr>
            <a:picLocks noChangeAspect="1"/>
          </p:cNvPicPr>
          <p:nvPr/>
        </p:nvPicPr>
        <p:blipFill rotWithShape="1">
          <a:blip r:embed="rId2">
            <a:extLst>
              <a:ext uri="{28A0092B-C50C-407E-A947-70E740481C1C}">
                <a14:useLocalDpi xmlns:a14="http://schemas.microsoft.com/office/drawing/2010/main" val="0"/>
              </a:ext>
            </a:extLst>
          </a:blip>
          <a:srcRect l="13179" r="17089"/>
          <a:stretch/>
        </p:blipFill>
        <p:spPr>
          <a:xfrm>
            <a:off x="1403218" y="0"/>
            <a:ext cx="8552518" cy="6857999"/>
          </a:xfrm>
          <a:prstGeom prst="rect">
            <a:avLst/>
          </a:prstGeom>
        </p:spPr>
      </p:pic>
      <p:sp>
        <p:nvSpPr>
          <p:cNvPr id="4" name="مربع نص 3">
            <a:extLst>
              <a:ext uri="{FF2B5EF4-FFF2-40B4-BE49-F238E27FC236}">
                <a16:creationId xmlns:a16="http://schemas.microsoft.com/office/drawing/2014/main" id="{7843EE2D-D0AB-CDFD-006B-89EA9981F493}"/>
              </a:ext>
            </a:extLst>
          </p:cNvPr>
          <p:cNvSpPr txBox="1"/>
          <p:nvPr/>
        </p:nvSpPr>
        <p:spPr>
          <a:xfrm>
            <a:off x="5182488" y="2504831"/>
            <a:ext cx="1828800" cy="1828800"/>
          </a:xfrm>
          <a:prstGeom prst="rect">
            <a:avLst/>
          </a:prstGeom>
          <a:noFill/>
        </p:spPr>
        <p:txBody>
          <a:bodyPr wrap="square" rtlCol="1">
            <a:spAutoFit/>
          </a:bodyPr>
          <a:lstStyle/>
          <a:p>
            <a:pPr algn="r"/>
            <a:endParaRPr lang="ar-AE" dirty="0"/>
          </a:p>
        </p:txBody>
      </p:sp>
      <p:sp>
        <p:nvSpPr>
          <p:cNvPr id="5" name="مربع نص 4">
            <a:extLst>
              <a:ext uri="{FF2B5EF4-FFF2-40B4-BE49-F238E27FC236}">
                <a16:creationId xmlns:a16="http://schemas.microsoft.com/office/drawing/2014/main" id="{56E91B8F-D05B-3EEC-AABC-B9D284FFD541}"/>
              </a:ext>
            </a:extLst>
          </p:cNvPr>
          <p:cNvSpPr txBox="1"/>
          <p:nvPr/>
        </p:nvSpPr>
        <p:spPr>
          <a:xfrm>
            <a:off x="-490237" y="5675390"/>
            <a:ext cx="1828800" cy="1477328"/>
          </a:xfrm>
          <a:prstGeom prst="rect">
            <a:avLst/>
          </a:prstGeom>
          <a:noFill/>
        </p:spPr>
        <p:txBody>
          <a:bodyPr wrap="square" rtlCol="1">
            <a:spAutoFit/>
          </a:bodyPr>
          <a:lstStyle/>
          <a:p>
            <a:pPr algn="r"/>
            <a:r>
              <a:rPr lang="en-US" dirty="0"/>
              <a:t>Deanna</a:t>
            </a:r>
          </a:p>
          <a:p>
            <a:pPr algn="r"/>
            <a:r>
              <a:rPr lang="en-US" dirty="0"/>
              <a:t>Syamily</a:t>
            </a:r>
          </a:p>
          <a:p>
            <a:pPr algn="r"/>
            <a:r>
              <a:rPr lang="en-US" dirty="0"/>
              <a:t>Fatema Ali</a:t>
            </a:r>
          </a:p>
          <a:p>
            <a:pPr algn="r"/>
            <a:r>
              <a:rPr lang="en-US" dirty="0"/>
              <a:t>Sindhu</a:t>
            </a:r>
          </a:p>
          <a:p>
            <a:pPr algn="r"/>
            <a:endParaRPr lang="en-US" dirty="0"/>
          </a:p>
        </p:txBody>
      </p:sp>
      <p:sp>
        <p:nvSpPr>
          <p:cNvPr id="6" name="مربع نص 5">
            <a:extLst>
              <a:ext uri="{FF2B5EF4-FFF2-40B4-BE49-F238E27FC236}">
                <a16:creationId xmlns:a16="http://schemas.microsoft.com/office/drawing/2014/main" id="{DF5F16E9-F948-D636-0FF7-1E093D2DC24C}"/>
              </a:ext>
            </a:extLst>
          </p:cNvPr>
          <p:cNvSpPr txBox="1"/>
          <p:nvPr/>
        </p:nvSpPr>
        <p:spPr>
          <a:xfrm>
            <a:off x="7326924" y="4720670"/>
            <a:ext cx="3747123" cy="1200329"/>
          </a:xfrm>
          <a:prstGeom prst="rect">
            <a:avLst/>
          </a:prstGeom>
          <a:noFill/>
        </p:spPr>
        <p:txBody>
          <a:bodyPr wrap="square" rtlCol="1">
            <a:spAutoFit/>
          </a:bodyPr>
          <a:lstStyle/>
          <a:p>
            <a:pPr algn="r"/>
            <a:r>
              <a:rPr lang="en-US" sz="3600" dirty="0">
                <a:solidFill>
                  <a:schemeClr val="accent2">
                    <a:lumMod val="50000"/>
                  </a:schemeClr>
                </a:solidFill>
                <a:latin typeface="Algerian" pitchFamily="82" charset="0"/>
              </a:rPr>
              <a:t>And risk assessment</a:t>
            </a:r>
            <a:endParaRPr lang="ar-AE" sz="3600" dirty="0">
              <a:solidFill>
                <a:schemeClr val="accent2">
                  <a:lumMod val="50000"/>
                </a:schemeClr>
              </a:solidFill>
              <a:latin typeface="Algerian" pitchFamily="82" charset="0"/>
            </a:endParaRPr>
          </a:p>
        </p:txBody>
      </p:sp>
    </p:spTree>
    <p:extLst>
      <p:ext uri="{BB962C8B-B14F-4D97-AF65-F5344CB8AC3E}">
        <p14:creationId xmlns:p14="http://schemas.microsoft.com/office/powerpoint/2010/main" val="3787613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B23C8-6F5E-DCE3-D0A5-B0D579B00305}"/>
              </a:ext>
            </a:extLst>
          </p:cNvPr>
          <p:cNvSpPr>
            <a:spLocks noGrp="1"/>
          </p:cNvSpPr>
          <p:nvPr>
            <p:ph type="title"/>
          </p:nvPr>
        </p:nvSpPr>
        <p:spPr/>
        <p:txBody>
          <a:bodyPr/>
          <a:lstStyle/>
          <a:p>
            <a:r>
              <a:rPr lang="en-PH" b="1" u="sng" dirty="0">
                <a:latin typeface="Comic Sans MS" panose="030F0702030302020204" pitchFamily="66" charset="0"/>
              </a:rPr>
              <a:t>KPI</a:t>
            </a:r>
          </a:p>
        </p:txBody>
      </p:sp>
      <p:sp>
        <p:nvSpPr>
          <p:cNvPr id="3" name="Subtitle 2">
            <a:extLst>
              <a:ext uri="{FF2B5EF4-FFF2-40B4-BE49-F238E27FC236}">
                <a16:creationId xmlns:a16="http://schemas.microsoft.com/office/drawing/2014/main" id="{5E300562-1E5D-ADB5-D4CF-0C20E86DE25F}"/>
              </a:ext>
            </a:extLst>
          </p:cNvPr>
          <p:cNvSpPr>
            <a:spLocks noGrp="1"/>
          </p:cNvSpPr>
          <p:nvPr>
            <p:ph idx="1"/>
          </p:nvPr>
        </p:nvSpPr>
        <p:spPr/>
        <p:txBody>
          <a:bodyPr/>
          <a:lstStyle/>
          <a:p>
            <a:pPr marL="285750" indent="-285750">
              <a:buFont typeface="Arial" panose="020B0604020202020204" pitchFamily="34" charset="0"/>
              <a:buChar char="•"/>
            </a:pPr>
            <a:r>
              <a:rPr lang="en-PH" sz="2400" cap="small" dirty="0">
                <a:solidFill>
                  <a:schemeClr val="tx1">
                    <a:lumMod val="90000"/>
                    <a:lumOff val="10000"/>
                  </a:schemeClr>
                </a:solidFill>
                <a:latin typeface="Comic Sans MS" panose="030F0702030302020204" pitchFamily="66" charset="0"/>
              </a:rPr>
              <a:t>S</a:t>
            </a:r>
            <a:r>
              <a:rPr lang="en-PH" sz="2400" cap="none" dirty="0">
                <a:solidFill>
                  <a:schemeClr val="tx1">
                    <a:lumMod val="90000"/>
                    <a:lumOff val="10000"/>
                  </a:schemeClr>
                </a:solidFill>
                <a:latin typeface="Comic Sans MS" panose="030F0702030302020204" pitchFamily="66" charset="0"/>
              </a:rPr>
              <a:t>tands  for KEY PERFORMANCE INDICATOR</a:t>
            </a:r>
          </a:p>
          <a:p>
            <a:pPr marL="285750" indent="-285750">
              <a:buFont typeface="Arial" panose="020B0604020202020204" pitchFamily="34" charset="0"/>
              <a:buChar char="•"/>
            </a:pPr>
            <a:r>
              <a:rPr lang="en-PH" sz="2400" cap="none" dirty="0">
                <a:solidFill>
                  <a:schemeClr val="tx1">
                    <a:lumMod val="90000"/>
                    <a:lumOff val="10000"/>
                  </a:schemeClr>
                </a:solidFill>
                <a:latin typeface="Comic Sans MS" panose="030F0702030302020204" pitchFamily="66" charset="0"/>
              </a:rPr>
              <a:t>A measurable value that indicates progress towards a project outcome or result.</a:t>
            </a:r>
          </a:p>
          <a:p>
            <a:pPr marL="285750" indent="-285750">
              <a:buFont typeface="Arial" panose="020B0604020202020204" pitchFamily="34" charset="0"/>
              <a:buChar char="•"/>
            </a:pPr>
            <a:r>
              <a:rPr lang="en-PH" sz="2400" cap="none" dirty="0">
                <a:solidFill>
                  <a:schemeClr val="tx1">
                    <a:lumMod val="90000"/>
                    <a:lumOff val="10000"/>
                  </a:schemeClr>
                </a:solidFill>
                <a:latin typeface="Comic Sans MS" panose="030F0702030302020204" pitchFamily="66" charset="0"/>
              </a:rPr>
              <a:t>Healthcare KPI’s are important for managing the entire data spectrum of a facility, including patient care, hospital performance, and costs. They can identify ways to improve patient care services, ensure optimal and sustained hospital performance and manage cost-effectively.</a:t>
            </a:r>
          </a:p>
          <a:p>
            <a:endParaRPr lang="en-PH" cap="none" dirty="0">
              <a:solidFill>
                <a:schemeClr val="tx1">
                  <a:lumMod val="90000"/>
                  <a:lumOff val="10000"/>
                </a:schemeClr>
              </a:solidFill>
              <a:latin typeface="Comic Sans MS" panose="030F0702030302020204" pitchFamily="66" charset="0"/>
            </a:endParaRPr>
          </a:p>
          <a:p>
            <a:endParaRPr lang="en-PH" cap="none" dirty="0">
              <a:solidFill>
                <a:schemeClr val="tx1">
                  <a:lumMod val="90000"/>
                  <a:lumOff val="10000"/>
                </a:schemeClr>
              </a:solidFill>
              <a:latin typeface="Comic Sans MS" panose="030F0702030302020204" pitchFamily="66" charset="0"/>
            </a:endParaRPr>
          </a:p>
          <a:p>
            <a:endParaRPr lang="en-PH" cap="small" dirty="0">
              <a:solidFill>
                <a:schemeClr val="tx1">
                  <a:lumMod val="90000"/>
                  <a:lumOff val="10000"/>
                </a:schemeClr>
              </a:solidFill>
              <a:latin typeface="Comic Sans MS" panose="030F0702030302020204" pitchFamily="66" charset="0"/>
            </a:endParaRPr>
          </a:p>
        </p:txBody>
      </p:sp>
    </p:spTree>
    <p:extLst>
      <p:ext uri="{BB962C8B-B14F-4D97-AF65-F5344CB8AC3E}">
        <p14:creationId xmlns:p14="http://schemas.microsoft.com/office/powerpoint/2010/main" val="385631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1200D-B118-D3F2-E8D7-F4BF7C2F078B}"/>
              </a:ext>
            </a:extLst>
          </p:cNvPr>
          <p:cNvSpPr>
            <a:spLocks noGrp="1"/>
          </p:cNvSpPr>
          <p:nvPr>
            <p:ph type="title"/>
          </p:nvPr>
        </p:nvSpPr>
        <p:spPr/>
        <p:txBody>
          <a:bodyPr/>
          <a:lstStyle/>
          <a:p>
            <a:r>
              <a:rPr lang="en-US" sz="4000" dirty="0">
                <a:effectLst/>
                <a:latin typeface="Arial" panose="020B0604020202020204" pitchFamily="34" charset="0"/>
                <a:ea typeface="Times New Roman"/>
                <a:cs typeface="Arial" panose="020B0604020202020204" pitchFamily="34" charset="0"/>
              </a:rPr>
              <a:t>WHY WE SHOULD HAVE KPIs?</a:t>
            </a:r>
            <a:endParaRPr lang="ar-AE" sz="4000" dirty="0">
              <a:latin typeface="Arial" panose="020B0604020202020204" pitchFamily="34" charset="0"/>
              <a:cs typeface="Arial" panose="020B0604020202020204" pitchFamily="34" charset="0"/>
            </a:endParaRPr>
          </a:p>
        </p:txBody>
      </p:sp>
      <p:pic>
        <p:nvPicPr>
          <p:cNvPr id="6" name="Picture 6">
            <a:extLst>
              <a:ext uri="{FF2B5EF4-FFF2-40B4-BE49-F238E27FC236}">
                <a16:creationId xmlns:a16="http://schemas.microsoft.com/office/drawing/2014/main" id="{D747EDF1-9D4F-00E9-3D69-A216B63384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2799" y="2380142"/>
            <a:ext cx="5568462" cy="4264712"/>
          </a:xfrm>
        </p:spPr>
      </p:pic>
    </p:spTree>
    <p:extLst>
      <p:ext uri="{BB962C8B-B14F-4D97-AF65-F5344CB8AC3E}">
        <p14:creationId xmlns:p14="http://schemas.microsoft.com/office/powerpoint/2010/main" val="265961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3A49-1525-BBF2-0BEB-1F8F7FB7FBE4}"/>
              </a:ext>
            </a:extLst>
          </p:cNvPr>
          <p:cNvSpPr>
            <a:spLocks noGrp="1"/>
          </p:cNvSpPr>
          <p:nvPr>
            <p:ph type="title"/>
          </p:nvPr>
        </p:nvSpPr>
        <p:spPr/>
        <p:txBody>
          <a:bodyPr/>
          <a:lstStyle/>
          <a:p>
            <a:r>
              <a:rPr lang="en-PH" dirty="0">
                <a:latin typeface="Comic Sans MS" panose="030F0702030302020204" pitchFamily="66" charset="0"/>
              </a:rPr>
              <a:t>KPI IN PHDU</a:t>
            </a:r>
          </a:p>
        </p:txBody>
      </p:sp>
      <p:pic>
        <p:nvPicPr>
          <p:cNvPr id="6" name="صورة 1" descr="نتيجة بحث الصور عن ‪why its important to monitor re admission in critical care‬‏">
            <a:extLst>
              <a:ext uri="{FF2B5EF4-FFF2-40B4-BE49-F238E27FC236}">
                <a16:creationId xmlns:a16="http://schemas.microsoft.com/office/drawing/2014/main" id="{7BC2EA20-76C7-03EF-40BC-1C96022507F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3203" y="2291329"/>
            <a:ext cx="11385594" cy="4486741"/>
          </a:xfrm>
          <a:prstGeom prst="rect">
            <a:avLst/>
          </a:prstGeom>
          <a:noFill/>
          <a:ln>
            <a:noFill/>
          </a:ln>
        </p:spPr>
      </p:pic>
      <p:sp>
        <p:nvSpPr>
          <p:cNvPr id="3" name="Content Placeholder 2">
            <a:extLst>
              <a:ext uri="{FF2B5EF4-FFF2-40B4-BE49-F238E27FC236}">
                <a16:creationId xmlns:a16="http://schemas.microsoft.com/office/drawing/2014/main" id="{CC700FCF-BE55-BFE9-59D2-A6EFB7CF619C}"/>
              </a:ext>
            </a:extLst>
          </p:cNvPr>
          <p:cNvSpPr>
            <a:spLocks noGrp="1"/>
          </p:cNvSpPr>
          <p:nvPr>
            <p:ph idx="1"/>
          </p:nvPr>
        </p:nvSpPr>
        <p:spPr>
          <a:xfrm>
            <a:off x="1090708" y="2196434"/>
            <a:ext cx="8825659" cy="3416300"/>
          </a:xfrm>
        </p:spPr>
        <p:txBody>
          <a:bodyPr>
            <a:normAutofit fontScale="92500" lnSpcReduction="20000"/>
          </a:bodyPr>
          <a:lstStyle/>
          <a:p>
            <a:pPr>
              <a:buFont typeface="+mj-lt"/>
              <a:buAutoNum type="arabicPeriod"/>
            </a:pPr>
            <a:r>
              <a:rPr lang="en-PH" sz="4400" b="1" dirty="0">
                <a:latin typeface="Comic Sans MS" panose="030F0702030302020204" pitchFamily="66" charset="0"/>
              </a:rPr>
              <a:t>RE-ADMISSIONS</a:t>
            </a:r>
            <a:r>
              <a:rPr lang="en-US" sz="4400" b="1" dirty="0">
                <a:latin typeface="Comic Sans MS" panose="030F0702030302020204" pitchFamily="66" charset="0"/>
              </a:rPr>
              <a:t> WITHIN 24HOURS</a:t>
            </a:r>
          </a:p>
          <a:p>
            <a:pPr>
              <a:buFont typeface="+mj-lt"/>
              <a:buAutoNum type="arabicPeriod"/>
            </a:pPr>
            <a:r>
              <a:rPr lang="en-PH" sz="2100" dirty="0">
                <a:latin typeface="Comic Sans MS" panose="030F0702030302020204" pitchFamily="66" charset="0"/>
              </a:rPr>
              <a:t>Unplanned re-admissions tend to indicate a variety of issues in both treatment effectiveness and quality of care. It will also affect the hospital’s productivity and the availability of beds for new patients.</a:t>
            </a:r>
          </a:p>
          <a:p>
            <a:r>
              <a:rPr lang="en-PH" sz="2100" dirty="0">
                <a:latin typeface="Comic Sans MS" panose="030F0702030302020204" pitchFamily="66" charset="0"/>
              </a:rPr>
              <a:t>It is crucial to reduce hospital readmissions lowering operational overheads.</a:t>
            </a:r>
          </a:p>
          <a:p>
            <a:r>
              <a:rPr lang="en-PH" sz="2100" dirty="0">
                <a:latin typeface="Comic Sans MS" panose="030F0702030302020204" pitchFamily="66" charset="0"/>
              </a:rPr>
              <a:t>It is also a good indicator of how other measures are working when used in conjunction with initial treatments of KPI’s</a:t>
            </a:r>
          </a:p>
          <a:p>
            <a:pPr marL="0" indent="0">
              <a:buNone/>
            </a:pPr>
            <a:endParaRPr lang="en-PH" dirty="0">
              <a:latin typeface="Comic Sans MS" panose="030F0702030302020204" pitchFamily="66" charset="0"/>
            </a:endParaRPr>
          </a:p>
        </p:txBody>
      </p:sp>
    </p:spTree>
    <p:extLst>
      <p:ext uri="{BB962C8B-B14F-4D97-AF65-F5344CB8AC3E}">
        <p14:creationId xmlns:p14="http://schemas.microsoft.com/office/powerpoint/2010/main" val="2327877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E3FAA-4E1C-B905-638B-4DA41F17F151}"/>
              </a:ext>
            </a:extLst>
          </p:cNvPr>
          <p:cNvSpPr>
            <a:spLocks noGrp="1"/>
          </p:cNvSpPr>
          <p:nvPr>
            <p:ph type="title"/>
          </p:nvPr>
        </p:nvSpPr>
        <p:spPr>
          <a:xfrm>
            <a:off x="444465" y="1042466"/>
            <a:ext cx="8761413" cy="706964"/>
          </a:xfrm>
        </p:spPr>
        <p:txBody>
          <a:bodyPr/>
          <a:lstStyle/>
          <a:p>
            <a:r>
              <a:rPr lang="en-US" sz="3200" dirty="0">
                <a:solidFill>
                  <a:schemeClr val="bg1"/>
                </a:solidFill>
                <a:effectLst/>
                <a:latin typeface="Arial" panose="020B0604020202020204" pitchFamily="34" charset="0"/>
                <a:ea typeface="Times New Roman"/>
                <a:cs typeface="Arial" panose="020B0604020202020204" pitchFamily="34" charset="0"/>
              </a:rPr>
              <a:t>What can nurses do to prevent readmissions?</a:t>
            </a:r>
            <a:br>
              <a:rPr lang="en-US" sz="1800" dirty="0">
                <a:effectLst/>
                <a:latin typeface="Calibri" panose="020F0502020204030204" pitchFamily="34" charset="0"/>
                <a:ea typeface="Times New Roman"/>
                <a:cs typeface="Arial" panose="020B0604020202020204" pitchFamily="34" charset="0"/>
              </a:rPr>
            </a:br>
            <a:endParaRPr lang="ar-AE" dirty="0"/>
          </a:p>
        </p:txBody>
      </p:sp>
      <p:pic>
        <p:nvPicPr>
          <p:cNvPr id="4" name="Picture 4">
            <a:extLst>
              <a:ext uri="{FF2B5EF4-FFF2-40B4-BE49-F238E27FC236}">
                <a16:creationId xmlns:a16="http://schemas.microsoft.com/office/drawing/2014/main" id="{53D2C9E0-B7D0-B305-71F0-80EDEE4D57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9440" y="2326853"/>
            <a:ext cx="5202559" cy="4531146"/>
          </a:xfrm>
          <a:prstGeom prst="rect">
            <a:avLst/>
          </a:prstGeom>
        </p:spPr>
      </p:pic>
      <p:sp>
        <p:nvSpPr>
          <p:cNvPr id="3" name="Content Placeholder 2">
            <a:extLst>
              <a:ext uri="{FF2B5EF4-FFF2-40B4-BE49-F238E27FC236}">
                <a16:creationId xmlns:a16="http://schemas.microsoft.com/office/drawing/2014/main" id="{EDE8CCFB-9BA3-629E-19E9-1F3E2DB8C710}"/>
              </a:ext>
            </a:extLst>
          </p:cNvPr>
          <p:cNvSpPr>
            <a:spLocks noGrp="1"/>
          </p:cNvSpPr>
          <p:nvPr>
            <p:ph idx="1"/>
          </p:nvPr>
        </p:nvSpPr>
        <p:spPr>
          <a:xfrm>
            <a:off x="62576" y="2399234"/>
            <a:ext cx="8825659" cy="3416300"/>
          </a:xfrm>
        </p:spPr>
        <p:txBody>
          <a:bodyPr>
            <a:noAutofit/>
          </a:bodyPr>
          <a:lstStyle/>
          <a:p>
            <a:r>
              <a:rPr lang="en-US" b="1" dirty="0">
                <a:solidFill>
                  <a:schemeClr val="tx1"/>
                </a:solidFill>
                <a:latin typeface="Arial Black" panose="020B0604020202020204" pitchFamily="34" charset="0"/>
                <a:cs typeface="Arial Black" panose="020B0604020202020204" pitchFamily="34" charset="0"/>
              </a:rPr>
              <a:t>Manage medications for patients and educate on proper scheduling of medication. Enhance communications with patients so the healthcare team can identify if further care is needed to avoid readmission. Provide patient training to avoid common illnesses that often lead to hospital readmission after a previous hospital .</a:t>
            </a:r>
          </a:p>
          <a:p>
            <a:pPr marL="0" indent="0" rtl="0">
              <a:buNone/>
            </a:pPr>
            <a:r>
              <a:rPr lang="en-US" b="1" dirty="0">
                <a:solidFill>
                  <a:schemeClr val="tx1"/>
                </a:solidFill>
                <a:latin typeface="Arial Black" panose="020B0604020202020204" pitchFamily="34" charset="0"/>
                <a:cs typeface="Arial Black" panose="020B0604020202020204" pitchFamily="34" charset="0"/>
              </a:rPr>
              <a:t>What are ways to reduce hospital readmissions?</a:t>
            </a:r>
          </a:p>
          <a:p>
            <a:pPr lvl="0"/>
            <a:r>
              <a:rPr lang="en-US" b="1" dirty="0">
                <a:solidFill>
                  <a:schemeClr val="tx1"/>
                </a:solidFill>
                <a:latin typeface="Arial Black" panose="020B0604020202020204" pitchFamily="34" charset="0"/>
                <a:cs typeface="Arial Black" panose="020B0604020202020204" pitchFamily="34" charset="0"/>
              </a:rPr>
              <a:t>Use admission, discharge, transfer (ADT) data for proper transition of care. ...</a:t>
            </a:r>
          </a:p>
          <a:p>
            <a:pPr lvl="0"/>
            <a:r>
              <a:rPr lang="en-US" b="1" dirty="0">
                <a:solidFill>
                  <a:schemeClr val="tx1"/>
                </a:solidFill>
                <a:latin typeface="Arial Black" panose="020B0604020202020204" pitchFamily="34" charset="0"/>
                <a:cs typeface="Arial Black" panose="020B0604020202020204" pitchFamily="34" charset="0"/>
              </a:rPr>
              <a:t>Follow up with patients after discharge. ...</a:t>
            </a:r>
          </a:p>
          <a:p>
            <a:pPr lvl="0"/>
            <a:r>
              <a:rPr lang="en-US" b="1" dirty="0">
                <a:solidFill>
                  <a:schemeClr val="tx1"/>
                </a:solidFill>
                <a:latin typeface="Arial Black" panose="020B0604020202020204" pitchFamily="34" charset="0"/>
                <a:cs typeface="Arial Black" panose="020B0604020202020204" pitchFamily="34" charset="0"/>
              </a:rPr>
              <a:t>Identify risk factors for readmission using EHR data. ...</a:t>
            </a:r>
          </a:p>
          <a:p>
            <a:pPr lvl="0"/>
            <a:r>
              <a:rPr lang="en-US" b="1" dirty="0">
                <a:solidFill>
                  <a:schemeClr val="tx1"/>
                </a:solidFill>
                <a:latin typeface="Arial Black" panose="020B0604020202020204" pitchFamily="34" charset="0"/>
                <a:cs typeface="Arial Black" panose="020B0604020202020204" pitchFamily="34" charset="0"/>
              </a:rPr>
              <a:t>Support patient medication adherence to prevent rehospitalization.</a:t>
            </a:r>
            <a:endParaRPr lang="en-US" b="1" dirty="0">
              <a:solidFill>
                <a:schemeClr val="tx1"/>
              </a:solidFill>
              <a:effectLst/>
              <a:latin typeface="Arial Black" panose="020B0604020202020204" pitchFamily="34" charset="0"/>
              <a:ea typeface="Times New Roman"/>
              <a:cs typeface="Arial Black" panose="020B0604020202020204" pitchFamily="34" charset="0"/>
            </a:endParaRPr>
          </a:p>
        </p:txBody>
      </p:sp>
    </p:spTree>
    <p:extLst>
      <p:ext uri="{BB962C8B-B14F-4D97-AF65-F5344CB8AC3E}">
        <p14:creationId xmlns:p14="http://schemas.microsoft.com/office/powerpoint/2010/main" val="649491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9C2A1BB0-B533-F534-0B53-EBEC4515A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5416" y="4111513"/>
            <a:ext cx="2875706" cy="2744687"/>
          </a:xfrm>
          <a:prstGeom prst="rect">
            <a:avLst/>
          </a:prstGeom>
        </p:spPr>
      </p:pic>
      <p:pic>
        <p:nvPicPr>
          <p:cNvPr id="4" name="Picture 4">
            <a:extLst>
              <a:ext uri="{FF2B5EF4-FFF2-40B4-BE49-F238E27FC236}">
                <a16:creationId xmlns:a16="http://schemas.microsoft.com/office/drawing/2014/main" id="{5A3FB92A-927C-0D1E-1CFE-CF772A0597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88115" y="0"/>
            <a:ext cx="2950308" cy="2211399"/>
          </a:xfrm>
          <a:prstGeom prst="rect">
            <a:avLst/>
          </a:prstGeom>
        </p:spPr>
      </p:pic>
      <p:sp>
        <p:nvSpPr>
          <p:cNvPr id="2" name="Title 1">
            <a:extLst>
              <a:ext uri="{FF2B5EF4-FFF2-40B4-BE49-F238E27FC236}">
                <a16:creationId xmlns:a16="http://schemas.microsoft.com/office/drawing/2014/main" id="{0AE6621E-1426-BFA6-BA3B-C84E3A4F7C64}"/>
              </a:ext>
            </a:extLst>
          </p:cNvPr>
          <p:cNvSpPr>
            <a:spLocks noGrp="1"/>
          </p:cNvSpPr>
          <p:nvPr>
            <p:ph type="title"/>
          </p:nvPr>
        </p:nvSpPr>
        <p:spPr>
          <a:xfrm>
            <a:off x="426702" y="838200"/>
            <a:ext cx="8761413" cy="706964"/>
          </a:xfrm>
        </p:spPr>
        <p:txBody>
          <a:bodyPr/>
          <a:lstStyle/>
          <a:p>
            <a:r>
              <a:rPr lang="en-PH" sz="5400" b="1" dirty="0">
                <a:solidFill>
                  <a:schemeClr val="tx1"/>
                </a:solidFill>
                <a:latin typeface="Comic Sans MS" panose="030F0702030302020204" pitchFamily="66" charset="0"/>
              </a:rPr>
              <a:t>2. Medication Error</a:t>
            </a:r>
          </a:p>
        </p:txBody>
      </p:sp>
      <p:pic>
        <p:nvPicPr>
          <p:cNvPr id="5" name="Picture 5">
            <a:extLst>
              <a:ext uri="{FF2B5EF4-FFF2-40B4-BE49-F238E27FC236}">
                <a16:creationId xmlns:a16="http://schemas.microsoft.com/office/drawing/2014/main" id="{62F31578-136D-2850-40F5-F9DC6E2354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218530"/>
            <a:ext cx="2961387" cy="2530652"/>
          </a:xfrm>
          <a:prstGeom prst="rect">
            <a:avLst/>
          </a:prstGeom>
        </p:spPr>
      </p:pic>
      <p:sp>
        <p:nvSpPr>
          <p:cNvPr id="3" name="Content Placeholder 2">
            <a:extLst>
              <a:ext uri="{FF2B5EF4-FFF2-40B4-BE49-F238E27FC236}">
                <a16:creationId xmlns:a16="http://schemas.microsoft.com/office/drawing/2014/main" id="{363C3E0D-5E98-55BF-1876-B408F0332C3F}"/>
              </a:ext>
            </a:extLst>
          </p:cNvPr>
          <p:cNvSpPr>
            <a:spLocks noGrp="1"/>
          </p:cNvSpPr>
          <p:nvPr>
            <p:ph idx="1"/>
          </p:nvPr>
        </p:nvSpPr>
        <p:spPr/>
        <p:txBody>
          <a:bodyPr>
            <a:normAutofit/>
          </a:bodyPr>
          <a:lstStyle/>
          <a:p>
            <a:r>
              <a:rPr lang="en-PH" sz="2000" dirty="0">
                <a:latin typeface="Comic Sans MS" panose="030F0702030302020204" pitchFamily="66" charset="0"/>
              </a:rPr>
              <a:t>Any preventable event that may cause or lead to inappropriate medication use or patient harm while the medication is in the control of the health care professional.</a:t>
            </a:r>
          </a:p>
          <a:p>
            <a:r>
              <a:rPr lang="en-PH" sz="2000" dirty="0">
                <a:latin typeface="Comic Sans MS" panose="030F0702030302020204" pitchFamily="66" charset="0"/>
              </a:rPr>
              <a:t>Can use severe physical injury and possible death to patients.</a:t>
            </a:r>
          </a:p>
          <a:p>
            <a:r>
              <a:rPr lang="en-PH" sz="2000" dirty="0">
                <a:latin typeface="Comic Sans MS" panose="030F0702030302020204" pitchFamily="66" charset="0"/>
              </a:rPr>
              <a:t>It could also cause severe financial, psychological, and emotional stress to healthcare providers and organizations.</a:t>
            </a:r>
          </a:p>
          <a:p>
            <a:r>
              <a:rPr lang="en-PH" sz="2000" dirty="0">
                <a:latin typeface="Comic Sans MS" panose="030F0702030302020204" pitchFamily="66" charset="0"/>
              </a:rPr>
              <a:t>This can have a major effect on patient health, but also reputational and financial ones for the hospital and its staff.</a:t>
            </a:r>
          </a:p>
        </p:txBody>
      </p:sp>
    </p:spTree>
    <p:extLst>
      <p:ext uri="{BB962C8B-B14F-4D97-AF65-F5344CB8AC3E}">
        <p14:creationId xmlns:p14="http://schemas.microsoft.com/office/powerpoint/2010/main" val="2062285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4C574-911F-E8D1-3D60-4104A78D6F6D}"/>
              </a:ext>
            </a:extLst>
          </p:cNvPr>
          <p:cNvSpPr>
            <a:spLocks noGrp="1"/>
          </p:cNvSpPr>
          <p:nvPr>
            <p:ph type="title"/>
          </p:nvPr>
        </p:nvSpPr>
        <p:spPr/>
        <p:txBody>
          <a:bodyPr/>
          <a:lstStyle/>
          <a:p>
            <a:r>
              <a:rPr lang="en-US" dirty="0"/>
              <a:t>CON…</a:t>
            </a:r>
            <a:endParaRPr lang="ar-AE" dirty="0"/>
          </a:p>
        </p:txBody>
      </p:sp>
      <p:pic>
        <p:nvPicPr>
          <p:cNvPr id="4" name="Picture 4">
            <a:extLst>
              <a:ext uri="{FF2B5EF4-FFF2-40B4-BE49-F238E27FC236}">
                <a16:creationId xmlns:a16="http://schemas.microsoft.com/office/drawing/2014/main" id="{AAD4BADF-6369-53B3-0BC1-42D11259B4DD}"/>
              </a:ext>
            </a:extLst>
          </p:cNvPr>
          <p:cNvPicPr>
            <a:picLocks noChangeAspect="1"/>
          </p:cNvPicPr>
          <p:nvPr/>
        </p:nvPicPr>
        <p:blipFill rotWithShape="1">
          <a:blip r:embed="rId2">
            <a:extLst>
              <a:ext uri="{28A0092B-C50C-407E-A947-70E740481C1C}">
                <a14:useLocalDpi xmlns:a14="http://schemas.microsoft.com/office/drawing/2010/main" val="0"/>
              </a:ext>
            </a:extLst>
          </a:blip>
          <a:srcRect l="1636" t="3222" r="2215" b="7968"/>
          <a:stretch/>
        </p:blipFill>
        <p:spPr>
          <a:xfrm>
            <a:off x="5852657" y="2451189"/>
            <a:ext cx="5319791" cy="3916573"/>
          </a:xfrm>
          <a:prstGeom prst="rect">
            <a:avLst/>
          </a:prstGeom>
        </p:spPr>
      </p:pic>
      <p:sp>
        <p:nvSpPr>
          <p:cNvPr id="3" name="Content Placeholder 2">
            <a:extLst>
              <a:ext uri="{FF2B5EF4-FFF2-40B4-BE49-F238E27FC236}">
                <a16:creationId xmlns:a16="http://schemas.microsoft.com/office/drawing/2014/main" id="{997454DE-AD0A-07E3-0A70-E7A0A9D3C9A6}"/>
              </a:ext>
            </a:extLst>
          </p:cNvPr>
          <p:cNvSpPr>
            <a:spLocks noGrp="1"/>
          </p:cNvSpPr>
          <p:nvPr>
            <p:ph idx="1"/>
          </p:nvPr>
        </p:nvSpPr>
        <p:spPr>
          <a:xfrm>
            <a:off x="382297" y="2612382"/>
            <a:ext cx="4377981" cy="3416300"/>
          </a:xfrm>
        </p:spPr>
        <p:txBody>
          <a:bodyPr>
            <a:normAutofit fontScale="92500" lnSpcReduction="10000"/>
          </a:bodyPr>
          <a:lstStyle/>
          <a:p>
            <a:pPr marL="0" indent="0" rtl="0">
              <a:buNone/>
            </a:pPr>
            <a:r>
              <a:rPr lang="en-US" sz="2400" dirty="0">
                <a:solidFill>
                  <a:srgbClr val="202124"/>
                </a:solidFill>
                <a:effectLst/>
                <a:latin typeface="Arial Narrow" panose="020B0606020202030204" pitchFamily="34" charset="0"/>
                <a:ea typeface="Times New Roman"/>
                <a:cs typeface="Arial Black" panose="020B0604020202020204" pitchFamily="34" charset="0"/>
              </a:rPr>
              <a:t>How can nurses prevent medication errors?</a:t>
            </a:r>
            <a:endParaRPr lang="en-US" sz="2400" dirty="0">
              <a:effectLst/>
              <a:latin typeface="Arial Narrow" panose="020B0606020202030204" pitchFamily="34" charset="0"/>
              <a:ea typeface="Times New Roman"/>
              <a:cs typeface="Arial Black" panose="020B0604020202020204" pitchFamily="34" charset="0"/>
            </a:endParaRPr>
          </a:p>
          <a:p>
            <a:pPr rtl="0"/>
            <a:r>
              <a:rPr lang="en-US" sz="2400" dirty="0">
                <a:solidFill>
                  <a:srgbClr val="202124"/>
                </a:solidFill>
                <a:effectLst/>
                <a:latin typeface="Arial Narrow" panose="020B0606020202030204" pitchFamily="34" charset="0"/>
                <a:ea typeface="Times New Roman"/>
                <a:cs typeface="Arial Black" panose="020B0604020202020204" pitchFamily="34" charset="0"/>
              </a:rPr>
              <a:t>To safeguard against medication errors, nurses must </a:t>
            </a:r>
            <a:r>
              <a:rPr lang="en-US" sz="2400" b="1" dirty="0">
                <a:solidFill>
                  <a:srgbClr val="202124"/>
                </a:solidFill>
                <a:effectLst/>
                <a:latin typeface="Arial Narrow" panose="020B0606020202030204" pitchFamily="34" charset="0"/>
                <a:ea typeface="Times New Roman"/>
                <a:cs typeface="Arial Black" panose="020B0604020202020204" pitchFamily="34" charset="0"/>
              </a:rPr>
              <a:t>implement the proper procedures for medication administration, including the medication rights</a:t>
            </a:r>
            <a:r>
              <a:rPr lang="en-US" sz="2400" dirty="0">
                <a:solidFill>
                  <a:srgbClr val="202124"/>
                </a:solidFill>
                <a:effectLst/>
                <a:latin typeface="Arial Narrow" panose="020B0606020202030204" pitchFamily="34" charset="0"/>
                <a:ea typeface="Times New Roman"/>
                <a:cs typeface="Arial Black" panose="020B0604020202020204" pitchFamily="34" charset="0"/>
              </a:rPr>
              <a:t> In addition, they must complete accurate documentation once the patient receives the medication</a:t>
            </a:r>
            <a:endParaRPr lang="en-US" sz="2400" dirty="0">
              <a:effectLst/>
              <a:latin typeface="Arial Narrow" panose="020B0606020202030204" pitchFamily="34" charset="0"/>
              <a:ea typeface="Times New Roman"/>
              <a:cs typeface="Arial Black" panose="020B0604020202020204" pitchFamily="34" charset="0"/>
            </a:endParaRPr>
          </a:p>
        </p:txBody>
      </p:sp>
    </p:spTree>
    <p:extLst>
      <p:ext uri="{BB962C8B-B14F-4D97-AF65-F5344CB8AC3E}">
        <p14:creationId xmlns:p14="http://schemas.microsoft.com/office/powerpoint/2010/main" val="896064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9E628-1A0C-ABD0-CA31-CA57D617C93F}"/>
              </a:ext>
            </a:extLst>
          </p:cNvPr>
          <p:cNvSpPr>
            <a:spLocks noGrp="1"/>
          </p:cNvSpPr>
          <p:nvPr>
            <p:ph type="title"/>
          </p:nvPr>
        </p:nvSpPr>
        <p:spPr>
          <a:xfrm>
            <a:off x="1314814" y="838200"/>
            <a:ext cx="8761413" cy="706964"/>
          </a:xfrm>
        </p:spPr>
        <p:txBody>
          <a:bodyPr/>
          <a:lstStyle/>
          <a:p>
            <a:r>
              <a:rPr lang="en-PH" sz="4800" b="1" dirty="0">
                <a:solidFill>
                  <a:schemeClr val="tx1"/>
                </a:solidFill>
                <a:latin typeface="Comic Sans MS" panose="030F0702030302020204" pitchFamily="66" charset="0"/>
              </a:rPr>
              <a:t>4. CLABSI</a:t>
            </a:r>
          </a:p>
        </p:txBody>
      </p:sp>
      <p:sp>
        <p:nvSpPr>
          <p:cNvPr id="3" name="Content Placeholder 2">
            <a:extLst>
              <a:ext uri="{FF2B5EF4-FFF2-40B4-BE49-F238E27FC236}">
                <a16:creationId xmlns:a16="http://schemas.microsoft.com/office/drawing/2014/main" id="{DCEBC4D5-70E3-F4C2-6347-26745D5C4B35}"/>
              </a:ext>
            </a:extLst>
          </p:cNvPr>
          <p:cNvSpPr>
            <a:spLocks noGrp="1"/>
          </p:cNvSpPr>
          <p:nvPr>
            <p:ph idx="1"/>
          </p:nvPr>
        </p:nvSpPr>
        <p:spPr>
          <a:xfrm>
            <a:off x="1336129" y="2451188"/>
            <a:ext cx="8825659" cy="2858122"/>
          </a:xfrm>
        </p:spPr>
        <p:txBody>
          <a:bodyPr>
            <a:noAutofit/>
          </a:bodyPr>
          <a:lstStyle/>
          <a:p>
            <a:r>
              <a:rPr lang="en-PH" sz="2200" dirty="0">
                <a:latin typeface="Comic Sans MS" panose="030F0702030302020204" pitchFamily="66" charset="0"/>
              </a:rPr>
              <a:t>Central line-associated bloodstream infection.</a:t>
            </a:r>
          </a:p>
          <a:p>
            <a:r>
              <a:rPr lang="en-PH" sz="2200" dirty="0">
                <a:latin typeface="Comic Sans MS" panose="030F0702030302020204" pitchFamily="66" charset="0"/>
              </a:rPr>
              <a:t>It is an important indicator associated with patient morbidity, mortality, and increased costs.</a:t>
            </a:r>
          </a:p>
          <a:p>
            <a:r>
              <a:rPr lang="en-PH" sz="2200" dirty="0">
                <a:latin typeface="Comic Sans MS" panose="030F0702030302020204" pitchFamily="66" charset="0"/>
              </a:rPr>
              <a:t>It occurs to these three criteria exist:</a:t>
            </a:r>
          </a:p>
          <a:p>
            <a:pPr marL="0" indent="0">
              <a:buNone/>
            </a:pPr>
            <a:r>
              <a:rPr lang="en-PH" sz="2200" dirty="0">
                <a:latin typeface="Comic Sans MS" panose="030F0702030302020204" pitchFamily="66" charset="0"/>
              </a:rPr>
              <a:t>       &gt;Clinical infections- fever, rigors, altered mental status, hypotension</a:t>
            </a:r>
          </a:p>
          <a:p>
            <a:pPr marL="0" indent="0">
              <a:buNone/>
            </a:pPr>
            <a:r>
              <a:rPr lang="en-PH" sz="2200" dirty="0">
                <a:latin typeface="Comic Sans MS" panose="030F0702030302020204" pitchFamily="66" charset="0"/>
              </a:rPr>
              <a:t>       &gt; Positive blood culture from a peripheral vein with any of the following:</a:t>
            </a:r>
          </a:p>
          <a:p>
            <a:pPr marL="0" indent="0">
              <a:buNone/>
            </a:pPr>
            <a:r>
              <a:rPr lang="en-PH" sz="2200" dirty="0">
                <a:latin typeface="Comic Sans MS" panose="030F0702030302020204" pitchFamily="66" charset="0"/>
              </a:rPr>
              <a:t>           catheter tip/segment culture that matches organism grown from blood</a:t>
            </a:r>
          </a:p>
        </p:txBody>
      </p:sp>
    </p:spTree>
    <p:extLst>
      <p:ext uri="{BB962C8B-B14F-4D97-AF65-F5344CB8AC3E}">
        <p14:creationId xmlns:p14="http://schemas.microsoft.com/office/powerpoint/2010/main" val="1299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7007F-224D-10CD-8E10-2827DCF38745}"/>
              </a:ext>
            </a:extLst>
          </p:cNvPr>
          <p:cNvSpPr>
            <a:spLocks noGrp="1"/>
          </p:cNvSpPr>
          <p:nvPr>
            <p:ph type="title"/>
          </p:nvPr>
        </p:nvSpPr>
        <p:spPr/>
        <p:txBody>
          <a:bodyPr/>
          <a:lstStyle/>
          <a:p>
            <a:r>
              <a:rPr lang="en-US" dirty="0"/>
              <a:t>CON…</a:t>
            </a:r>
            <a:endParaRPr lang="ar-AE" dirty="0"/>
          </a:p>
        </p:txBody>
      </p:sp>
      <p:sp>
        <p:nvSpPr>
          <p:cNvPr id="3" name="Content Placeholder 2">
            <a:extLst>
              <a:ext uri="{FF2B5EF4-FFF2-40B4-BE49-F238E27FC236}">
                <a16:creationId xmlns:a16="http://schemas.microsoft.com/office/drawing/2014/main" id="{0E352668-6328-E287-6F21-828D0C1BB6F3}"/>
              </a:ext>
            </a:extLst>
          </p:cNvPr>
          <p:cNvSpPr>
            <a:spLocks noGrp="1"/>
          </p:cNvSpPr>
          <p:nvPr>
            <p:ph idx="1"/>
          </p:nvPr>
        </p:nvSpPr>
        <p:spPr>
          <a:xfrm>
            <a:off x="533277" y="2772242"/>
            <a:ext cx="5150640" cy="3416300"/>
          </a:xfrm>
        </p:spPr>
        <p:txBody>
          <a:bodyPr>
            <a:normAutofit/>
          </a:bodyPr>
          <a:lstStyle/>
          <a:p>
            <a:pPr marL="0" indent="0">
              <a:buNone/>
            </a:pPr>
            <a:r>
              <a:rPr lang="af-ZA" b="1" i="0" dirty="0">
                <a:solidFill>
                  <a:srgbClr val="BDC1C6"/>
                </a:solidFill>
                <a:effectLst/>
                <a:latin typeface="Helvetica Neue"/>
                <a:cs typeface="+mj-cs"/>
              </a:rPr>
              <a:t> </a:t>
            </a:r>
            <a:r>
              <a:rPr lang="af-ZA" b="1" i="0" dirty="0">
                <a:solidFill>
                  <a:schemeClr val="bg2">
                    <a:lumMod val="10000"/>
                  </a:schemeClr>
                </a:solidFill>
                <a:effectLst/>
                <a:latin typeface="Agency FB" panose="02000000000000000000" pitchFamily="2" charset="0"/>
                <a:ea typeface="Agency FB" panose="02000000000000000000" pitchFamily="2" charset="0"/>
              </a:rPr>
              <a:t>Five Evidence-Based Steps to Prevent CLABSI</a:t>
            </a:r>
          </a:p>
          <a:p>
            <a:r>
              <a:rPr lang="af-ZA" b="1" i="0" dirty="0">
                <a:solidFill>
                  <a:schemeClr val="bg2">
                    <a:lumMod val="10000"/>
                  </a:schemeClr>
                </a:solidFill>
                <a:effectLst/>
                <a:latin typeface="Agency FB" panose="02000000000000000000" pitchFamily="2" charset="0"/>
                <a:ea typeface="Agency FB" panose="02000000000000000000" pitchFamily="2" charset="0"/>
              </a:rPr>
              <a:t>Use appropriate hand hygiene.</a:t>
            </a:r>
          </a:p>
          <a:p>
            <a:r>
              <a:rPr lang="af-ZA" b="1" i="0" dirty="0">
                <a:solidFill>
                  <a:schemeClr val="bg2">
                    <a:lumMod val="10000"/>
                  </a:schemeClr>
                </a:solidFill>
                <a:effectLst/>
                <a:latin typeface="Agency FB" panose="02000000000000000000" pitchFamily="2" charset="0"/>
                <a:ea typeface="Agency FB" panose="02000000000000000000" pitchFamily="2" charset="0"/>
              </a:rPr>
              <a:t>Use chlorhexidine for skin preparation.</a:t>
            </a:r>
          </a:p>
          <a:p>
            <a:r>
              <a:rPr lang="af-ZA" b="1" i="0" dirty="0">
                <a:solidFill>
                  <a:schemeClr val="bg2">
                    <a:lumMod val="10000"/>
                  </a:schemeClr>
                </a:solidFill>
                <a:effectLst/>
                <a:latin typeface="Agency FB" panose="02000000000000000000" pitchFamily="2" charset="0"/>
                <a:ea typeface="Agency FB" panose="02000000000000000000" pitchFamily="2" charset="0"/>
              </a:rPr>
              <a:t>Use full-barrier precautions during central venous catheter insertion.</a:t>
            </a:r>
          </a:p>
          <a:p>
            <a:r>
              <a:rPr lang="af-ZA" b="1" i="0" dirty="0">
                <a:solidFill>
                  <a:schemeClr val="bg2">
                    <a:lumMod val="10000"/>
                  </a:schemeClr>
                </a:solidFill>
                <a:effectLst/>
                <a:latin typeface="Agency FB" panose="02000000000000000000" pitchFamily="2" charset="0"/>
                <a:ea typeface="Agency FB" panose="02000000000000000000" pitchFamily="2" charset="0"/>
              </a:rPr>
              <a:t>Avoid using the femoral vein for catheters in adult patients.</a:t>
            </a:r>
          </a:p>
          <a:p>
            <a:r>
              <a:rPr lang="af-ZA" b="1" i="0" dirty="0">
                <a:solidFill>
                  <a:schemeClr val="bg2">
                    <a:lumMod val="10000"/>
                  </a:schemeClr>
                </a:solidFill>
                <a:effectLst/>
                <a:latin typeface="Agency FB" panose="02000000000000000000" pitchFamily="2" charset="0"/>
                <a:ea typeface="Agency FB" panose="02000000000000000000" pitchFamily="2" charset="0"/>
              </a:rPr>
              <a:t>Remove unnecessary catheters</a:t>
            </a:r>
          </a:p>
        </p:txBody>
      </p:sp>
      <p:pic>
        <p:nvPicPr>
          <p:cNvPr id="4" name="Picture 4">
            <a:extLst>
              <a:ext uri="{FF2B5EF4-FFF2-40B4-BE49-F238E27FC236}">
                <a16:creationId xmlns:a16="http://schemas.microsoft.com/office/drawing/2014/main" id="{643642F1-F223-2028-6CF0-8FFC46C4E0C9}"/>
              </a:ext>
            </a:extLst>
          </p:cNvPr>
          <p:cNvPicPr>
            <a:picLocks noChangeAspect="1"/>
          </p:cNvPicPr>
          <p:nvPr/>
        </p:nvPicPr>
        <p:blipFill rotWithShape="1">
          <a:blip r:embed="rId2">
            <a:extLst>
              <a:ext uri="{28A0092B-C50C-407E-A947-70E740481C1C}">
                <a14:useLocalDpi xmlns:a14="http://schemas.microsoft.com/office/drawing/2010/main" val="0"/>
              </a:ext>
            </a:extLst>
          </a:blip>
          <a:srcRect l="1661" r="1788" b="2574"/>
          <a:stretch/>
        </p:blipFill>
        <p:spPr>
          <a:xfrm>
            <a:off x="6953917" y="2575524"/>
            <a:ext cx="4795803" cy="3889931"/>
          </a:xfrm>
          <a:prstGeom prst="rect">
            <a:avLst/>
          </a:prstGeom>
        </p:spPr>
      </p:pic>
    </p:spTree>
    <p:extLst>
      <p:ext uri="{BB962C8B-B14F-4D97-AF65-F5344CB8AC3E}">
        <p14:creationId xmlns:p14="http://schemas.microsoft.com/office/powerpoint/2010/main" val="4151159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3604B-6D89-3EDC-F23A-168DD94F7D68}"/>
              </a:ext>
            </a:extLst>
          </p:cNvPr>
          <p:cNvSpPr>
            <a:spLocks noGrp="1"/>
          </p:cNvSpPr>
          <p:nvPr>
            <p:ph type="title"/>
          </p:nvPr>
        </p:nvSpPr>
        <p:spPr/>
        <p:txBody>
          <a:bodyPr/>
          <a:lstStyle/>
          <a:p>
            <a:r>
              <a:rPr lang="en-PH" dirty="0">
                <a:latin typeface="Comic Sans MS" panose="030F0702030302020204" pitchFamily="66" charset="0"/>
              </a:rPr>
              <a:t>KPI in PICU</a:t>
            </a:r>
          </a:p>
        </p:txBody>
      </p:sp>
      <p:sp>
        <p:nvSpPr>
          <p:cNvPr id="3" name="Content Placeholder 2">
            <a:extLst>
              <a:ext uri="{FF2B5EF4-FFF2-40B4-BE49-F238E27FC236}">
                <a16:creationId xmlns:a16="http://schemas.microsoft.com/office/drawing/2014/main" id="{05302B8D-D13D-6754-683D-5C942CA6FD32}"/>
              </a:ext>
            </a:extLst>
          </p:cNvPr>
          <p:cNvSpPr>
            <a:spLocks noGrp="1"/>
          </p:cNvSpPr>
          <p:nvPr>
            <p:ph idx="1"/>
          </p:nvPr>
        </p:nvSpPr>
        <p:spPr/>
        <p:txBody>
          <a:bodyPr/>
          <a:lstStyle/>
          <a:p>
            <a:r>
              <a:rPr lang="en-PH" dirty="0"/>
              <a:t>VAP</a:t>
            </a:r>
            <a:r>
              <a:rPr lang="en-US" dirty="0"/>
              <a:t> (ventilator associated pneumonia) Rate</a:t>
            </a:r>
            <a:endParaRPr lang="en-PH" dirty="0"/>
          </a:p>
          <a:p>
            <a:r>
              <a:rPr lang="en-US" dirty="0"/>
              <a:t>CLABCI RATE </a:t>
            </a:r>
          </a:p>
          <a:p>
            <a:r>
              <a:rPr lang="en-US" dirty="0"/>
              <a:t>RE ADMISSION LESS THAN 48HRS.</a:t>
            </a:r>
          </a:p>
          <a:p>
            <a:r>
              <a:rPr lang="en-US" dirty="0"/>
              <a:t>UNPLANNED ADMISSION</a:t>
            </a:r>
          </a:p>
          <a:p>
            <a:r>
              <a:rPr lang="en-US" dirty="0"/>
              <a:t>MORTALITY RATE</a:t>
            </a:r>
            <a:endParaRPr lang="en-PH" dirty="0"/>
          </a:p>
          <a:p>
            <a:endParaRPr lang="en-PH" dirty="0"/>
          </a:p>
        </p:txBody>
      </p:sp>
    </p:spTree>
    <p:extLst>
      <p:ext uri="{BB962C8B-B14F-4D97-AF65-F5344CB8AC3E}">
        <p14:creationId xmlns:p14="http://schemas.microsoft.com/office/powerpoint/2010/main" val="566912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CF309-A07E-F5D5-E800-07FDDD4D61E8}"/>
              </a:ext>
            </a:extLst>
          </p:cNvPr>
          <p:cNvSpPr>
            <a:spLocks noGrp="1"/>
          </p:cNvSpPr>
          <p:nvPr>
            <p:ph type="title"/>
          </p:nvPr>
        </p:nvSpPr>
        <p:spPr/>
        <p:txBody>
          <a:bodyPr/>
          <a:lstStyle/>
          <a:p>
            <a:pPr marL="0" marR="0" lvl="0" indent="0" defTabSz="457200" rtl="0" eaLnBrk="1" fontAlgn="auto" latinLnBrk="0" hangingPunct="1">
              <a:lnSpc>
                <a:spcPct val="100000"/>
              </a:lnSpc>
              <a:spcBef>
                <a:spcPts val="0"/>
              </a:spcBef>
              <a:spcAft>
                <a:spcPts val="0"/>
              </a:spcAft>
              <a:tabLst/>
              <a:defRPr/>
            </a:pPr>
            <a:r>
              <a:rPr lang="en-PH" dirty="0"/>
              <a:t>KPI IN GENERAL WARD</a:t>
            </a:r>
          </a:p>
        </p:txBody>
      </p:sp>
      <p:sp>
        <p:nvSpPr>
          <p:cNvPr id="3" name="Content Placeholder 2">
            <a:extLst>
              <a:ext uri="{FF2B5EF4-FFF2-40B4-BE49-F238E27FC236}">
                <a16:creationId xmlns:a16="http://schemas.microsoft.com/office/drawing/2014/main" id="{60DB9B5D-3B36-EC59-F6FB-927609B24024}"/>
              </a:ext>
            </a:extLst>
          </p:cNvPr>
          <p:cNvSpPr>
            <a:spLocks noGrp="1"/>
          </p:cNvSpPr>
          <p:nvPr>
            <p:ph idx="1"/>
          </p:nvPr>
        </p:nvSpPr>
        <p:spPr/>
        <p:txBody>
          <a:bodyPr/>
          <a:lstStyle/>
          <a:p>
            <a:r>
              <a:rPr lang="en-US" dirty="0"/>
              <a:t>PERITONITIS RATE</a:t>
            </a:r>
          </a:p>
          <a:p>
            <a:r>
              <a:rPr lang="en-US" dirty="0"/>
              <a:t>TUNNeled INFECTION</a:t>
            </a:r>
          </a:p>
          <a:p>
            <a:r>
              <a:rPr lang="en-US" dirty="0"/>
              <a:t>STAFF SATSFACTION</a:t>
            </a:r>
          </a:p>
          <a:p>
            <a:r>
              <a:rPr lang="en-US" dirty="0"/>
              <a:t>Discharge timing</a:t>
            </a:r>
          </a:p>
          <a:p>
            <a:r>
              <a:rPr lang="en-US" dirty="0"/>
              <a:t>CLABSI RATE</a:t>
            </a:r>
          </a:p>
          <a:p>
            <a:r>
              <a:rPr lang="en-US" dirty="0"/>
              <a:t>PATIENT SATSFACTION</a:t>
            </a:r>
          </a:p>
          <a:p>
            <a:r>
              <a:rPr lang="en-US" dirty="0"/>
              <a:t>RISK OF FALL</a:t>
            </a:r>
          </a:p>
        </p:txBody>
      </p:sp>
    </p:spTree>
    <p:extLst>
      <p:ext uri="{BB962C8B-B14F-4D97-AF65-F5344CB8AC3E}">
        <p14:creationId xmlns:p14="http://schemas.microsoft.com/office/powerpoint/2010/main" val="2088586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01DF9B7-DBC0-1D18-3C21-37C15904F4E5}"/>
              </a:ext>
            </a:extLst>
          </p:cNvPr>
          <p:cNvSpPr>
            <a:spLocks noGrp="1"/>
          </p:cNvSpPr>
          <p:nvPr>
            <p:ph type="title"/>
          </p:nvPr>
        </p:nvSpPr>
        <p:spPr/>
        <p:txBody>
          <a:bodyPr/>
          <a:lstStyle/>
          <a:p>
            <a:r>
              <a:rPr lang="en-US" dirty="0"/>
              <a:t>KPI</a:t>
            </a:r>
            <a:endParaRPr lang="ar-AE" dirty="0"/>
          </a:p>
        </p:txBody>
      </p:sp>
      <p:graphicFrame>
        <p:nvGraphicFramePr>
          <p:cNvPr id="6" name="عنصر نائب للمحتوى 5">
            <a:extLst>
              <a:ext uri="{FF2B5EF4-FFF2-40B4-BE49-F238E27FC236}">
                <a16:creationId xmlns:a16="http://schemas.microsoft.com/office/drawing/2014/main" id="{EA4165D4-1555-43BB-D5FE-9E20D593F24F}"/>
              </a:ext>
            </a:extLst>
          </p:cNvPr>
          <p:cNvGraphicFramePr>
            <a:graphicFrameLocks noGrp="1"/>
          </p:cNvGraphicFramePr>
          <p:nvPr>
            <p:ph idx="1"/>
            <p:extLst>
              <p:ext uri="{D42A27DB-BD31-4B8C-83A1-F6EECF244321}">
                <p14:modId xmlns:p14="http://schemas.microsoft.com/office/powerpoint/2010/main" val="3710609984"/>
              </p:ext>
            </p:extLst>
          </p:nvPr>
        </p:nvGraphicFramePr>
        <p:xfrm>
          <a:off x="3979895" y="2718955"/>
          <a:ext cx="8824913" cy="34163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مخطط 14">
            <a:extLst>
              <a:ext uri="{FF2B5EF4-FFF2-40B4-BE49-F238E27FC236}">
                <a16:creationId xmlns:a16="http://schemas.microsoft.com/office/drawing/2014/main" id="{D7834023-F536-78AD-9605-8440CBE68604}"/>
              </a:ext>
              <a:ext uri="{147F2762-F138-4A5C-976F-8EAC2B608ADB}">
                <a16:predDERef xmlns:a16="http://schemas.microsoft.com/office/drawing/2014/main" pred="{E487C1B1-EA7C-5B72-BD85-B27697199173}"/>
              </a:ext>
            </a:extLst>
          </p:cNvPr>
          <p:cNvGraphicFramePr>
            <a:graphicFrameLocks/>
          </p:cNvGraphicFramePr>
          <p:nvPr>
            <p:extLst>
              <p:ext uri="{D42A27DB-BD31-4B8C-83A1-F6EECF244321}">
                <p14:modId xmlns:p14="http://schemas.microsoft.com/office/powerpoint/2010/main" val="923073226"/>
              </p:ext>
            </p:extLst>
          </p:nvPr>
        </p:nvGraphicFramePr>
        <p:xfrm>
          <a:off x="435174" y="2584405"/>
          <a:ext cx="5184798" cy="38188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60498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AC117-A887-487B-F8B4-6ACFFE4EC2EE}"/>
              </a:ext>
            </a:extLst>
          </p:cNvPr>
          <p:cNvSpPr>
            <a:spLocks noGrp="1"/>
          </p:cNvSpPr>
          <p:nvPr>
            <p:ph type="title"/>
          </p:nvPr>
        </p:nvSpPr>
        <p:spPr>
          <a:xfrm>
            <a:off x="1154954" y="685800"/>
            <a:ext cx="8761413" cy="1092200"/>
          </a:xfrm>
        </p:spPr>
        <p:txBody>
          <a:bodyPr/>
          <a:lstStyle/>
          <a:p>
            <a:r>
              <a:rPr lang="en-PH" sz="4400" b="1" dirty="0">
                <a:latin typeface="Comic Sans MS" panose="030F0702030302020204" pitchFamily="66" charset="0"/>
              </a:rPr>
              <a:t>FALL PREVENTION AND INJURY REDUCTION</a:t>
            </a:r>
          </a:p>
        </p:txBody>
      </p:sp>
      <p:sp>
        <p:nvSpPr>
          <p:cNvPr id="3" name="Content Placeholder 2">
            <a:extLst>
              <a:ext uri="{FF2B5EF4-FFF2-40B4-BE49-F238E27FC236}">
                <a16:creationId xmlns:a16="http://schemas.microsoft.com/office/drawing/2014/main" id="{CC98C1BB-48FF-C167-25E0-D18536CF7F8C}"/>
              </a:ext>
            </a:extLst>
          </p:cNvPr>
          <p:cNvSpPr>
            <a:spLocks noGrp="1"/>
          </p:cNvSpPr>
          <p:nvPr>
            <p:ph idx="1"/>
          </p:nvPr>
        </p:nvSpPr>
        <p:spPr>
          <a:xfrm>
            <a:off x="2762028" y="2603499"/>
            <a:ext cx="9200839" cy="4021815"/>
          </a:xfrm>
        </p:spPr>
        <p:txBody>
          <a:bodyPr/>
          <a:lstStyle/>
          <a:p>
            <a:pPr marL="0" indent="0">
              <a:buNone/>
            </a:pPr>
            <a:r>
              <a:rPr lang="en-US" sz="3200" b="0" i="0" dirty="0">
                <a:solidFill>
                  <a:schemeClr val="tx1"/>
                </a:solidFill>
                <a:effectLst/>
                <a:latin typeface="Comic Sans MS" panose="030F0702030302020204" pitchFamily="66" charset="0"/>
              </a:rPr>
              <a:t>Fall prevention includes </a:t>
            </a:r>
            <a:r>
              <a:rPr lang="en-US" sz="3200" b="1" i="0" dirty="0">
                <a:solidFill>
                  <a:schemeClr val="tx1"/>
                </a:solidFill>
                <a:effectLst/>
                <a:latin typeface="Comic Sans MS" panose="030F0702030302020204" pitchFamily="66" charset="0"/>
              </a:rPr>
              <a:t>any action taken to help reduce the number of accidental falls suffered by susceptible individuals</a:t>
            </a:r>
            <a:r>
              <a:rPr lang="en-US" sz="3200" b="0" i="0" dirty="0">
                <a:solidFill>
                  <a:schemeClr val="tx1"/>
                </a:solidFill>
                <a:effectLst/>
                <a:latin typeface="Comic Sans MS" panose="030F0702030302020204" pitchFamily="66" charset="0"/>
              </a:rPr>
              <a:t>, such as the elderly (idiopathic) and people with neurological disorders as well as pediatrics.</a:t>
            </a:r>
          </a:p>
          <a:p>
            <a:endParaRPr lang="en-US" dirty="0">
              <a:solidFill>
                <a:schemeClr val="tx1"/>
              </a:solidFill>
              <a:latin typeface="arial" panose="020B0604020202020204" pitchFamily="34" charset="0"/>
            </a:endParaRPr>
          </a:p>
          <a:p>
            <a:pPr marL="0" indent="0">
              <a:buNone/>
            </a:pPr>
            <a:r>
              <a:rPr lang="en-US" dirty="0">
                <a:solidFill>
                  <a:schemeClr val="tx1"/>
                </a:solidFill>
                <a:latin typeface="arial" panose="020B0604020202020204" pitchFamily="34" charset="0"/>
              </a:rPr>
              <a:t>I</a:t>
            </a:r>
            <a:endParaRPr lang="en-PH" dirty="0">
              <a:solidFill>
                <a:schemeClr val="tx1"/>
              </a:solidFill>
            </a:endParaRPr>
          </a:p>
        </p:txBody>
      </p:sp>
      <p:pic>
        <p:nvPicPr>
          <p:cNvPr id="4" name="Picture 4">
            <a:extLst>
              <a:ext uri="{FF2B5EF4-FFF2-40B4-BE49-F238E27FC236}">
                <a16:creationId xmlns:a16="http://schemas.microsoft.com/office/drawing/2014/main" id="{715C5E30-4A89-C10B-FFFA-F38A3D4E5689}"/>
              </a:ext>
            </a:extLst>
          </p:cNvPr>
          <p:cNvPicPr>
            <a:picLocks noChangeAspect="1"/>
          </p:cNvPicPr>
          <p:nvPr/>
        </p:nvPicPr>
        <p:blipFill rotWithShape="1">
          <a:blip r:embed="rId2">
            <a:extLst>
              <a:ext uri="{28A0092B-C50C-407E-A947-70E740481C1C}">
                <a14:useLocalDpi xmlns:a14="http://schemas.microsoft.com/office/drawing/2010/main" val="0"/>
              </a:ext>
            </a:extLst>
          </a:blip>
          <a:srcRect b="18881"/>
          <a:stretch/>
        </p:blipFill>
        <p:spPr>
          <a:xfrm>
            <a:off x="71220" y="2113869"/>
            <a:ext cx="2167467" cy="4395562"/>
          </a:xfrm>
          <a:prstGeom prst="rect">
            <a:avLst/>
          </a:prstGeom>
        </p:spPr>
      </p:pic>
    </p:spTree>
    <p:extLst>
      <p:ext uri="{BB962C8B-B14F-4D97-AF65-F5344CB8AC3E}">
        <p14:creationId xmlns:p14="http://schemas.microsoft.com/office/powerpoint/2010/main" val="2866696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0E6A-CEA9-3B39-BDB7-7059705EF7AD}"/>
              </a:ext>
            </a:extLst>
          </p:cNvPr>
          <p:cNvSpPr>
            <a:spLocks noGrp="1"/>
          </p:cNvSpPr>
          <p:nvPr>
            <p:ph type="title"/>
          </p:nvPr>
        </p:nvSpPr>
        <p:spPr/>
        <p:txBody>
          <a:bodyPr/>
          <a:lstStyle/>
          <a:p>
            <a:r>
              <a:rPr lang="en-PH" sz="4800" b="1" dirty="0">
                <a:latin typeface="Comic Sans MS" panose="030F0702030302020204" pitchFamily="66" charset="0"/>
              </a:rPr>
              <a:t>IN PATIENT SERVICES</a:t>
            </a:r>
          </a:p>
        </p:txBody>
      </p:sp>
      <p:pic>
        <p:nvPicPr>
          <p:cNvPr id="4" name="Picture 4">
            <a:extLst>
              <a:ext uri="{FF2B5EF4-FFF2-40B4-BE49-F238E27FC236}">
                <a16:creationId xmlns:a16="http://schemas.microsoft.com/office/drawing/2014/main" id="{E728720F-575E-B5FA-66D0-F6DC7B116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077" y="2324100"/>
            <a:ext cx="8761412" cy="4363383"/>
          </a:xfrm>
          <a:prstGeom prst="rect">
            <a:avLst/>
          </a:prstGeom>
        </p:spPr>
      </p:pic>
      <p:sp>
        <p:nvSpPr>
          <p:cNvPr id="3" name="Content Placeholder 2">
            <a:extLst>
              <a:ext uri="{FF2B5EF4-FFF2-40B4-BE49-F238E27FC236}">
                <a16:creationId xmlns:a16="http://schemas.microsoft.com/office/drawing/2014/main" id="{95C46366-22DC-EBAD-A82E-26A445A02739}"/>
              </a:ext>
            </a:extLst>
          </p:cNvPr>
          <p:cNvSpPr>
            <a:spLocks noGrp="1"/>
          </p:cNvSpPr>
          <p:nvPr>
            <p:ph idx="1"/>
          </p:nvPr>
        </p:nvSpPr>
        <p:spPr>
          <a:xfrm>
            <a:off x="1154954" y="2324100"/>
            <a:ext cx="8825659" cy="3695700"/>
          </a:xfrm>
        </p:spPr>
        <p:txBody>
          <a:bodyPr>
            <a:normAutofit fontScale="25000" lnSpcReduction="20000"/>
          </a:bodyPr>
          <a:lstStyle/>
          <a:p>
            <a:pPr marL="0" indent="0" algn="l">
              <a:buNone/>
            </a:pPr>
            <a:r>
              <a:rPr lang="en-US" sz="8000" b="0" i="0" dirty="0">
                <a:solidFill>
                  <a:srgbClr val="222222"/>
                </a:solidFill>
                <a:effectLst/>
                <a:latin typeface="Comic Sans MS" panose="030F0702030302020204" pitchFamily="66" charset="0"/>
              </a:rPr>
              <a:t>To prevent falls and reduce the risk of injuries from falling, universal precautions are implemented, education and information are provided, and activities are evaluated.</a:t>
            </a:r>
            <a:r>
              <a:rPr lang="en-US" sz="8000" b="0" i="0" dirty="0">
                <a:solidFill>
                  <a:srgbClr val="222222"/>
                </a:solidFill>
                <a:effectLst/>
                <a:latin typeface="Helvetica" panose="020B0604020202020204" pitchFamily="34" charset="0"/>
              </a:rPr>
              <a:t> </a:t>
            </a:r>
          </a:p>
          <a:p>
            <a:pPr marL="0" indent="0" algn="l">
              <a:buNone/>
            </a:pPr>
            <a:r>
              <a:rPr lang="en-US" sz="8000" b="0" i="0" dirty="0">
                <a:solidFill>
                  <a:srgbClr val="222222"/>
                </a:solidFill>
                <a:effectLst/>
                <a:latin typeface="Comic Sans MS" panose="030F0702030302020204" pitchFamily="66" charset="0"/>
              </a:rPr>
              <a:t>The acronym S.A.F.E. (Safe environment; Assist with mobility; Fall-risk reduction; and Engage client and family describe key strategies for universal fall precautions. </a:t>
            </a:r>
          </a:p>
          <a:p>
            <a:pPr marL="0" indent="0" algn="l">
              <a:buNone/>
            </a:pPr>
            <a:r>
              <a:rPr lang="en-US" sz="8000" b="0" i="0" dirty="0">
                <a:solidFill>
                  <a:srgbClr val="222222"/>
                </a:solidFill>
                <a:effectLst/>
                <a:latin typeface="Comic Sans MS" panose="030F0702030302020204" pitchFamily="66" charset="0"/>
              </a:rPr>
              <a:t> Universal interventions:</a:t>
            </a:r>
          </a:p>
          <a:p>
            <a:pPr marL="457200" indent="-457200" algn="l">
              <a:buAutoNum type="arabicPeriod"/>
            </a:pPr>
            <a:r>
              <a:rPr lang="en-US" sz="8000" b="0" i="0" dirty="0">
                <a:solidFill>
                  <a:srgbClr val="222222"/>
                </a:solidFill>
                <a:effectLst/>
                <a:latin typeface="Comic Sans MS" panose="030F0702030302020204" pitchFamily="66" charset="0"/>
              </a:rPr>
              <a:t>familiarize the client with the environment</a:t>
            </a:r>
          </a:p>
          <a:p>
            <a:pPr marL="457200" indent="-457200" algn="l">
              <a:buAutoNum type="arabicPeriod"/>
            </a:pPr>
            <a:r>
              <a:rPr lang="en-US" sz="8000" dirty="0">
                <a:solidFill>
                  <a:srgbClr val="222222"/>
                </a:solidFill>
                <a:latin typeface="Comic Sans MS" panose="030F0702030302020204" pitchFamily="66" charset="0"/>
              </a:rPr>
              <a:t>K</a:t>
            </a:r>
            <a:r>
              <a:rPr lang="en-US" sz="8000" b="0" i="0" dirty="0">
                <a:solidFill>
                  <a:srgbClr val="222222"/>
                </a:solidFill>
                <a:effectLst/>
                <a:latin typeface="Comic Sans MS" panose="030F0702030302020204" pitchFamily="66" charset="0"/>
              </a:rPr>
              <a:t>eep call buttons within reach at all times and observe clients demonstrate their use of </a:t>
            </a:r>
            <a:r>
              <a:rPr lang="en-US" sz="8000" dirty="0">
                <a:solidFill>
                  <a:srgbClr val="222222"/>
                </a:solidFill>
                <a:latin typeface="Comic Sans MS" panose="030F0702030302020204" pitchFamily="66" charset="0"/>
              </a:rPr>
              <a:t>their </a:t>
            </a:r>
            <a:r>
              <a:rPr lang="en-US" sz="8000" b="0" i="0" dirty="0">
                <a:solidFill>
                  <a:srgbClr val="222222"/>
                </a:solidFill>
                <a:effectLst/>
                <a:latin typeface="Comic Sans MS" panose="030F0702030302020204" pitchFamily="66" charset="0"/>
              </a:rPr>
              <a:t>personal possessions within reach</a:t>
            </a:r>
          </a:p>
          <a:p>
            <a:pPr marL="457200" indent="-457200" algn="l">
              <a:buAutoNum type="arabicPeriod"/>
            </a:pPr>
            <a:r>
              <a:rPr lang="en-US" sz="8000" b="0" i="0" dirty="0">
                <a:solidFill>
                  <a:srgbClr val="222222"/>
                </a:solidFill>
                <a:effectLst/>
                <a:latin typeface="Comic Sans MS" panose="030F0702030302020204" pitchFamily="66" charset="0"/>
              </a:rPr>
              <a:t>Have sturdy handrails in bathrooms, rooms, and hallways</a:t>
            </a:r>
          </a:p>
          <a:p>
            <a:pPr marL="457200" indent="-457200" algn="l">
              <a:buAutoNum type="arabicPeriod"/>
            </a:pPr>
            <a:r>
              <a:rPr lang="en-US" sz="8000" b="0" i="0" dirty="0">
                <a:solidFill>
                  <a:srgbClr val="222222"/>
                </a:solidFill>
                <a:effectLst/>
                <a:latin typeface="Comic Sans MS" panose="030F0702030302020204" pitchFamily="66" charset="0"/>
              </a:rPr>
              <a:t> keep the bed in a low position with brakes locked; provide non-slip, well-fitting footwear to clients; use night lights or supplemental lighting, keep floor surfaces clean and dry; clean up all spills promptly; keep care areas uncluttered. </a:t>
            </a:r>
          </a:p>
          <a:p>
            <a:pPr marL="0" indent="0" algn="l">
              <a:buNone/>
            </a:pPr>
            <a:endParaRPr lang="en-US" sz="2000" dirty="0">
              <a:solidFill>
                <a:srgbClr val="222222"/>
              </a:solidFill>
              <a:latin typeface="Comic Sans MS" panose="030F0702030302020204" pitchFamily="66" charset="0"/>
            </a:endParaRPr>
          </a:p>
          <a:p>
            <a:pPr marL="0" indent="0" algn="l">
              <a:buNone/>
            </a:pPr>
            <a:endParaRPr lang="en-US" sz="2000" b="0" i="0" dirty="0">
              <a:solidFill>
                <a:srgbClr val="222222"/>
              </a:solidFill>
              <a:effectLst/>
              <a:latin typeface="Comic Sans MS" panose="030F0702030302020204" pitchFamily="66" charset="0"/>
            </a:endParaRPr>
          </a:p>
          <a:p>
            <a:pPr marL="0" indent="0" algn="l">
              <a:buNone/>
            </a:pPr>
            <a:endParaRPr lang="en-US" sz="2000" dirty="0">
              <a:solidFill>
                <a:srgbClr val="222222"/>
              </a:solidFill>
              <a:latin typeface="Comic Sans MS" panose="030F0702030302020204" pitchFamily="66" charset="0"/>
            </a:endParaRPr>
          </a:p>
          <a:p>
            <a:pPr marL="0" indent="0" algn="l">
              <a:buNone/>
            </a:pPr>
            <a:endParaRPr lang="en-US" sz="2000" b="0" i="0" dirty="0">
              <a:solidFill>
                <a:srgbClr val="222222"/>
              </a:solidFill>
              <a:effectLst/>
              <a:latin typeface="Comic Sans MS" panose="030F0702030302020204" pitchFamily="66" charset="0"/>
            </a:endParaRPr>
          </a:p>
          <a:p>
            <a:pPr marL="0" indent="0" algn="l">
              <a:buNone/>
            </a:pPr>
            <a:endParaRPr lang="en-US" b="0" i="0" dirty="0">
              <a:solidFill>
                <a:srgbClr val="222222"/>
              </a:solidFill>
              <a:effectLst/>
              <a:latin typeface="Helvetica" panose="020B0604020202020204" pitchFamily="34" charset="0"/>
            </a:endParaRPr>
          </a:p>
          <a:p>
            <a:pPr marL="0" indent="0">
              <a:buNone/>
            </a:pPr>
            <a:endParaRPr lang="en-PH" dirty="0"/>
          </a:p>
        </p:txBody>
      </p:sp>
    </p:spTree>
    <p:extLst>
      <p:ext uri="{BB962C8B-B14F-4D97-AF65-F5344CB8AC3E}">
        <p14:creationId xmlns:p14="http://schemas.microsoft.com/office/powerpoint/2010/main" val="3462045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E652-51E8-7302-8932-993AB2B8D71D}"/>
              </a:ext>
            </a:extLst>
          </p:cNvPr>
          <p:cNvSpPr>
            <a:spLocks noGrp="1"/>
          </p:cNvSpPr>
          <p:nvPr>
            <p:ph type="title"/>
          </p:nvPr>
        </p:nvSpPr>
        <p:spPr/>
        <p:txBody>
          <a:bodyPr/>
          <a:lstStyle/>
          <a:p>
            <a:r>
              <a:rPr lang="en-PH" dirty="0" err="1">
                <a:latin typeface="Comic Sans MS" panose="030F0702030302020204" pitchFamily="66" charset="0"/>
              </a:rPr>
              <a:t>Cont</a:t>
            </a:r>
            <a:r>
              <a:rPr lang="en-PH" dirty="0">
                <a:latin typeface="Comic Sans MS" panose="030F0702030302020204" pitchFamily="66" charset="0"/>
              </a:rPr>
              <a:t>…</a:t>
            </a:r>
          </a:p>
        </p:txBody>
      </p:sp>
      <p:sp>
        <p:nvSpPr>
          <p:cNvPr id="3" name="Content Placeholder 2">
            <a:extLst>
              <a:ext uri="{FF2B5EF4-FFF2-40B4-BE49-F238E27FC236}">
                <a16:creationId xmlns:a16="http://schemas.microsoft.com/office/drawing/2014/main" id="{6ABAAAFE-07E2-75EE-858C-0CE4F53F4D77}"/>
              </a:ext>
            </a:extLst>
          </p:cNvPr>
          <p:cNvSpPr>
            <a:spLocks noGrp="1"/>
          </p:cNvSpPr>
          <p:nvPr>
            <p:ph idx="1"/>
          </p:nvPr>
        </p:nvSpPr>
        <p:spPr>
          <a:xfrm>
            <a:off x="1154954" y="2523671"/>
            <a:ext cx="8825659" cy="3771900"/>
          </a:xfrm>
        </p:spPr>
        <p:txBody>
          <a:bodyPr>
            <a:normAutofit fontScale="40000" lnSpcReduction="20000"/>
          </a:bodyPr>
          <a:lstStyle/>
          <a:p>
            <a:r>
              <a:rPr lang="en-US" sz="5000" b="0" i="0" dirty="0">
                <a:solidFill>
                  <a:srgbClr val="222222"/>
                </a:solidFill>
                <a:effectLst/>
                <a:latin typeface="Comic Sans MS" panose="030F0702030302020204" pitchFamily="66" charset="0"/>
              </a:rPr>
              <a:t>Effectiveness can be evaluated through a variety of means, whether informal discussions, interviews, surveys, audits, or evaluation processes. </a:t>
            </a:r>
          </a:p>
          <a:p>
            <a:r>
              <a:rPr lang="en-US" sz="5000" b="0" i="0" dirty="0">
                <a:solidFill>
                  <a:srgbClr val="222222"/>
                </a:solidFill>
                <a:effectLst/>
                <a:latin typeface="Comic Sans MS" panose="030F0702030302020204" pitchFamily="66" charset="0"/>
              </a:rPr>
              <a:t>Measurement for improvement initiatives and post-fall debriefings may also help identify safety gaps and prevent the recurrence of falls or reduce injuries from falling.</a:t>
            </a:r>
          </a:p>
          <a:p>
            <a:pPr algn="l" rtl="0"/>
            <a:r>
              <a:rPr lang="en-US" sz="5000" b="0" i="0" dirty="0">
                <a:solidFill>
                  <a:srgbClr val="222222"/>
                </a:solidFill>
                <a:effectLst/>
                <a:latin typeface="Comic Sans MS" panose="030F0702030302020204" pitchFamily="66" charset="0"/>
              </a:rPr>
              <a:t>Team members and volunteers are educated, and clients, families, and caregivers are provided with information to prevent falls and reduce injuries from falling.</a:t>
            </a:r>
          </a:p>
          <a:p>
            <a:pPr algn="l" rtl="0"/>
            <a:r>
              <a:rPr lang="en-US" sz="5000" b="0" i="0" dirty="0">
                <a:solidFill>
                  <a:srgbClr val="222222"/>
                </a:solidFill>
                <a:effectLst/>
                <a:latin typeface="Comic Sans MS" panose="030F0702030302020204" pitchFamily="66" charset="0"/>
              </a:rPr>
              <a:t>The effectiveness of fall prevention and injury reduction precautions and education/information to prevent falls and reduce injuries from falling.</a:t>
            </a:r>
            <a:br>
              <a:rPr lang="en-US" sz="2400" b="0" i="0" dirty="0">
                <a:solidFill>
                  <a:srgbClr val="222222"/>
                </a:solidFill>
                <a:effectLst/>
                <a:latin typeface="Google Sans"/>
              </a:rPr>
            </a:br>
            <a:endParaRPr lang="en-PH" sz="2400" dirty="0">
              <a:latin typeface="Comic Sans MS" panose="030F0702030302020204" pitchFamily="66" charset="0"/>
            </a:endParaRPr>
          </a:p>
        </p:txBody>
      </p:sp>
    </p:spTree>
    <p:extLst>
      <p:ext uri="{BB962C8B-B14F-4D97-AF65-F5344CB8AC3E}">
        <p14:creationId xmlns:p14="http://schemas.microsoft.com/office/powerpoint/2010/main" val="2938915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6E23E-E8FB-4590-607D-E904FB2E7815}"/>
              </a:ext>
            </a:extLst>
          </p:cNvPr>
          <p:cNvSpPr>
            <a:spLocks noGrp="1"/>
          </p:cNvSpPr>
          <p:nvPr>
            <p:ph type="title"/>
          </p:nvPr>
        </p:nvSpPr>
        <p:spPr/>
        <p:txBody>
          <a:bodyPr/>
          <a:lstStyle/>
          <a:p>
            <a:r>
              <a:rPr lang="en-PH" b="1" dirty="0">
                <a:latin typeface="Comic Sans MS" panose="030F0702030302020204" pitchFamily="66" charset="0"/>
              </a:rPr>
              <a:t>LONG-TERM CARE SERVICE</a:t>
            </a:r>
          </a:p>
        </p:txBody>
      </p:sp>
      <p:sp>
        <p:nvSpPr>
          <p:cNvPr id="3" name="Content Placeholder 2">
            <a:extLst>
              <a:ext uri="{FF2B5EF4-FFF2-40B4-BE49-F238E27FC236}">
                <a16:creationId xmlns:a16="http://schemas.microsoft.com/office/drawing/2014/main" id="{CEF7A067-8E4B-FEB1-8775-0BF98FB05E5F}"/>
              </a:ext>
            </a:extLst>
          </p:cNvPr>
          <p:cNvSpPr>
            <a:spLocks noGrp="1"/>
          </p:cNvSpPr>
          <p:nvPr>
            <p:ph idx="1"/>
          </p:nvPr>
        </p:nvSpPr>
        <p:spPr>
          <a:xfrm>
            <a:off x="572353" y="2603498"/>
            <a:ext cx="5523647" cy="3724729"/>
          </a:xfrm>
        </p:spPr>
        <p:txBody>
          <a:bodyPr>
            <a:normAutofit fontScale="92500" lnSpcReduction="20000"/>
          </a:bodyPr>
          <a:lstStyle/>
          <a:p>
            <a:r>
              <a:rPr lang="en-US" sz="2200" b="0" i="0" dirty="0">
                <a:solidFill>
                  <a:srgbClr val="222222"/>
                </a:solidFill>
                <a:effectLst/>
                <a:latin typeface="Comic Sans MS" panose="030F0702030302020204" pitchFamily="66" charset="0"/>
              </a:rPr>
              <a:t>Reducing falls and </a:t>
            </a:r>
            <a:r>
              <a:rPr lang="en-US" sz="2200" dirty="0">
                <a:solidFill>
                  <a:srgbClr val="222222"/>
                </a:solidFill>
                <a:latin typeface="Comic Sans MS" panose="030F0702030302020204" pitchFamily="66" charset="0"/>
              </a:rPr>
              <a:t>injuries from falls can increase the quality of life, prevent loss of mobility and pain for residents, and reduce costs.</a:t>
            </a:r>
          </a:p>
          <a:p>
            <a:r>
              <a:rPr lang="en-US" sz="2200" dirty="0">
                <a:solidFill>
                  <a:srgbClr val="222222"/>
                </a:solidFill>
                <a:latin typeface="Comic Sans MS" panose="030F0702030302020204" pitchFamily="66" charset="0"/>
              </a:rPr>
              <a:t> Examples of risk assessment tools appropriate for long-term care include:</a:t>
            </a:r>
          </a:p>
          <a:p>
            <a:pPr marL="0" indent="0">
              <a:buNone/>
            </a:pPr>
            <a:r>
              <a:rPr lang="en-US" sz="2200" dirty="0">
                <a:solidFill>
                  <a:srgbClr val="222222"/>
                </a:solidFill>
                <a:latin typeface="Comic Sans MS" panose="030F0702030302020204" pitchFamily="66" charset="0"/>
              </a:rPr>
              <a:t>      1. Area Ellipse of Postural Sway</a:t>
            </a:r>
          </a:p>
          <a:p>
            <a:pPr marL="0" indent="0">
              <a:buNone/>
            </a:pPr>
            <a:r>
              <a:rPr lang="en-US" sz="2200" dirty="0">
                <a:solidFill>
                  <a:srgbClr val="222222"/>
                </a:solidFill>
                <a:latin typeface="Comic Sans MS" panose="030F0702030302020204" pitchFamily="66" charset="0"/>
              </a:rPr>
              <a:t>      2. Berg Balance Test</a:t>
            </a:r>
          </a:p>
          <a:p>
            <a:pPr marL="0" indent="0">
              <a:buNone/>
            </a:pPr>
            <a:r>
              <a:rPr lang="en-US" sz="2200" dirty="0">
                <a:solidFill>
                  <a:srgbClr val="222222"/>
                </a:solidFill>
                <a:latin typeface="Comic Sans MS" panose="030F0702030302020204" pitchFamily="66" charset="0"/>
              </a:rPr>
              <a:t>      3. Mobility Fall Chart</a:t>
            </a:r>
          </a:p>
          <a:p>
            <a:pPr marL="0" indent="0">
              <a:buNone/>
            </a:pPr>
            <a:r>
              <a:rPr lang="en-US" sz="2200" dirty="0">
                <a:solidFill>
                  <a:srgbClr val="222222"/>
                </a:solidFill>
                <a:latin typeface="Comic Sans MS" panose="030F0702030302020204" pitchFamily="66" charset="0"/>
              </a:rPr>
              <a:t>      4. STRATIFY (St. Thomas Risk Assessment Tool in Falling Elderly Inpatients</a:t>
            </a:r>
            <a:r>
              <a:rPr lang="en-US" sz="2000" dirty="0">
                <a:solidFill>
                  <a:srgbClr val="222222"/>
                </a:solidFill>
                <a:latin typeface="Comic Sans MS" panose="030F0702030302020204" pitchFamily="66" charset="0"/>
              </a:rPr>
              <a:t>.</a:t>
            </a:r>
            <a:endParaRPr lang="en-US" sz="2000" b="0" i="0" dirty="0">
              <a:solidFill>
                <a:srgbClr val="222222"/>
              </a:solidFill>
              <a:effectLst/>
              <a:latin typeface="Comic Sans MS" panose="030F0702030302020204" pitchFamily="66" charset="0"/>
            </a:endParaRPr>
          </a:p>
          <a:p>
            <a:pPr marL="0" indent="0" algn="l">
              <a:buNone/>
            </a:pPr>
            <a:endParaRPr lang="en-US" b="0" i="0" dirty="0">
              <a:solidFill>
                <a:srgbClr val="222222"/>
              </a:solidFill>
              <a:effectLst/>
              <a:latin typeface="Helvetica" panose="020B0604020202020204" pitchFamily="34" charset="0"/>
            </a:endParaRPr>
          </a:p>
          <a:p>
            <a:endParaRPr lang="en-PH" dirty="0"/>
          </a:p>
        </p:txBody>
      </p:sp>
      <p:pic>
        <p:nvPicPr>
          <p:cNvPr id="4" name="Picture 4">
            <a:extLst>
              <a:ext uri="{FF2B5EF4-FFF2-40B4-BE49-F238E27FC236}">
                <a16:creationId xmlns:a16="http://schemas.microsoft.com/office/drawing/2014/main" id="{53B64CCA-59C4-F249-FB3A-0F7581ECE7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000" y="2735385"/>
            <a:ext cx="5010727" cy="4122614"/>
          </a:xfrm>
          <a:prstGeom prst="rect">
            <a:avLst/>
          </a:prstGeom>
        </p:spPr>
      </p:pic>
    </p:spTree>
    <p:extLst>
      <p:ext uri="{BB962C8B-B14F-4D97-AF65-F5344CB8AC3E}">
        <p14:creationId xmlns:p14="http://schemas.microsoft.com/office/powerpoint/2010/main" val="14564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EEF99-65D8-B0BA-CCCA-69A2E0A0723D}"/>
              </a:ext>
            </a:extLst>
          </p:cNvPr>
          <p:cNvSpPr>
            <a:spLocks noGrp="1"/>
          </p:cNvSpPr>
          <p:nvPr>
            <p:ph type="title"/>
          </p:nvPr>
        </p:nvSpPr>
        <p:spPr/>
        <p:txBody>
          <a:bodyPr/>
          <a:lstStyle/>
          <a:p>
            <a:r>
              <a:rPr lang="en-PH" b="1" dirty="0" err="1">
                <a:latin typeface="Comic Sans MS" panose="030F0702030302020204" pitchFamily="66" charset="0"/>
              </a:rPr>
              <a:t>Cont</a:t>
            </a:r>
            <a:r>
              <a:rPr lang="en-PH" b="1" dirty="0">
                <a:latin typeface="Comic Sans MS" panose="030F0702030302020204" pitchFamily="66" charset="0"/>
              </a:rPr>
              <a:t>….</a:t>
            </a:r>
          </a:p>
        </p:txBody>
      </p:sp>
      <p:sp>
        <p:nvSpPr>
          <p:cNvPr id="3" name="Content Placeholder 2">
            <a:extLst>
              <a:ext uri="{FF2B5EF4-FFF2-40B4-BE49-F238E27FC236}">
                <a16:creationId xmlns:a16="http://schemas.microsoft.com/office/drawing/2014/main" id="{530A0DBC-7229-A857-8DE8-7006C6A975AA}"/>
              </a:ext>
            </a:extLst>
          </p:cNvPr>
          <p:cNvSpPr>
            <a:spLocks noGrp="1"/>
          </p:cNvSpPr>
          <p:nvPr>
            <p:ph idx="1"/>
          </p:nvPr>
        </p:nvSpPr>
        <p:spPr>
          <a:xfrm>
            <a:off x="1428190" y="2969554"/>
            <a:ext cx="8825659" cy="3416300"/>
          </a:xfrm>
        </p:spPr>
        <p:txBody>
          <a:bodyPr>
            <a:normAutofit/>
          </a:bodyPr>
          <a:lstStyle/>
          <a:p>
            <a:r>
              <a:rPr lang="en-US" sz="2400" b="0" i="0" dirty="0">
                <a:solidFill>
                  <a:srgbClr val="222222"/>
                </a:solidFill>
                <a:effectLst/>
                <a:latin typeface="Comic Sans MS" panose="030F0702030302020204" pitchFamily="66" charset="0"/>
              </a:rPr>
              <a:t>Recommendations for preventing fracture in long-term care can include vitamin D supplementation, use of hip protectors, exercise, multifactorial interventions, and pharmacologic therapies</a:t>
            </a:r>
            <a:r>
              <a:rPr lang="en-US" b="0" i="0" dirty="0">
                <a:solidFill>
                  <a:srgbClr val="222222"/>
                </a:solidFill>
                <a:effectLst/>
                <a:latin typeface="Comic Sans MS" panose="030F0702030302020204" pitchFamily="66" charset="0"/>
              </a:rPr>
              <a:t>.</a:t>
            </a:r>
            <a:endParaRPr lang="en-US" dirty="0">
              <a:solidFill>
                <a:srgbClr val="222222"/>
              </a:solidFill>
              <a:latin typeface="Comic Sans MS" panose="030F0702030302020204" pitchFamily="66" charset="0"/>
            </a:endParaRPr>
          </a:p>
          <a:p>
            <a:pPr algn="l"/>
            <a:r>
              <a:rPr lang="en-US" sz="2400" b="0" i="0" dirty="0">
                <a:solidFill>
                  <a:srgbClr val="222222"/>
                </a:solidFill>
                <a:effectLst/>
                <a:latin typeface="Comic Sans MS" panose="030F0702030302020204" pitchFamily="66" charset="0"/>
              </a:rPr>
              <a:t>Measurement for improvement initiatives and post-fall debriefings may also help</a:t>
            </a:r>
            <a:r>
              <a:rPr lang="en-US" sz="2400" dirty="0">
                <a:solidFill>
                  <a:srgbClr val="222222"/>
                </a:solidFill>
                <a:latin typeface="Comic Sans MS" panose="030F0702030302020204" pitchFamily="66" charset="0"/>
              </a:rPr>
              <a:t> </a:t>
            </a:r>
            <a:r>
              <a:rPr lang="en-US" sz="2400" b="0" i="0" dirty="0">
                <a:solidFill>
                  <a:srgbClr val="222222"/>
                </a:solidFill>
                <a:effectLst/>
                <a:latin typeface="Comic Sans MS" panose="030F0702030302020204" pitchFamily="66" charset="0"/>
              </a:rPr>
              <a:t>identify safety gaps and prevent the recurrence of falls or reduce injuries from falling.</a:t>
            </a:r>
          </a:p>
          <a:p>
            <a:pPr marL="0" indent="0">
              <a:buNone/>
            </a:pPr>
            <a:endParaRPr lang="en-PH" dirty="0">
              <a:latin typeface="Comic Sans MS" panose="030F0702030302020204" pitchFamily="66" charset="0"/>
            </a:endParaRPr>
          </a:p>
        </p:txBody>
      </p:sp>
    </p:spTree>
    <p:extLst>
      <p:ext uri="{BB962C8B-B14F-4D97-AF65-F5344CB8AC3E}">
        <p14:creationId xmlns:p14="http://schemas.microsoft.com/office/powerpoint/2010/main" val="1280571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E3E8F-3896-4CAE-5410-2E6A936F4BC5}"/>
              </a:ext>
            </a:extLst>
          </p:cNvPr>
          <p:cNvSpPr>
            <a:spLocks noGrp="1"/>
          </p:cNvSpPr>
          <p:nvPr>
            <p:ph type="title"/>
          </p:nvPr>
        </p:nvSpPr>
        <p:spPr/>
        <p:txBody>
          <a:bodyPr/>
          <a:lstStyle/>
          <a:p>
            <a:r>
              <a:rPr lang="en-PH" dirty="0">
                <a:latin typeface="Comic Sans MS" panose="030F0702030302020204" pitchFamily="66" charset="0"/>
              </a:rPr>
              <a:t>HOME SAFETY RISK ASSESSMENT</a:t>
            </a:r>
          </a:p>
        </p:txBody>
      </p:sp>
      <p:sp>
        <p:nvSpPr>
          <p:cNvPr id="3" name="Content Placeholder 2">
            <a:extLst>
              <a:ext uri="{FF2B5EF4-FFF2-40B4-BE49-F238E27FC236}">
                <a16:creationId xmlns:a16="http://schemas.microsoft.com/office/drawing/2014/main" id="{122609CC-360B-4248-2ADE-11B8B77F7B73}"/>
              </a:ext>
            </a:extLst>
          </p:cNvPr>
          <p:cNvSpPr>
            <a:spLocks noGrp="1"/>
          </p:cNvSpPr>
          <p:nvPr>
            <p:ph idx="1"/>
          </p:nvPr>
        </p:nvSpPr>
        <p:spPr/>
        <p:txBody>
          <a:bodyPr>
            <a:normAutofit fontScale="92500"/>
          </a:bodyPr>
          <a:lstStyle/>
          <a:p>
            <a:r>
              <a:rPr lang="en-US" sz="2800" b="0" i="0" dirty="0">
                <a:solidFill>
                  <a:srgbClr val="222222"/>
                </a:solidFill>
                <a:effectLst/>
                <a:latin typeface="Comic Sans MS" panose="030F0702030302020204" pitchFamily="66" charset="0"/>
              </a:rPr>
              <a:t>The home safety risk assessment includes a review of internal and external physical environments; chemical, biological, fire and falls hazards; medical conditions requiring special precautions; client risk factor and emergency preparedness.</a:t>
            </a:r>
          </a:p>
          <a:p>
            <a:r>
              <a:rPr lang="en-US" sz="2800" b="0" i="0" dirty="0">
                <a:solidFill>
                  <a:srgbClr val="222222"/>
                </a:solidFill>
                <a:effectLst/>
                <a:latin typeface="Comic Sans MS" panose="030F0702030302020204" pitchFamily="66" charset="0"/>
              </a:rPr>
              <a:t>The home safety risk assessment is regularly updated and used to improve services provided to the client.</a:t>
            </a:r>
            <a:endParaRPr lang="en-US" sz="2800" dirty="0">
              <a:solidFill>
                <a:srgbClr val="222222"/>
              </a:solidFill>
              <a:latin typeface="Comic Sans MS" panose="030F0702030302020204" pitchFamily="66" charset="0"/>
            </a:endParaRPr>
          </a:p>
          <a:p>
            <a:pPr marL="0" indent="0">
              <a:buNone/>
            </a:pPr>
            <a:endParaRPr lang="en-US" sz="2000" b="0" i="0" dirty="0">
              <a:solidFill>
                <a:srgbClr val="222222"/>
              </a:solidFill>
              <a:effectLst/>
              <a:latin typeface="Comic Sans MS" panose="030F0702030302020204" pitchFamily="66" charset="0"/>
            </a:endParaRPr>
          </a:p>
          <a:p>
            <a:endParaRPr lang="en-US" sz="2000" b="0" i="0" dirty="0">
              <a:solidFill>
                <a:srgbClr val="222222"/>
              </a:solidFill>
              <a:effectLst/>
              <a:latin typeface="Comic Sans MS" panose="030F0702030302020204" pitchFamily="66" charset="0"/>
            </a:endParaRPr>
          </a:p>
          <a:p>
            <a:endParaRPr lang="en-US" sz="2000" b="0" i="0" dirty="0">
              <a:solidFill>
                <a:srgbClr val="222222"/>
              </a:solidFill>
              <a:effectLst/>
              <a:latin typeface="Comic Sans MS" panose="030F0702030302020204" pitchFamily="66" charset="0"/>
            </a:endParaRPr>
          </a:p>
        </p:txBody>
      </p:sp>
    </p:spTree>
    <p:extLst>
      <p:ext uri="{BB962C8B-B14F-4D97-AF65-F5344CB8AC3E}">
        <p14:creationId xmlns:p14="http://schemas.microsoft.com/office/powerpoint/2010/main" val="1375263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68AD3-B512-8846-299A-39581B6842EA}"/>
              </a:ext>
            </a:extLst>
          </p:cNvPr>
          <p:cNvSpPr>
            <a:spLocks noGrp="1"/>
          </p:cNvSpPr>
          <p:nvPr>
            <p:ph type="title"/>
          </p:nvPr>
        </p:nvSpPr>
        <p:spPr>
          <a:xfrm>
            <a:off x="1290249" y="991431"/>
            <a:ext cx="8761413" cy="706964"/>
          </a:xfrm>
        </p:spPr>
        <p:txBody>
          <a:bodyPr/>
          <a:lstStyle/>
          <a:p>
            <a:r>
              <a:rPr lang="af-ZA" sz="2800" b="0" i="0" dirty="0">
                <a:solidFill>
                  <a:schemeClr val="bg1"/>
                </a:solidFill>
                <a:effectLst/>
                <a:latin typeface="Montserrat"/>
              </a:rPr>
              <a:t>What Are The Steps To Be Taken When Carrying Out Home Assessment To Ensure Safety?</a:t>
            </a:r>
            <a:br>
              <a:rPr lang="af-ZA" sz="2800" b="0" i="0" dirty="0">
                <a:solidFill>
                  <a:schemeClr val="bg1"/>
                </a:solidFill>
                <a:effectLst/>
                <a:latin typeface="Montserrat"/>
              </a:rPr>
            </a:br>
            <a:endParaRPr lang="ar-AE" sz="2800" dirty="0">
              <a:solidFill>
                <a:schemeClr val="bg1"/>
              </a:solidFill>
            </a:endParaRPr>
          </a:p>
        </p:txBody>
      </p:sp>
      <p:sp>
        <p:nvSpPr>
          <p:cNvPr id="3" name="Content Placeholder 2">
            <a:extLst>
              <a:ext uri="{FF2B5EF4-FFF2-40B4-BE49-F238E27FC236}">
                <a16:creationId xmlns:a16="http://schemas.microsoft.com/office/drawing/2014/main" id="{EC1B37A6-A4D7-ED88-1755-7FD3C67B12D0}"/>
              </a:ext>
            </a:extLst>
          </p:cNvPr>
          <p:cNvSpPr>
            <a:spLocks noGrp="1"/>
          </p:cNvSpPr>
          <p:nvPr>
            <p:ph idx="1"/>
          </p:nvPr>
        </p:nvSpPr>
        <p:spPr>
          <a:xfrm>
            <a:off x="6456572" y="2514688"/>
            <a:ext cx="5303803" cy="3636076"/>
          </a:xfrm>
        </p:spPr>
        <p:txBody>
          <a:bodyPr>
            <a:normAutofit fontScale="92500" lnSpcReduction="10000"/>
          </a:bodyPr>
          <a:lstStyle/>
          <a:p>
            <a:r>
              <a:rPr lang="af-ZA" b="0" i="0" dirty="0">
                <a:solidFill>
                  <a:srgbClr val="8E8E8E"/>
                </a:solidFill>
                <a:effectLst/>
                <a:latin typeface="Arial" panose="020B0604020202020204" pitchFamily="34" charset="0"/>
              </a:rPr>
              <a:t>To have a safe home, carrying out assessment cannot be ignored.  It is important to ensure that the assessment is done in the right way. Deciding on which way to carry out an assessment may be a challenge and also tedious. However, there are five steps that can guide you while carrying out home assessment.</a:t>
            </a:r>
            <a:endParaRPr lang="en-US" b="0" i="0" dirty="0">
              <a:solidFill>
                <a:srgbClr val="8E8E8E"/>
              </a:solidFill>
              <a:effectLst/>
              <a:latin typeface="Arial" panose="020B0604020202020204" pitchFamily="34" charset="0"/>
            </a:endParaRPr>
          </a:p>
          <a:p>
            <a:r>
              <a:rPr lang="af-ZA" b="1" i="0" dirty="0">
                <a:solidFill>
                  <a:srgbClr val="8E8E8E"/>
                </a:solidFill>
                <a:effectLst/>
                <a:latin typeface="Arial" panose="020B0604020202020204" pitchFamily="34" charset="0"/>
              </a:rPr>
              <a:t>Step 1: Identify Hazards At Home</a:t>
            </a:r>
            <a:endParaRPr lang="en-US" b="1" i="0" dirty="0">
              <a:solidFill>
                <a:srgbClr val="8E8E8E"/>
              </a:solidFill>
              <a:effectLst/>
              <a:latin typeface="Arial" panose="020B0604020202020204" pitchFamily="34" charset="0"/>
            </a:endParaRPr>
          </a:p>
          <a:p>
            <a:r>
              <a:rPr lang="af-ZA" b="1" i="0" dirty="0">
                <a:solidFill>
                  <a:srgbClr val="8E8E8E"/>
                </a:solidFill>
                <a:effectLst/>
                <a:latin typeface="Arial" panose="020B0604020202020204" pitchFamily="34" charset="0"/>
              </a:rPr>
              <a:t>Step 2: Determine Who May Be Harmed By The Hazard And How</a:t>
            </a:r>
            <a:endParaRPr lang="en-US" b="1" i="0" dirty="0">
              <a:solidFill>
                <a:srgbClr val="8E8E8E"/>
              </a:solidFill>
              <a:effectLst/>
              <a:latin typeface="Arial" panose="020B0604020202020204" pitchFamily="34" charset="0"/>
            </a:endParaRPr>
          </a:p>
          <a:p>
            <a:r>
              <a:rPr lang="af-ZA" b="1" i="0" dirty="0">
                <a:solidFill>
                  <a:srgbClr val="8E8E8E"/>
                </a:solidFill>
                <a:effectLst/>
                <a:latin typeface="Arial" panose="020B0604020202020204" pitchFamily="34" charset="0"/>
              </a:rPr>
              <a:t>Step 3: Introduce Safety Measures</a:t>
            </a:r>
            <a:endParaRPr lang="en-US" b="1" i="0" dirty="0">
              <a:solidFill>
                <a:srgbClr val="8E8E8E"/>
              </a:solidFill>
              <a:effectLst/>
              <a:latin typeface="Arial" panose="020B0604020202020204" pitchFamily="34" charset="0"/>
            </a:endParaRPr>
          </a:p>
          <a:p>
            <a:r>
              <a:rPr lang="af-ZA" b="1" i="0" dirty="0">
                <a:solidFill>
                  <a:srgbClr val="8E8E8E"/>
                </a:solidFill>
                <a:effectLst/>
                <a:latin typeface="Arial" panose="020B0604020202020204" pitchFamily="34" charset="0"/>
              </a:rPr>
              <a:t>Step 4: Have A Record On Your Findings</a:t>
            </a:r>
            <a:endParaRPr lang="ar-AE" dirty="0"/>
          </a:p>
        </p:txBody>
      </p:sp>
      <p:pic>
        <p:nvPicPr>
          <p:cNvPr id="4" name="Picture 4">
            <a:extLst>
              <a:ext uri="{FF2B5EF4-FFF2-40B4-BE49-F238E27FC236}">
                <a16:creationId xmlns:a16="http://schemas.microsoft.com/office/drawing/2014/main" id="{22B50E92-2AA9-61D5-E772-80F52AC29BFC}"/>
              </a:ext>
            </a:extLst>
          </p:cNvPr>
          <p:cNvPicPr>
            <a:picLocks noChangeAspect="1"/>
          </p:cNvPicPr>
          <p:nvPr/>
        </p:nvPicPr>
        <p:blipFill rotWithShape="1">
          <a:blip r:embed="rId2">
            <a:extLst>
              <a:ext uri="{28A0092B-C50C-407E-A947-70E740481C1C}">
                <a14:useLocalDpi xmlns:a14="http://schemas.microsoft.com/office/drawing/2010/main" val="0"/>
              </a:ext>
            </a:extLst>
          </a:blip>
          <a:srcRect l="2712" t="2574" r="2009" b="5206"/>
          <a:stretch/>
        </p:blipFill>
        <p:spPr>
          <a:xfrm>
            <a:off x="825944" y="2717622"/>
            <a:ext cx="5053357" cy="3818881"/>
          </a:xfrm>
          <a:prstGeom prst="rect">
            <a:avLst/>
          </a:prstGeom>
        </p:spPr>
      </p:pic>
    </p:spTree>
    <p:extLst>
      <p:ext uri="{BB962C8B-B14F-4D97-AF65-F5344CB8AC3E}">
        <p14:creationId xmlns:p14="http://schemas.microsoft.com/office/powerpoint/2010/main" val="2586092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7270-0B88-5D46-5E32-B6DD19083F09}"/>
              </a:ext>
            </a:extLst>
          </p:cNvPr>
          <p:cNvSpPr>
            <a:spLocks noGrp="1"/>
          </p:cNvSpPr>
          <p:nvPr>
            <p:ph type="title"/>
          </p:nvPr>
        </p:nvSpPr>
        <p:spPr/>
        <p:txBody>
          <a:bodyPr/>
          <a:lstStyle/>
          <a:p>
            <a:r>
              <a:rPr lang="en-PH" dirty="0">
                <a:latin typeface="Comic Sans MS" panose="030F0702030302020204" pitchFamily="66" charset="0"/>
              </a:rPr>
              <a:t>PRESSURE ULCER PREVENTION</a:t>
            </a:r>
          </a:p>
        </p:txBody>
      </p:sp>
      <p:sp>
        <p:nvSpPr>
          <p:cNvPr id="3" name="Content Placeholder 2">
            <a:extLst>
              <a:ext uri="{FF2B5EF4-FFF2-40B4-BE49-F238E27FC236}">
                <a16:creationId xmlns:a16="http://schemas.microsoft.com/office/drawing/2014/main" id="{2EDD6C10-EE03-44D5-D6B4-BA6C51A23222}"/>
              </a:ext>
            </a:extLst>
          </p:cNvPr>
          <p:cNvSpPr>
            <a:spLocks noGrp="1"/>
          </p:cNvSpPr>
          <p:nvPr>
            <p:ph idx="1"/>
          </p:nvPr>
        </p:nvSpPr>
        <p:spPr/>
        <p:txBody>
          <a:bodyPr>
            <a:normAutofit/>
          </a:bodyPr>
          <a:lstStyle/>
          <a:p>
            <a:r>
              <a:rPr lang="en-US" sz="2000" b="0" i="0" dirty="0">
                <a:solidFill>
                  <a:srgbClr val="222222"/>
                </a:solidFill>
                <a:effectLst/>
                <a:latin typeface="Comic Sans MS" panose="030F0702030302020204" pitchFamily="66" charset="0"/>
              </a:rPr>
              <a:t>Pressure ulcers have a significant impact on the client’s quality of life resulting in pain slower recovery, and increased risk of infection.</a:t>
            </a:r>
          </a:p>
          <a:p>
            <a:r>
              <a:rPr lang="en-US" sz="2000" dirty="0">
                <a:solidFill>
                  <a:srgbClr val="222222"/>
                </a:solidFill>
                <a:latin typeface="Comic Sans MS" panose="030F0702030302020204" pitchFamily="66" charset="0"/>
              </a:rPr>
              <a:t>U</a:t>
            </a:r>
            <a:r>
              <a:rPr lang="en-US" sz="2000" b="0" i="0" dirty="0">
                <a:solidFill>
                  <a:srgbClr val="222222"/>
                </a:solidFill>
                <a:effectLst/>
                <a:latin typeface="Comic Sans MS" panose="030F0702030302020204" pitchFamily="66" charset="0"/>
              </a:rPr>
              <a:t>lcers have a significant impact on clients’ quality of life resulting in pain slower recovery, and increased risk of infection. Pressure ulcers are also associated with increased length of stay, cost, and mortality. Effective pressure ulcer prevention strategies can reduce the incidence of pressure ulcers and are an indication of higher quality care and services.</a:t>
            </a:r>
            <a:endParaRPr lang="en-PH" sz="2000" dirty="0">
              <a:latin typeface="Comic Sans MS" panose="030F0702030302020204" pitchFamily="66" charset="0"/>
            </a:endParaRPr>
          </a:p>
        </p:txBody>
      </p:sp>
    </p:spTree>
    <p:extLst>
      <p:ext uri="{BB962C8B-B14F-4D97-AF65-F5344CB8AC3E}">
        <p14:creationId xmlns:p14="http://schemas.microsoft.com/office/powerpoint/2010/main" val="420125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ED3F3-5449-66FC-18C4-5E99633233B9}"/>
              </a:ext>
            </a:extLst>
          </p:cNvPr>
          <p:cNvSpPr>
            <a:spLocks noGrp="1"/>
          </p:cNvSpPr>
          <p:nvPr>
            <p:ph type="title"/>
          </p:nvPr>
        </p:nvSpPr>
        <p:spPr/>
        <p:txBody>
          <a:bodyPr/>
          <a:lstStyle/>
          <a:p>
            <a:r>
              <a:rPr lang="en-PH" dirty="0">
                <a:latin typeface="Comic Sans MS" panose="030F0702030302020204" pitchFamily="66" charset="0"/>
              </a:rPr>
              <a:t>Cont..</a:t>
            </a:r>
          </a:p>
        </p:txBody>
      </p:sp>
      <p:sp>
        <p:nvSpPr>
          <p:cNvPr id="3" name="Content Placeholder 2">
            <a:extLst>
              <a:ext uri="{FF2B5EF4-FFF2-40B4-BE49-F238E27FC236}">
                <a16:creationId xmlns:a16="http://schemas.microsoft.com/office/drawing/2014/main" id="{F5070F3E-75DF-3EA8-60E6-44FBD7E43664}"/>
              </a:ext>
            </a:extLst>
          </p:cNvPr>
          <p:cNvSpPr>
            <a:spLocks noGrp="1"/>
          </p:cNvSpPr>
          <p:nvPr>
            <p:ph idx="1"/>
          </p:nvPr>
        </p:nvSpPr>
        <p:spPr>
          <a:xfrm>
            <a:off x="1154954" y="2220686"/>
            <a:ext cx="8825659" cy="3799114"/>
          </a:xfrm>
        </p:spPr>
        <p:txBody>
          <a:bodyPr>
            <a:normAutofit fontScale="92500" lnSpcReduction="10000"/>
          </a:bodyPr>
          <a:lstStyle/>
          <a:p>
            <a:pPr marL="0" indent="0" algn="l">
              <a:buNone/>
            </a:pPr>
            <a:r>
              <a:rPr lang="en-US" sz="2400" b="0" i="0" dirty="0">
                <a:solidFill>
                  <a:srgbClr val="222222"/>
                </a:solidFill>
                <a:effectLst/>
                <a:latin typeface="Comic Sans MS" panose="030F0702030302020204" pitchFamily="66" charset="0"/>
              </a:rPr>
              <a:t>Effective pressure ulcer prevention starts with a validated risk assessment scale, such as:</a:t>
            </a:r>
          </a:p>
          <a:p>
            <a:pPr algn="l"/>
            <a:r>
              <a:rPr lang="en-US" sz="2400" b="0" i="0" dirty="0">
                <a:solidFill>
                  <a:srgbClr val="222222"/>
                </a:solidFill>
                <a:effectLst/>
                <a:latin typeface="Comic Sans MS" panose="030F0702030302020204" pitchFamily="66" charset="0"/>
              </a:rPr>
              <a:t>The Braden Scale for Predicting Pressure Sore Risk</a:t>
            </a:r>
          </a:p>
          <a:p>
            <a:pPr algn="l"/>
            <a:r>
              <a:rPr lang="en-US" sz="2400" b="0" i="0" dirty="0">
                <a:solidFill>
                  <a:srgbClr val="222222"/>
                </a:solidFill>
                <a:effectLst/>
                <a:latin typeface="Comic Sans MS" panose="030F0702030302020204" pitchFamily="66" charset="0"/>
              </a:rPr>
              <a:t>The Norton Pressure Sore Risk Assessment Scale </a:t>
            </a:r>
          </a:p>
          <a:p>
            <a:pPr algn="l"/>
            <a:r>
              <a:rPr lang="en-US" sz="2400" b="0" i="0" dirty="0" err="1">
                <a:solidFill>
                  <a:srgbClr val="222222"/>
                </a:solidFill>
                <a:effectLst/>
                <a:latin typeface="Comic Sans MS" panose="030F0702030302020204" pitchFamily="66" charset="0"/>
              </a:rPr>
              <a:t>InterRAI</a:t>
            </a:r>
            <a:r>
              <a:rPr lang="en-US" sz="2400" b="0" i="0" dirty="0">
                <a:solidFill>
                  <a:srgbClr val="222222"/>
                </a:solidFill>
                <a:effectLst/>
                <a:latin typeface="Comic Sans MS" panose="030F0702030302020204" pitchFamily="66" charset="0"/>
              </a:rPr>
              <a:t> Pressure Ulcer Risk Scale (long-term care)</a:t>
            </a:r>
          </a:p>
          <a:p>
            <a:pPr algn="l"/>
            <a:r>
              <a:rPr lang="en-US" sz="2400" b="0" i="0" dirty="0">
                <a:solidFill>
                  <a:srgbClr val="222222"/>
                </a:solidFill>
                <a:effectLst/>
                <a:latin typeface="Comic Sans MS" panose="030F0702030302020204" pitchFamily="66" charset="0"/>
              </a:rPr>
              <a:t>The </a:t>
            </a:r>
            <a:r>
              <a:rPr lang="en-US" sz="2400" b="0" i="0" dirty="0" err="1">
                <a:solidFill>
                  <a:srgbClr val="222222"/>
                </a:solidFill>
                <a:effectLst/>
                <a:latin typeface="Comic Sans MS" panose="030F0702030302020204" pitchFamily="66" charset="0"/>
              </a:rPr>
              <a:t>Waterlow</a:t>
            </a:r>
            <a:r>
              <a:rPr lang="en-US" sz="2400" b="0" i="0" dirty="0">
                <a:solidFill>
                  <a:srgbClr val="222222"/>
                </a:solidFill>
                <a:effectLst/>
                <a:latin typeface="Comic Sans MS" panose="030F0702030302020204" pitchFamily="66" charset="0"/>
              </a:rPr>
              <a:t> Score</a:t>
            </a:r>
          </a:p>
          <a:p>
            <a:pPr algn="l"/>
            <a:r>
              <a:rPr lang="en-US" sz="2400" b="0" i="0" dirty="0">
                <a:solidFill>
                  <a:srgbClr val="222222"/>
                </a:solidFill>
                <a:effectLst/>
                <a:latin typeface="Comic Sans MS" panose="030F0702030302020204" pitchFamily="66" charset="0"/>
              </a:rPr>
              <a:t>The Gosnell Scale</a:t>
            </a:r>
          </a:p>
          <a:p>
            <a:pPr algn="l"/>
            <a:r>
              <a:rPr lang="en-US" sz="2400" b="0" i="0" dirty="0">
                <a:solidFill>
                  <a:srgbClr val="222222"/>
                </a:solidFill>
                <a:effectLst/>
                <a:latin typeface="Comic Sans MS" panose="030F0702030302020204" pitchFamily="66" charset="0"/>
              </a:rPr>
              <a:t>The Knoll Scale</a:t>
            </a:r>
          </a:p>
          <a:p>
            <a:pPr algn="l"/>
            <a:r>
              <a:rPr lang="en-US" sz="2400" b="0" i="0" dirty="0">
                <a:solidFill>
                  <a:srgbClr val="222222"/>
                </a:solidFill>
                <a:effectLst/>
                <a:latin typeface="Comic Sans MS" panose="030F0702030302020204" pitchFamily="66" charset="0"/>
              </a:rPr>
              <a:t>SCIPUS (Spinal Cord Injury Pressure Ulcer Scale</a:t>
            </a:r>
          </a:p>
          <a:p>
            <a:pPr marL="0" indent="0" algn="l">
              <a:buNone/>
            </a:pPr>
            <a:endParaRPr lang="en-US" b="0" i="0" dirty="0">
              <a:solidFill>
                <a:srgbClr val="222222"/>
              </a:solidFill>
              <a:effectLst/>
              <a:latin typeface="Helvetica" panose="020B0604020202020204" pitchFamily="34" charset="0"/>
            </a:endParaRPr>
          </a:p>
        </p:txBody>
      </p:sp>
    </p:spTree>
    <p:extLst>
      <p:ext uri="{BB962C8B-B14F-4D97-AF65-F5344CB8AC3E}">
        <p14:creationId xmlns:p14="http://schemas.microsoft.com/office/powerpoint/2010/main" val="630762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C665F-1E61-D35D-2F1D-DCBFF8E05AD7}"/>
              </a:ext>
            </a:extLst>
          </p:cNvPr>
          <p:cNvSpPr>
            <a:spLocks noGrp="1"/>
          </p:cNvSpPr>
          <p:nvPr>
            <p:ph type="title"/>
          </p:nvPr>
        </p:nvSpPr>
        <p:spPr>
          <a:xfrm>
            <a:off x="1187076" y="1426605"/>
            <a:ext cx="8761413" cy="706964"/>
          </a:xfrm>
        </p:spPr>
        <p:txBody>
          <a:bodyPr/>
          <a:lstStyle/>
          <a:p>
            <a:r>
              <a:rPr lang="af-ZA" sz="3200" b="1" i="0" dirty="0">
                <a:solidFill>
                  <a:schemeClr val="bg1"/>
                </a:solidFill>
                <a:effectLst/>
                <a:latin typeface="Helvetica Neue"/>
              </a:rPr>
              <a:t>following tips can be used to help prevent the development of pressure ulcers.</a:t>
            </a:r>
            <a:br>
              <a:rPr lang="af-ZA" b="0" i="0" dirty="0">
                <a:solidFill>
                  <a:srgbClr val="BDC1C6"/>
                </a:solidFill>
                <a:effectLst/>
                <a:latin typeface="Helvetica Neue"/>
              </a:rPr>
            </a:br>
            <a:br>
              <a:rPr lang="af-ZA" b="0" i="0" dirty="0">
                <a:solidFill>
                  <a:srgbClr val="BDC1C6"/>
                </a:solidFill>
                <a:effectLst/>
                <a:latin typeface="Helvetica Neue"/>
              </a:rPr>
            </a:br>
            <a:endParaRPr lang="ar-AE" dirty="0"/>
          </a:p>
        </p:txBody>
      </p:sp>
      <p:sp>
        <p:nvSpPr>
          <p:cNvPr id="3" name="Content Placeholder 2">
            <a:extLst>
              <a:ext uri="{FF2B5EF4-FFF2-40B4-BE49-F238E27FC236}">
                <a16:creationId xmlns:a16="http://schemas.microsoft.com/office/drawing/2014/main" id="{D569D37B-49E2-6F16-E94B-D385C4F4D282}"/>
              </a:ext>
            </a:extLst>
          </p:cNvPr>
          <p:cNvSpPr>
            <a:spLocks noGrp="1"/>
          </p:cNvSpPr>
          <p:nvPr>
            <p:ph idx="1"/>
          </p:nvPr>
        </p:nvSpPr>
        <p:spPr/>
        <p:txBody>
          <a:bodyPr/>
          <a:lstStyle/>
          <a:p>
            <a:r>
              <a:rPr lang="en-US" dirty="0">
                <a:solidFill>
                  <a:schemeClr val="tx1"/>
                </a:solidFill>
                <a:latin typeface="Helvetica Neue"/>
              </a:rPr>
              <a:t>1</a:t>
            </a:r>
            <a:r>
              <a:rPr lang="en-US" dirty="0">
                <a:solidFill>
                  <a:srgbClr val="BDC1C6"/>
                </a:solidFill>
                <a:latin typeface="Helvetica Neue"/>
              </a:rPr>
              <a:t> </a:t>
            </a:r>
            <a:r>
              <a:rPr lang="af-ZA" b="0" i="0" dirty="0">
                <a:solidFill>
                  <a:schemeClr val="tx1"/>
                </a:solidFill>
                <a:effectLst/>
                <a:latin typeface="Helvetica Neue"/>
              </a:rPr>
              <a:t>RISK ASSESSMENT. ...</a:t>
            </a:r>
            <a:br>
              <a:rPr lang="af-ZA" b="0" i="0" dirty="0">
                <a:solidFill>
                  <a:schemeClr val="tx1"/>
                </a:solidFill>
                <a:effectLst/>
                <a:latin typeface="Helvetica Neue"/>
              </a:rPr>
            </a:br>
            <a:r>
              <a:rPr lang="af-ZA" b="0" i="0" dirty="0">
                <a:solidFill>
                  <a:schemeClr val="tx1"/>
                </a:solidFill>
                <a:effectLst/>
                <a:latin typeface="Helvetica Neue"/>
              </a:rPr>
              <a:t>2 SKIN. ...</a:t>
            </a:r>
            <a:br>
              <a:rPr lang="af-ZA" b="0" i="0" dirty="0">
                <a:solidFill>
                  <a:schemeClr val="tx1"/>
                </a:solidFill>
                <a:effectLst/>
                <a:latin typeface="Helvetica Neue"/>
              </a:rPr>
            </a:br>
            <a:r>
              <a:rPr lang="af-ZA" b="0" i="0" dirty="0">
                <a:solidFill>
                  <a:schemeClr val="tx1"/>
                </a:solidFill>
                <a:effectLst/>
                <a:latin typeface="Helvetica Neue"/>
              </a:rPr>
              <a:t>3 SKIN CARE. ...</a:t>
            </a:r>
            <a:br>
              <a:rPr lang="af-ZA" b="0" i="0" dirty="0">
                <a:solidFill>
                  <a:schemeClr val="tx1"/>
                </a:solidFill>
                <a:effectLst/>
                <a:latin typeface="Helvetica Neue"/>
              </a:rPr>
            </a:br>
            <a:r>
              <a:rPr lang="af-ZA" b="0" i="0" dirty="0">
                <a:solidFill>
                  <a:schemeClr val="tx1"/>
                </a:solidFill>
                <a:effectLst/>
                <a:latin typeface="Helvetica Neue"/>
              </a:rPr>
              <a:t>4 MOISTURE. ...</a:t>
            </a:r>
            <a:br>
              <a:rPr lang="af-ZA" b="0" i="0" dirty="0">
                <a:solidFill>
                  <a:schemeClr val="tx1"/>
                </a:solidFill>
                <a:effectLst/>
                <a:latin typeface="Helvetica Neue"/>
              </a:rPr>
            </a:br>
            <a:r>
              <a:rPr lang="af-ZA" b="0" i="0" dirty="0">
                <a:solidFill>
                  <a:schemeClr val="tx1"/>
                </a:solidFill>
                <a:effectLst/>
                <a:latin typeface="Helvetica Neue"/>
              </a:rPr>
              <a:t>5 INCONTINENCE. ...</a:t>
            </a:r>
            <a:br>
              <a:rPr lang="af-ZA" b="0" i="0" dirty="0">
                <a:solidFill>
                  <a:schemeClr val="tx1"/>
                </a:solidFill>
                <a:effectLst/>
                <a:latin typeface="Helvetica Neue"/>
              </a:rPr>
            </a:br>
            <a:r>
              <a:rPr lang="af-ZA" b="0" i="0" dirty="0">
                <a:solidFill>
                  <a:schemeClr val="tx1"/>
                </a:solidFill>
                <a:effectLst/>
                <a:latin typeface="Helvetica Neue"/>
              </a:rPr>
              <a:t>6 NUTRITION. ...</a:t>
            </a:r>
            <a:br>
              <a:rPr lang="af-ZA" b="0" i="0" dirty="0">
                <a:solidFill>
                  <a:schemeClr val="tx1"/>
                </a:solidFill>
                <a:effectLst/>
                <a:latin typeface="Helvetica Neue"/>
              </a:rPr>
            </a:br>
            <a:r>
              <a:rPr lang="af-ZA" b="0" i="0" dirty="0">
                <a:solidFill>
                  <a:schemeClr val="tx1"/>
                </a:solidFill>
                <a:effectLst/>
                <a:latin typeface="Helvetica Neue"/>
              </a:rPr>
              <a:t>7 POSITION/MOBILITY. ...</a:t>
            </a:r>
            <a:br>
              <a:rPr lang="af-ZA" b="0" i="0" dirty="0">
                <a:solidFill>
                  <a:schemeClr val="tx1"/>
                </a:solidFill>
                <a:effectLst/>
                <a:latin typeface="Helvetica Neue"/>
              </a:rPr>
            </a:br>
            <a:r>
              <a:rPr lang="af-ZA" b="0" i="0" dirty="0">
                <a:solidFill>
                  <a:schemeClr val="tx1"/>
                </a:solidFill>
                <a:effectLst/>
                <a:latin typeface="Helvetica Neue"/>
              </a:rPr>
              <a:t>8 ERGONOMICS</a:t>
            </a:r>
            <a:endParaRPr lang="ar-AE" dirty="0">
              <a:solidFill>
                <a:schemeClr val="tx1"/>
              </a:solidFill>
            </a:endParaRPr>
          </a:p>
        </p:txBody>
      </p:sp>
    </p:spTree>
    <p:extLst>
      <p:ext uri="{BB962C8B-B14F-4D97-AF65-F5344CB8AC3E}">
        <p14:creationId xmlns:p14="http://schemas.microsoft.com/office/powerpoint/2010/main" val="1754348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118E5-3B65-D3E1-B7E9-52753FDB316E}"/>
              </a:ext>
            </a:extLst>
          </p:cNvPr>
          <p:cNvSpPr>
            <a:spLocks noGrp="1"/>
          </p:cNvSpPr>
          <p:nvPr>
            <p:ph type="title"/>
          </p:nvPr>
        </p:nvSpPr>
        <p:spPr/>
        <p:txBody>
          <a:bodyPr/>
          <a:lstStyle/>
          <a:p>
            <a:r>
              <a:rPr lang="en-PH" sz="4800" b="1" dirty="0">
                <a:latin typeface="Comic Sans MS" panose="030F0702030302020204" pitchFamily="66" charset="0"/>
              </a:rPr>
              <a:t>SUICIDE PREVENTION</a:t>
            </a:r>
          </a:p>
        </p:txBody>
      </p:sp>
      <p:sp>
        <p:nvSpPr>
          <p:cNvPr id="3" name="Content Placeholder 2">
            <a:extLst>
              <a:ext uri="{FF2B5EF4-FFF2-40B4-BE49-F238E27FC236}">
                <a16:creationId xmlns:a16="http://schemas.microsoft.com/office/drawing/2014/main" id="{4F0044CE-15D2-D3E9-C04B-E788515FABBE}"/>
              </a:ext>
            </a:extLst>
          </p:cNvPr>
          <p:cNvSpPr>
            <a:spLocks noGrp="1"/>
          </p:cNvSpPr>
          <p:nvPr>
            <p:ph idx="1"/>
          </p:nvPr>
        </p:nvSpPr>
        <p:spPr>
          <a:xfrm>
            <a:off x="1683170" y="1680632"/>
            <a:ext cx="8825659" cy="1650556"/>
          </a:xfrm>
        </p:spPr>
        <p:txBody>
          <a:bodyPr>
            <a:normAutofit fontScale="77500" lnSpcReduction="20000"/>
          </a:bodyPr>
          <a:lstStyle/>
          <a:p>
            <a:pPr marL="0" indent="0" algn="l">
              <a:buNone/>
            </a:pPr>
            <a:endParaRPr lang="en-US" sz="2800" b="0" i="0" dirty="0">
              <a:solidFill>
                <a:srgbClr val="222222"/>
              </a:solidFill>
              <a:effectLst/>
              <a:latin typeface="Comic Sans MS" panose="030F0702030302020204" pitchFamily="66" charset="0"/>
            </a:endParaRPr>
          </a:p>
          <a:p>
            <a:pPr algn="l"/>
            <a:r>
              <a:rPr lang="en-US" sz="2800" b="0" i="0" dirty="0">
                <a:solidFill>
                  <a:srgbClr val="222222"/>
                </a:solidFill>
                <a:effectLst/>
                <a:latin typeface="Comic Sans MS" panose="030F0702030302020204" pitchFamily="66" charset="0"/>
              </a:rPr>
              <a:t>Suicide is a global health concern. Every year more than 800, 000 people die by suicide, according to the World Health Organization. Many of these deaths could be prevented by early recognition of the signs of suicidal thinking and offering appropriate intervention.</a:t>
            </a:r>
          </a:p>
          <a:p>
            <a:endParaRPr lang="en-PH" dirty="0"/>
          </a:p>
        </p:txBody>
      </p:sp>
      <p:pic>
        <p:nvPicPr>
          <p:cNvPr id="4" name="Picture 4">
            <a:extLst>
              <a:ext uri="{FF2B5EF4-FFF2-40B4-BE49-F238E27FC236}">
                <a16:creationId xmlns:a16="http://schemas.microsoft.com/office/drawing/2014/main" id="{7B23C1E1-A0D3-5D8B-86EA-A2E1212BC3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168" y="4601470"/>
            <a:ext cx="8128000" cy="2256530"/>
          </a:xfrm>
          <a:prstGeom prst="rect">
            <a:avLst/>
          </a:prstGeom>
        </p:spPr>
      </p:pic>
    </p:spTree>
    <p:extLst>
      <p:ext uri="{BB962C8B-B14F-4D97-AF65-F5344CB8AC3E}">
        <p14:creationId xmlns:p14="http://schemas.microsoft.com/office/powerpoint/2010/main" val="4261388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CBCDBFF-3A7D-74CA-E01B-C5C497D3B86A}"/>
              </a:ext>
            </a:extLst>
          </p:cNvPr>
          <p:cNvSpPr>
            <a:spLocks noGrp="1"/>
          </p:cNvSpPr>
          <p:nvPr>
            <p:ph type="title"/>
          </p:nvPr>
        </p:nvSpPr>
        <p:spPr/>
        <p:txBody>
          <a:bodyPr/>
          <a:lstStyle/>
          <a:p>
            <a:r>
              <a:rPr lang="af-ZA" b="0" i="0" dirty="0">
                <a:solidFill>
                  <a:srgbClr val="FFFFFF"/>
                </a:solidFill>
                <a:effectLst/>
                <a:latin typeface="Helvetica"/>
              </a:rPr>
              <a:t>venous Thromboembolism (VTE) Prophylaxis</a:t>
            </a:r>
            <a:endParaRPr lang="ar-AE" dirty="0"/>
          </a:p>
        </p:txBody>
      </p:sp>
      <p:sp>
        <p:nvSpPr>
          <p:cNvPr id="3" name="مربع نص 2">
            <a:extLst>
              <a:ext uri="{FF2B5EF4-FFF2-40B4-BE49-F238E27FC236}">
                <a16:creationId xmlns:a16="http://schemas.microsoft.com/office/drawing/2014/main" id="{53CFC487-90A6-300C-6246-87C9B0D7FFBF}"/>
              </a:ext>
            </a:extLst>
          </p:cNvPr>
          <p:cNvSpPr txBox="1"/>
          <p:nvPr/>
        </p:nvSpPr>
        <p:spPr>
          <a:xfrm>
            <a:off x="523988" y="2851195"/>
            <a:ext cx="9946852" cy="3970318"/>
          </a:xfrm>
          <a:prstGeom prst="rect">
            <a:avLst/>
          </a:prstGeom>
          <a:noFill/>
        </p:spPr>
        <p:txBody>
          <a:bodyPr wrap="square" rtlCol="1">
            <a:spAutoFit/>
          </a:bodyPr>
          <a:lstStyle/>
          <a:p>
            <a:r>
              <a:rPr lang="af-ZA" b="0" i="0" dirty="0">
                <a:solidFill>
                  <a:schemeClr val="bg2">
                    <a:lumMod val="10000"/>
                  </a:schemeClr>
                </a:solidFill>
                <a:effectLst/>
                <a:latin typeface="Helvetica" panose="020B0604020202020204"/>
              </a:rPr>
              <a:t>Venous thromboembolism (VTE) is the collective term for deep vein thrombosis (DVT) and pulmonary embolism (PE).</a:t>
            </a:r>
          </a:p>
          <a:p>
            <a:r>
              <a:rPr lang="af-ZA" b="0" i="0" dirty="0">
                <a:solidFill>
                  <a:schemeClr val="bg2">
                    <a:lumMod val="10000"/>
                  </a:schemeClr>
                </a:solidFill>
                <a:effectLst/>
                <a:latin typeface="Helvetica" panose="020B0604020202020204"/>
              </a:rPr>
              <a:t>TE is a serious and common complication for those in hospital or undergoing surgery. The incidence of VTE can be reduced or prevented by identifying clients at risk and providing appropriate, evidence-informed thromboprophylaxis The widespread human and financial impact of thromboembolism is weil-documented. VTE is associated with increased client mortality; it is the most common preventable cause of hospital death. Appropriate evidence-informed thromboprophylaxis reduces cost and median length of stay.</a:t>
            </a:r>
          </a:p>
          <a:p>
            <a:r>
              <a:rPr lang="af-ZA" b="0" i="0" dirty="0">
                <a:solidFill>
                  <a:schemeClr val="bg2">
                    <a:lumMod val="10000"/>
                  </a:schemeClr>
                </a:solidFill>
                <a:effectLst/>
                <a:latin typeface="Helvetica" panose="020B0604020202020204"/>
              </a:rPr>
              <a:t>There are many evidence-based clinical practice guidelines that recommend thromboprophylaxis for large groups of clients or for specific subgroups that are very useful and </a:t>
            </a:r>
            <a:r>
              <a:rPr lang="af-ZA" b="0" i="0" dirty="0">
                <a:solidFill>
                  <a:schemeClr val="tx1">
                    <a:lumMod val="90000"/>
                    <a:lumOff val="10000"/>
                  </a:schemeClr>
                </a:solidFill>
                <a:effectLst/>
                <a:latin typeface="Helvetica" panose="020B0604020202020204"/>
              </a:rPr>
              <a:t>generally reflect the accepted standard of practice.</a:t>
            </a:r>
            <a:endParaRPr lang="en-US" b="0" i="0" dirty="0">
              <a:solidFill>
                <a:schemeClr val="tx1">
                  <a:lumMod val="90000"/>
                  <a:lumOff val="10000"/>
                </a:schemeClr>
              </a:solidFill>
              <a:effectLst/>
              <a:latin typeface="Helvetica" panose="020B0604020202020204"/>
            </a:endParaRPr>
          </a:p>
          <a:p>
            <a:endParaRPr lang="en-US" dirty="0">
              <a:solidFill>
                <a:schemeClr val="tx1">
                  <a:lumMod val="90000"/>
                  <a:lumOff val="10000"/>
                </a:schemeClr>
              </a:solidFill>
              <a:latin typeface="Helvetica" panose="020B0604020202020204"/>
            </a:endParaRPr>
          </a:p>
          <a:p>
            <a:r>
              <a:rPr lang="af-ZA" b="0" i="0" dirty="0">
                <a:solidFill>
                  <a:schemeClr val="tx1">
                    <a:lumMod val="90000"/>
                    <a:lumOff val="10000"/>
                  </a:schemeClr>
                </a:solidFill>
                <a:effectLst/>
                <a:latin typeface="Helvetica" panose="020B0604020202020204"/>
              </a:rPr>
              <a:t>Medical and surgical clients at risk of venous thromboembolism (deep vein thrombosis and pulmonary embolism) are identified and provided with appropriate thromboprophylaxis.</a:t>
            </a:r>
          </a:p>
        </p:txBody>
      </p:sp>
    </p:spTree>
    <p:extLst>
      <p:ext uri="{BB962C8B-B14F-4D97-AF65-F5344CB8AC3E}">
        <p14:creationId xmlns:p14="http://schemas.microsoft.com/office/powerpoint/2010/main" val="2295129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C498FEE-1573-2ACF-619F-CE2A400A3E07}"/>
              </a:ext>
            </a:extLst>
          </p:cNvPr>
          <p:cNvSpPr>
            <a:spLocks noGrp="1"/>
          </p:cNvSpPr>
          <p:nvPr>
            <p:ph type="title"/>
          </p:nvPr>
        </p:nvSpPr>
        <p:spPr/>
        <p:txBody>
          <a:bodyPr/>
          <a:lstStyle/>
          <a:p>
            <a:r>
              <a:rPr lang="af-ZA" b="0" i="0" dirty="0">
                <a:solidFill>
                  <a:srgbClr val="FFFFFF"/>
                </a:solidFill>
                <a:effectLst/>
                <a:latin typeface="Helvetica" panose="020B0604020202020204"/>
              </a:rPr>
              <a:t>Skin and Wound Care</a:t>
            </a:r>
            <a:endParaRPr lang="ar-AE" dirty="0"/>
          </a:p>
        </p:txBody>
      </p:sp>
      <p:sp>
        <p:nvSpPr>
          <p:cNvPr id="3" name="مربع نص 2">
            <a:extLst>
              <a:ext uri="{FF2B5EF4-FFF2-40B4-BE49-F238E27FC236}">
                <a16:creationId xmlns:a16="http://schemas.microsoft.com/office/drawing/2014/main" id="{386C1EB6-6F59-4921-EDEF-1C4A05109063}"/>
              </a:ext>
            </a:extLst>
          </p:cNvPr>
          <p:cNvSpPr txBox="1"/>
          <p:nvPr/>
        </p:nvSpPr>
        <p:spPr>
          <a:xfrm>
            <a:off x="0" y="2668199"/>
            <a:ext cx="12113846" cy="3139321"/>
          </a:xfrm>
          <a:prstGeom prst="rect">
            <a:avLst/>
          </a:prstGeom>
          <a:noFill/>
        </p:spPr>
        <p:txBody>
          <a:bodyPr wrap="square" rtlCol="1">
            <a:spAutoFit/>
          </a:bodyPr>
          <a:lstStyle/>
          <a:p>
            <a:r>
              <a:rPr lang="af-ZA" b="0" i="0" dirty="0">
                <a:solidFill>
                  <a:schemeClr val="tx1">
                    <a:lumMod val="90000"/>
                    <a:lumOff val="10000"/>
                  </a:schemeClr>
                </a:solidFill>
                <a:effectLst/>
                <a:latin typeface="Helvetica"/>
              </a:rPr>
              <a:t>An interprofessional and collaborative approach is used to assess clients who need skin and wound care and provide evidence-informed care that promotes healing and reduces morbidity and mortality.</a:t>
            </a:r>
            <a:endParaRPr lang="en-US" b="0" i="0" dirty="0">
              <a:solidFill>
                <a:schemeClr val="tx1">
                  <a:lumMod val="90000"/>
                  <a:lumOff val="10000"/>
                </a:schemeClr>
              </a:solidFill>
              <a:effectLst/>
              <a:latin typeface="Helvetica"/>
            </a:endParaRPr>
          </a:p>
          <a:p>
            <a:endParaRPr lang="en-US" dirty="0">
              <a:solidFill>
                <a:schemeClr val="tx1">
                  <a:lumMod val="90000"/>
                  <a:lumOff val="10000"/>
                </a:schemeClr>
              </a:solidFill>
              <a:latin typeface="Helvetica"/>
            </a:endParaRPr>
          </a:p>
          <a:p>
            <a:r>
              <a:rPr lang="af-ZA" b="0" i="0" dirty="0">
                <a:solidFill>
                  <a:schemeClr val="tx1">
                    <a:lumMod val="90000"/>
                    <a:lumOff val="10000"/>
                  </a:schemeClr>
                </a:solidFill>
                <a:effectLst/>
                <a:latin typeface="Helvetica" panose="020B0604020202020204"/>
              </a:rPr>
              <a:t>Wound healing is a complex process that depends on the client (e.g., co-morbidities, age, nutritional status, etc.), the type of skin and wound, the client's environment (e.g., cleanliness, social support, mobility aids, etc.), and what type of care is provided. Many wounds can be prevented through proper skin care and preventive measures</a:t>
            </a:r>
          </a:p>
          <a:p>
            <a:r>
              <a:rPr lang="af-ZA" b="0" i="0" dirty="0">
                <a:solidFill>
                  <a:schemeClr val="tx1">
                    <a:lumMod val="90000"/>
                    <a:lumOff val="10000"/>
                  </a:schemeClr>
                </a:solidFill>
                <a:effectLst/>
                <a:latin typeface="Helvetica" panose="020B0604020202020204"/>
              </a:rPr>
              <a:t>Once they have occurred, most wounds can be healed through proper assessment, accurate diagnosis, appropriate treatment, and proper self-care. Appropriate care can reduce client suffering (e.g., intractable pain, infection, amputation, hospital admission, reduced quality of life) and save lives. Clients who need skin and wound care are a high-volume service (more than one-third of all home care clients need wound care) and wounds are costly to health care systems. </a:t>
            </a:r>
            <a:endParaRPr lang="ar-AE" dirty="0">
              <a:solidFill>
                <a:schemeClr val="tx1">
                  <a:lumMod val="90000"/>
                  <a:lumOff val="10000"/>
                </a:schemeClr>
              </a:solidFill>
            </a:endParaRPr>
          </a:p>
        </p:txBody>
      </p:sp>
    </p:spTree>
    <p:extLst>
      <p:ext uri="{BB962C8B-B14F-4D97-AF65-F5344CB8AC3E}">
        <p14:creationId xmlns:p14="http://schemas.microsoft.com/office/powerpoint/2010/main" val="3872602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9871B80-8631-577F-E2A9-D797F7D4598F}"/>
              </a:ext>
            </a:extLst>
          </p:cNvPr>
          <p:cNvSpPr>
            <a:spLocks noGrp="1"/>
          </p:cNvSpPr>
          <p:nvPr>
            <p:ph type="title"/>
          </p:nvPr>
        </p:nvSpPr>
        <p:spPr/>
        <p:txBody>
          <a:bodyPr/>
          <a:lstStyle/>
          <a:p>
            <a:r>
              <a:rPr lang="en-US" dirty="0"/>
              <a:t>Risk assessment in royal portal</a:t>
            </a:r>
            <a:endParaRPr lang="ar-AE" dirty="0"/>
          </a:p>
        </p:txBody>
      </p:sp>
      <p:pic>
        <p:nvPicPr>
          <p:cNvPr id="4" name="صورة 4">
            <a:extLst>
              <a:ext uri="{FF2B5EF4-FFF2-40B4-BE49-F238E27FC236}">
                <a16:creationId xmlns:a16="http://schemas.microsoft.com/office/drawing/2014/main" id="{235D7D06-18B0-A65E-D084-C6E346529F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954" y="2275934"/>
            <a:ext cx="4064000" cy="4582066"/>
          </a:xfrm>
          <a:prstGeom prst="rect">
            <a:avLst/>
          </a:prstGeom>
        </p:spPr>
      </p:pic>
      <p:pic>
        <p:nvPicPr>
          <p:cNvPr id="5" name="صورة 5">
            <a:extLst>
              <a:ext uri="{FF2B5EF4-FFF2-40B4-BE49-F238E27FC236}">
                <a16:creationId xmlns:a16="http://schemas.microsoft.com/office/drawing/2014/main" id="{BFE97057-38FD-45AF-B75C-746734917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2976" y="2275934"/>
            <a:ext cx="4064000" cy="4509241"/>
          </a:xfrm>
          <a:prstGeom prst="rect">
            <a:avLst/>
          </a:prstGeom>
        </p:spPr>
      </p:pic>
    </p:spTree>
    <p:extLst>
      <p:ext uri="{BB962C8B-B14F-4D97-AF65-F5344CB8AC3E}">
        <p14:creationId xmlns:p14="http://schemas.microsoft.com/office/powerpoint/2010/main" val="1837044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3D35B41-724E-2453-1590-4076627AAC0F}"/>
              </a:ext>
            </a:extLst>
          </p:cNvPr>
          <p:cNvSpPr>
            <a:spLocks noGrp="1"/>
          </p:cNvSpPr>
          <p:nvPr>
            <p:ph type="title"/>
          </p:nvPr>
        </p:nvSpPr>
        <p:spPr/>
        <p:txBody>
          <a:bodyPr/>
          <a:lstStyle/>
          <a:p>
            <a:r>
              <a:rPr lang="en-US" dirty="0"/>
              <a:t>Risk assessment in royal portal </a:t>
            </a:r>
            <a:endParaRPr lang="ar-AE" dirty="0"/>
          </a:p>
        </p:txBody>
      </p:sp>
      <p:pic>
        <p:nvPicPr>
          <p:cNvPr id="4" name="صورة 4">
            <a:extLst>
              <a:ext uri="{FF2B5EF4-FFF2-40B4-BE49-F238E27FC236}">
                <a16:creationId xmlns:a16="http://schemas.microsoft.com/office/drawing/2014/main" id="{746914E7-9B9D-2083-45AB-F3F3DD380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837" y="2415665"/>
            <a:ext cx="5365970" cy="4005384"/>
          </a:xfrm>
          <a:prstGeom prst="rect">
            <a:avLst/>
          </a:prstGeom>
        </p:spPr>
      </p:pic>
      <p:pic>
        <p:nvPicPr>
          <p:cNvPr id="8" name="صورة 8">
            <a:extLst>
              <a:ext uri="{FF2B5EF4-FFF2-40B4-BE49-F238E27FC236}">
                <a16:creationId xmlns:a16="http://schemas.microsoft.com/office/drawing/2014/main" id="{87998C10-2738-0701-9E97-9982DBF5F2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8463" y="2321805"/>
            <a:ext cx="4644824" cy="4099244"/>
          </a:xfrm>
          <a:prstGeom prst="rect">
            <a:avLst/>
          </a:prstGeom>
        </p:spPr>
      </p:pic>
    </p:spTree>
    <p:extLst>
      <p:ext uri="{BB962C8B-B14F-4D97-AF65-F5344CB8AC3E}">
        <p14:creationId xmlns:p14="http://schemas.microsoft.com/office/powerpoint/2010/main" val="1718874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CB7FBD-0FC9-D9D3-29B1-9047865DE561}"/>
              </a:ext>
            </a:extLst>
          </p:cNvPr>
          <p:cNvSpPr>
            <a:spLocks noGrp="1"/>
          </p:cNvSpPr>
          <p:nvPr>
            <p:ph type="title"/>
          </p:nvPr>
        </p:nvSpPr>
        <p:spPr>
          <a:xfrm>
            <a:off x="3739359" y="3996502"/>
            <a:ext cx="6349591" cy="1074616"/>
          </a:xfrm>
        </p:spPr>
        <p:txBody>
          <a:bodyPr/>
          <a:lstStyle/>
          <a:p>
            <a:endParaRPr lang="ar-AE" sz="1400" dirty="0">
              <a:solidFill>
                <a:schemeClr val="tx1"/>
              </a:solidFill>
            </a:endParaRPr>
          </a:p>
        </p:txBody>
      </p:sp>
      <p:pic>
        <p:nvPicPr>
          <p:cNvPr id="5" name="Picture 5">
            <a:extLst>
              <a:ext uri="{FF2B5EF4-FFF2-40B4-BE49-F238E27FC236}">
                <a16:creationId xmlns:a16="http://schemas.microsoft.com/office/drawing/2014/main" id="{AD62F0A3-0F19-04A8-62FE-884981BF6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3769" y="3099061"/>
            <a:ext cx="6740769" cy="2869497"/>
          </a:xfrm>
          <a:prstGeom prst="rect">
            <a:avLst/>
          </a:prstGeom>
        </p:spPr>
      </p:pic>
    </p:spTree>
    <p:extLst>
      <p:ext uri="{BB962C8B-B14F-4D97-AF65-F5344CB8AC3E}">
        <p14:creationId xmlns:p14="http://schemas.microsoft.com/office/powerpoint/2010/main" val="16491283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