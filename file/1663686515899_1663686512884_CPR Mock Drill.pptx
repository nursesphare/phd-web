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323F6-7674-49A1-9064-9610D33CFF0A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E3CF2B3-12AA-456E-88A2-8442CC1941A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6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 /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7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4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406" y="1714349"/>
            <a:ext cx="10005392" cy="2552851"/>
          </a:xfrm>
        </p:spPr>
        <p:txBody>
          <a:bodyPr>
            <a:noAutofit/>
          </a:bodyPr>
          <a:lstStyle/>
          <a:p>
            <a:pPr algn="ctr"/>
            <a:r>
              <a:rPr lang="en-IN" sz="4800" dirty="0">
                <a:solidFill>
                  <a:schemeClr val="tx1"/>
                </a:solidFill>
                <a:latin typeface="Poor Richard" panose="02080502050505020702" pitchFamily="18" charset="0"/>
                <a:cs typeface="Arial" panose="020B0604020202020204" pitchFamily="34" charset="0"/>
              </a:rPr>
              <a:t>CARDIO-PULMONARY</a:t>
            </a:r>
            <a:r>
              <a:rPr lang="en-IN" sz="4000" dirty="0">
                <a:solidFill>
                  <a:schemeClr val="tx1"/>
                </a:solidFill>
                <a:latin typeface="Poor Richard" panose="02080502050505020702" pitchFamily="18" charset="0"/>
                <a:cs typeface="Arial" panose="020B0604020202020204" pitchFamily="34" charset="0"/>
              </a:rPr>
              <a:t> RESUSCITATION</a:t>
            </a:r>
          </a:p>
          <a:p>
            <a:pPr algn="ctr"/>
            <a:r>
              <a:rPr lang="en-IN" sz="4000" dirty="0">
                <a:solidFill>
                  <a:schemeClr val="tx1"/>
                </a:solidFill>
                <a:latin typeface="Poor Richard" panose="02080502050505020702" pitchFamily="18" charset="0"/>
                <a:cs typeface="Arial" panose="020B0604020202020204" pitchFamily="34" charset="0"/>
              </a:rPr>
              <a:t>ROLE  AND  MANAGEMENT</a:t>
            </a:r>
          </a:p>
          <a:p>
            <a:pPr algn="ctr"/>
            <a:r>
              <a:rPr lang="en-IN" sz="4000" dirty="0">
                <a:solidFill>
                  <a:schemeClr val="tx1"/>
                </a:solidFill>
                <a:latin typeface="Monotype Corsiva" panose="03010101010201010101" pitchFamily="66" charset="0"/>
                <a:cs typeface="Arial" panose="020B0604020202020204" pitchFamily="34" charset="0"/>
              </a:rPr>
              <a:t>Presented by s/n Jayanthy and s/n Tindu</a:t>
            </a:r>
          </a:p>
          <a:p>
            <a:pPr algn="ctr"/>
            <a:r>
              <a:rPr lang="en-IN" sz="4000" dirty="0">
                <a:solidFill>
                  <a:schemeClr val="tx1"/>
                </a:solidFill>
                <a:latin typeface="Monotype Corsiva" panose="03010101010201010101" pitchFamily="66" charset="0"/>
                <a:cs typeface="Arial" panose="020B0604020202020204" pitchFamily="34" charset="0"/>
              </a:rPr>
              <a:t>PHDU</a:t>
            </a:r>
          </a:p>
          <a:p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52400"/>
            <a:ext cx="8596668" cy="789709"/>
          </a:xfrm>
        </p:spPr>
        <p:txBody>
          <a:bodyPr>
            <a:noAutofit/>
          </a:bodyPr>
          <a:lstStyle/>
          <a:p>
            <a:pPr algn="ctr"/>
            <a:r>
              <a:rPr lang="en-IN" sz="6000" dirty="0">
                <a:solidFill>
                  <a:schemeClr val="tx1"/>
                </a:solidFill>
                <a:latin typeface="Calisto MT" panose="02040603050505030304" pitchFamily="18" charset="0"/>
              </a:rPr>
              <a:t>DEFINITION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673" y="1260044"/>
            <a:ext cx="10002981" cy="448959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  <a:latin typeface="Calisto MT" panose="02040603050505030304" pitchFamily="18" charset="0"/>
              </a:rPr>
              <a:t>CARDIOPULMONARY RESUSCITATION (CPR) IS A PROCEDURE TO SUPPORT AND MAINTAIN BREATHING AND CIRCULAITON FOR AN INFANT , CHILD OR ADOLESCENT WHO HAS RESPIRATORY ARREST OR CARDIAC ARREST</a:t>
            </a:r>
          </a:p>
          <a:p>
            <a:pPr marL="0" indent="0">
              <a:buNone/>
            </a:pPr>
            <a:r>
              <a:rPr lang="en-IN" sz="4400" dirty="0">
                <a:solidFill>
                  <a:schemeClr val="tx1"/>
                </a:solidFill>
                <a:latin typeface="Calisto MT" panose="02040603050505030304" pitchFamily="18" charset="0"/>
              </a:rPr>
              <a:t>   PURPOSE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 </a:t>
            </a:r>
            <a:r>
              <a:rPr lang="en-IN" sz="2400" dirty="0">
                <a:solidFill>
                  <a:schemeClr val="tx1"/>
                </a:solidFill>
                <a:latin typeface="Calisto MT" panose="02040603050505030304" pitchFamily="18" charset="0"/>
              </a:rPr>
              <a:t>CPR IS PERFORMED TO RESTORE AND MAINTAIN BREATHING AND CIRCULATION  TO PROVIDE OXYGEN AND BLOOD FLOW TO THE HEART ,BRAIN AND OTHER VITAL ORGAN S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400" dirty="0"/>
          </a:p>
          <a:p>
            <a:pPr>
              <a:buFont typeface="Wingdings" panose="05000000000000000000" pitchFamily="2" charset="2"/>
              <a:buChar char="§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710300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5774"/>
            <a:ext cx="8596668" cy="809183"/>
          </a:xfrm>
        </p:spPr>
        <p:txBody>
          <a:bodyPr>
            <a:noAutofit/>
          </a:bodyPr>
          <a:lstStyle/>
          <a:p>
            <a:pPr algn="ctr"/>
            <a:r>
              <a:rPr lang="en-IN" altLang="en-US" sz="7200" dirty="0">
                <a:latin typeface="Bell MT" panose="02020503060305020303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18783"/>
            <a:ext cx="9301553" cy="4935855"/>
          </a:xfrm>
        </p:spPr>
        <p:txBody>
          <a:bodyPr>
            <a:noAutofit/>
          </a:bodyPr>
          <a:lstStyle/>
          <a:p>
            <a:pPr>
              <a:buClrTx/>
              <a:buFont typeface="Wingdings" panose="05000000000000000000" pitchFamily="2" charset="2"/>
              <a:buChar char="§"/>
            </a:pPr>
            <a:r>
              <a:rPr lang="en-IN" altLang="en-US" sz="3200" dirty="0">
                <a:solidFill>
                  <a:schemeClr val="tx1"/>
                </a:solidFill>
                <a:latin typeface="Bell MT" panose="02020503060305020303" pitchFamily="18" charset="0"/>
              </a:rPr>
              <a:t>Nurses play  a vital role in managing paediatric emergencies  hence ,it is important that nurses are well equipped with all the essential knowledge and skills of managing paediatric emergencies .</a:t>
            </a:r>
          </a:p>
          <a:p>
            <a:pPr>
              <a:buClrTx/>
              <a:buFont typeface="Wingdings" panose="05000000000000000000" pitchFamily="2" charset="2"/>
              <a:buChar char="§"/>
            </a:pPr>
            <a:r>
              <a:rPr lang="en-IN" altLang="en-US" sz="3200" dirty="0">
                <a:solidFill>
                  <a:schemeClr val="tx1"/>
                </a:solidFill>
                <a:latin typeface="Bell MT" panose="02020503060305020303" pitchFamily="18" charset="0"/>
              </a:rPr>
              <a:t>The aim to empower paediatric nurses with knowledge and skills of managing CPR</a:t>
            </a:r>
          </a:p>
          <a:p>
            <a:pPr>
              <a:buClrTx/>
              <a:buFont typeface="Wingdings" panose="05000000000000000000" pitchFamily="2" charset="2"/>
              <a:buChar char="§"/>
            </a:pPr>
            <a:r>
              <a:rPr lang="en-IN" altLang="en-US" sz="3200" dirty="0">
                <a:solidFill>
                  <a:schemeClr val="tx1"/>
                </a:solidFill>
                <a:latin typeface="Bell MT" panose="02020503060305020303" pitchFamily="18" charset="0"/>
              </a:rPr>
              <a:t>It includes how to assess sick child ,Role of  nurses in CPR, CPR algorithm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836" y="900546"/>
            <a:ext cx="10557164" cy="3463636"/>
          </a:xfrm>
        </p:spPr>
        <p:txBody>
          <a:bodyPr>
            <a:noAutofit/>
          </a:bodyPr>
          <a:lstStyle/>
          <a:p>
            <a:pPr algn="ctr"/>
            <a:r>
              <a:rPr lang="en-IN" sz="6600" b="1" dirty="0">
                <a:solidFill>
                  <a:schemeClr val="tx1"/>
                </a:solidFill>
                <a:latin typeface="Calisto MT" panose="02040603050505030304" pitchFamily="18" charset="0"/>
              </a:rPr>
              <a:t>THE ROLE OF NURSES IN CARDIOPULMONARY RESUSCITATION (CPR) </a:t>
            </a:r>
          </a:p>
        </p:txBody>
      </p:sp>
    </p:spTree>
    <p:extLst>
      <p:ext uri="{BB962C8B-B14F-4D97-AF65-F5344CB8AC3E}">
        <p14:creationId xmlns:p14="http://schemas.microsoft.com/office/powerpoint/2010/main" val="41453357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095502"/>
              </p:ext>
            </p:extLst>
          </p:nvPr>
        </p:nvGraphicFramePr>
        <p:xfrm>
          <a:off x="1" y="-45399"/>
          <a:ext cx="12191999" cy="7162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8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7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4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487">
                <a:tc>
                  <a:txBody>
                    <a:bodyPr/>
                    <a:lstStyle/>
                    <a:p>
                      <a:r>
                        <a:rPr lang="en-IN" dirty="0"/>
                        <a:t>Situation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Expected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48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1st nurse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51">
                <a:tc>
                  <a:txBody>
                    <a:bodyPr/>
                    <a:lstStyle/>
                    <a:p>
                      <a:r>
                        <a:rPr lang="en-IN" dirty="0"/>
                        <a:t>Recognise</a:t>
                      </a:r>
                    </a:p>
                    <a:p>
                      <a:r>
                        <a:rPr lang="en-IN" dirty="0"/>
                        <a:t>patient in</a:t>
                      </a:r>
                    </a:p>
                    <a:p>
                      <a:r>
                        <a:rPr lang="en-IN" dirty="0"/>
                        <a:t>cardiac arrest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Asses patient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responsiveness by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tapping his /her</a:t>
                      </a:r>
                    </a:p>
                    <a:p>
                      <a:r>
                        <a:rPr lang="en-US" dirty="0"/>
                        <a:t>shoulders asking</a:t>
                      </a:r>
                    </a:p>
                    <a:p>
                      <a:r>
                        <a:rPr lang="en-US" dirty="0"/>
                        <a:t>“are you ok?”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442">
                <a:tc>
                  <a:txBody>
                    <a:bodyPr/>
                    <a:lstStyle/>
                    <a:p>
                      <a:r>
                        <a:rPr lang="en-IN" dirty="0"/>
                        <a:t>Call for help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Pull the emergency bell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487">
                <a:tc>
                  <a:txBody>
                    <a:bodyPr/>
                    <a:lstStyle/>
                    <a:p>
                      <a:r>
                        <a:rPr lang="en-IN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Note the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02">
                <a:tc>
                  <a:txBody>
                    <a:bodyPr/>
                    <a:lstStyle/>
                    <a:p>
                      <a:r>
                        <a:rPr lang="en-IN" dirty="0"/>
                        <a:t>Positioning the</a:t>
                      </a:r>
                    </a:p>
                    <a:p>
                      <a:r>
                        <a:rPr lang="en-IN" dirty="0"/>
                        <a:t>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 the bed flat</a:t>
                      </a:r>
                      <a:r>
                        <a:rPr lang="en-US" baseline="0" dirty="0"/>
                        <a:t> , </a:t>
                      </a:r>
                      <a:r>
                        <a:rPr lang="en-US" dirty="0"/>
                        <a:t>Remove the pillow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8651">
                <a:tc>
                  <a:txBody>
                    <a:bodyPr/>
                    <a:lstStyle/>
                    <a:p>
                      <a:r>
                        <a:rPr lang="en-IN" dirty="0"/>
                        <a:t>Assessment of</a:t>
                      </a:r>
                      <a:r>
                        <a:rPr lang="en-IN" baseline="0" dirty="0"/>
                        <a:t> </a:t>
                      </a:r>
                      <a:r>
                        <a:rPr lang="en-IN" dirty="0"/>
                        <a:t>pulse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Checking pulse for not more than 10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seconds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77947">
                <a:tc>
                  <a:txBody>
                    <a:bodyPr/>
                    <a:lstStyle/>
                    <a:p>
                      <a:r>
                        <a:rPr lang="en-US" dirty="0"/>
                        <a:t>If alone one</a:t>
                      </a:r>
                    </a:p>
                    <a:p>
                      <a:r>
                        <a:rPr lang="en-US" dirty="0" err="1"/>
                        <a:t>rescure</a:t>
                      </a:r>
                      <a:r>
                        <a:rPr lang="en-US" dirty="0"/>
                        <a:t> CPR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 high quality chest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compression</a:t>
                      </a:r>
                    </a:p>
                    <a:p>
                      <a:r>
                        <a:rPr lang="en-US" dirty="0"/>
                        <a:t>-correct hand position</a:t>
                      </a:r>
                    </a:p>
                    <a:p>
                      <a:r>
                        <a:rPr lang="en-US" dirty="0"/>
                        <a:t>-rate at least 100/</a:t>
                      </a:r>
                      <a:r>
                        <a:rPr lang="en-US" dirty="0" err="1"/>
                        <a:t>mt</a:t>
                      </a:r>
                      <a:endParaRPr lang="en-US" dirty="0"/>
                    </a:p>
                    <a:p>
                      <a:r>
                        <a:rPr lang="en-US" dirty="0"/>
                        <a:t>Adequate depth 5cm</a:t>
                      </a:r>
                    </a:p>
                    <a:p>
                      <a:r>
                        <a:rPr lang="en-US" dirty="0"/>
                        <a:t>Allow chest recoil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77947"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  <a:r>
                        <a:rPr lang="en-US" baseline="0" dirty="0"/>
                        <a:t> N</a:t>
                      </a:r>
                      <a:r>
                        <a:rPr lang="en-US" dirty="0"/>
                        <a:t>urse arrived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two rescuer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CPR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Handle airway , connect self inflating bag</a:t>
                      </a:r>
                      <a:r>
                        <a:rPr lang="en-US" sz="1800" b="1" baseline="0" dirty="0"/>
                        <a:t> </a:t>
                      </a:r>
                      <a:r>
                        <a:rPr lang="en-US" sz="1800" b="1" dirty="0"/>
                        <a:t>to</a:t>
                      </a:r>
                      <a:r>
                        <a:rPr lang="en-US" sz="1800" b="1" baseline="0" dirty="0"/>
                        <a:t> </a:t>
                      </a:r>
                      <a:r>
                        <a:rPr lang="en-US" sz="1800" b="1" dirty="0"/>
                        <a:t>100% oxygen,15L/mt. Open</a:t>
                      </a:r>
                      <a:r>
                        <a:rPr lang="en-US" sz="1800" b="1" baseline="0" dirty="0"/>
                        <a:t> air way head, head tilt, chin lift</a:t>
                      </a:r>
                      <a:endParaRPr lang="en-US" sz="1800" b="1" dirty="0"/>
                    </a:p>
                    <a:p>
                      <a:r>
                        <a:rPr lang="en-US" sz="1800" b="1" dirty="0"/>
                        <a:t>-position self inflating bag correctly</a:t>
                      </a:r>
                    </a:p>
                    <a:p>
                      <a:r>
                        <a:rPr lang="en-US" sz="1800" b="1" dirty="0"/>
                        <a:t>-correct hand</a:t>
                      </a:r>
                      <a:r>
                        <a:rPr lang="en-US" sz="1800" b="1" baseline="0" dirty="0"/>
                        <a:t> ,</a:t>
                      </a:r>
                      <a:r>
                        <a:rPr lang="en-US" sz="1800" b="1" dirty="0"/>
                        <a:t>arms and shoulders</a:t>
                      </a:r>
                      <a:r>
                        <a:rPr lang="en-US" sz="1800" b="1" baseline="0" dirty="0"/>
                        <a:t> </a:t>
                      </a:r>
                      <a:r>
                        <a:rPr lang="en-US" sz="1800" b="1" dirty="0"/>
                        <a:t>positioning</a:t>
                      </a:r>
                    </a:p>
                    <a:p>
                      <a:r>
                        <a:rPr lang="en-US" sz="1800" b="1" dirty="0"/>
                        <a:t>-start  ventilation , make sure of chest</a:t>
                      </a:r>
                      <a:r>
                        <a:rPr lang="en-US" sz="1800" b="1" baseline="0" dirty="0"/>
                        <a:t> </a:t>
                      </a:r>
                      <a:r>
                        <a:rPr lang="en-US" sz="1800" b="1" dirty="0"/>
                        <a:t>rise.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204871"/>
              </p:ext>
            </p:extLst>
          </p:nvPr>
        </p:nvGraphicFramePr>
        <p:xfrm>
          <a:off x="0" y="0"/>
          <a:ext cx="12192001" cy="6885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8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1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60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20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solidFill>
                            <a:schemeClr val="tx1"/>
                          </a:solidFill>
                        </a:rPr>
                        <a:t>Second Nurse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74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Confirming</a:t>
                      </a:r>
                      <a:r>
                        <a:rPr lang="en-IN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the cardiac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arrest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Confirm the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cardiac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arrest by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asking 1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st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nurse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6035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Calling the</a:t>
                      </a:r>
                      <a:r>
                        <a:rPr lang="en-IN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Dialing 9555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-answering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Upon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operators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respose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–announcing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“CARDIAC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ARREST” and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location of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arrest 3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times slowly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and clearly.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27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Crash 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Take crash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cart to side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of the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patient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927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Head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Remove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head board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of the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patient bed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27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Cardiac</a:t>
                      </a:r>
                      <a:r>
                        <a:rPr lang="en-IN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The cardiac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board in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position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Length wise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76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Start 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16035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2nd Rescuer</a:t>
                      </a:r>
                      <a:r>
                        <a:rPr lang="en-IN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CPR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Take over chest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compression and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provide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 quality 2</a:t>
                      </a:r>
                    </a:p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rescure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cpr until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team arrive.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0506" y="130933"/>
            <a:ext cx="103708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AFTER ARRIVAL OF CARDIAC TEAM</a:t>
            </a:r>
          </a:p>
          <a:p>
            <a:pPr algn="ctr"/>
            <a:r>
              <a:rPr lang="en-US" sz="2000" b="1" dirty="0">
                <a:latin typeface="+mj-lt"/>
              </a:rPr>
              <a:t>FIRST NURSE</a:t>
            </a:r>
            <a:endParaRPr lang="en-IN" sz="2000" b="1" dirty="0">
              <a:latin typeface="+mj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1" y="913626"/>
          <a:ext cx="11748051" cy="5566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9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1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609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2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Connect self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inflating bag to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oxygen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Assists in airway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management: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-fix laryngoscope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blade correctly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-handle ET tube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with 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</a:rPr>
                        <a:t>jel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</a:rPr>
                        <a:t>stillet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to 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</a:rPr>
                        <a:t>anesthetist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-inflate the ETT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cuff with 5 ml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syringe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-tie the ET tube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with 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</a:rPr>
                        <a:t>elastoplaster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with correct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technique , mention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the level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also(fix in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14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Suction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610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Administrator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medication(note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time , dose and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route of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medications/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jouls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17" y="2865120"/>
            <a:ext cx="7575264" cy="3940645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ENTOTRACHEAL INTUBATION EQUIPMENTS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7618" y="2160589"/>
            <a:ext cx="7575264" cy="4697411"/>
          </a:xfrm>
        </p:spPr>
        <p:txBody>
          <a:bodyPr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945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25" y="171450"/>
            <a:ext cx="8839253" cy="65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59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62" y="0"/>
            <a:ext cx="10058400" cy="664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79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796163"/>
              </p:ext>
            </p:extLst>
          </p:nvPr>
        </p:nvGraphicFramePr>
        <p:xfrm>
          <a:off x="155864" y="153705"/>
          <a:ext cx="11601450" cy="6524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7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6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803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SECOND NURSE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977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Electrodes are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fixed maximum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possible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higher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leaving space for shock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paddles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41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Fix the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Cables correctly ,Right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side, yellow left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side ,green left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lateral side of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chest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22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Switching on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monitor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Keep the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monitor on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leads mode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03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Start iv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326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Assist in</a:t>
                      </a:r>
                    </a:p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investigation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641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Prepare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medication as per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doctor order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934" y="335297"/>
            <a:ext cx="10059939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400" b="1" dirty="0">
                <a:solidFill>
                  <a:schemeClr val="tx1"/>
                </a:solidFill>
                <a:latin typeface="Calisto MT" panose="02040603050505030304" pitchFamily="18" charset="0"/>
              </a:rPr>
              <a:t>INTUBATION</a:t>
            </a:r>
            <a:r>
              <a:rPr lang="en-IN" sz="5400" b="1" dirty="0">
                <a:solidFill>
                  <a:schemeClr val="tx1"/>
                </a:solidFill>
              </a:rPr>
              <a:t> </a:t>
            </a:r>
            <a:r>
              <a:rPr lang="en-IN" sz="5400" b="1" dirty="0">
                <a:solidFill>
                  <a:schemeClr val="tx1"/>
                </a:solidFill>
                <a:latin typeface="Calisto MT" panose="02040603050505030304" pitchFamily="18" charset="0"/>
              </a:rPr>
              <a:t>MEDICATIONS</a:t>
            </a:r>
            <a:r>
              <a:rPr lang="en-IN" sz="5400" b="1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17"/>
          <a:stretch/>
        </p:blipFill>
        <p:spPr>
          <a:xfrm>
            <a:off x="988142" y="1216922"/>
            <a:ext cx="9778181" cy="552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305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78299" y="142159"/>
            <a:ext cx="8677655" cy="848139"/>
          </a:xfrm>
        </p:spPr>
        <p:txBody>
          <a:bodyPr/>
          <a:lstStyle/>
          <a:p>
            <a:pPr algn="ctr"/>
            <a:r>
              <a:rPr lang="en-IN" b="1" dirty="0"/>
              <a:t>INFUSION MEDICAITONS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9"/>
          <a:stretch/>
        </p:blipFill>
        <p:spPr>
          <a:xfrm>
            <a:off x="471949" y="781622"/>
            <a:ext cx="10825315" cy="590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970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695"/>
          <a:stretch>
            <a:fillRect/>
          </a:stretch>
        </p:blipFill>
        <p:spPr>
          <a:xfrm>
            <a:off x="775855" y="118697"/>
            <a:ext cx="11019183" cy="67393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27992" y="1511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400" dirty="0">
                <a:latin typeface="+mn-lt"/>
              </a:rPr>
              <a:t>ALGORITHAM FOR PEAEDATRIC CPR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443" y="1084918"/>
            <a:ext cx="10515600" cy="810144"/>
          </a:xfrm>
        </p:spPr>
        <p:txBody>
          <a:bodyPr>
            <a:normAutofit fontScale="92500" lnSpcReduction="20000"/>
          </a:bodyPr>
          <a:lstStyle/>
          <a:p>
            <a:r>
              <a:rPr lang="en-IN" sz="2400" dirty="0">
                <a:solidFill>
                  <a:schemeClr val="tx1"/>
                </a:solidFill>
              </a:rPr>
              <a:t>UNRESPONSIVE CHILD :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Assess the breathing and pulse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946284"/>
              </p:ext>
            </p:extLst>
          </p:nvPr>
        </p:nvGraphicFramePr>
        <p:xfrm>
          <a:off x="633894" y="2186467"/>
          <a:ext cx="9201428" cy="3821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0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58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Breathing absent</a:t>
                      </a:r>
                      <a:r>
                        <a:rPr lang="en-IN" baseline="0" dirty="0">
                          <a:solidFill>
                            <a:schemeClr val="tx1"/>
                          </a:solidFill>
                        </a:rPr>
                        <a:t> , 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Pulse absent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Breathing absent , Pulse present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start CPR ,reassess after 2 mins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rescue breath(20 -30 breath/minute)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2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to be  done with the help of  AED (automated external Defibrillator) two pads to connect to The chest and look for the rhythm NON SHOCKABLE RHYTHUM AND SHOCKABLE RYTHUM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recheck pulse every 2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mts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0533">
                <a:tc>
                  <a:txBody>
                    <a:bodyPr/>
                    <a:lstStyle/>
                    <a:p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If no pulse /pulse less than 0 to 60/min with poor perfusion</a:t>
                      </a:r>
                      <a:r>
                        <a:rPr lang="en-IN" baseline="0" dirty="0">
                          <a:solidFill>
                            <a:schemeClr val="tx1"/>
                          </a:solidFill>
                        </a:rPr>
                        <a:t> ; 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start CPR if only one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Resecure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30:2 , if two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Rescure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15:2.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creenshot_20220915_071640 (1)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879" y="290945"/>
            <a:ext cx="10817860" cy="624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2765"/>
            <a:ext cx="9886122" cy="1320800"/>
          </a:xfrm>
        </p:spPr>
        <p:txBody>
          <a:bodyPr>
            <a:noAutofit/>
          </a:bodyPr>
          <a:lstStyle/>
          <a:p>
            <a:pPr algn="ctr"/>
            <a:r>
              <a:rPr lang="en-IN" sz="5400" dirty="0">
                <a:solidFill>
                  <a:schemeClr val="tx1"/>
                </a:solidFill>
                <a:latin typeface="Bell MT" panose="02020503060305020303" pitchFamily="18" charset="0"/>
              </a:rPr>
              <a:t>Shockable and Non Shockable Rhythm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"/>
          <a:stretch>
            <a:fillRect/>
          </a:stretch>
        </p:blipFill>
        <p:spPr>
          <a:xfrm>
            <a:off x="708991" y="1825640"/>
            <a:ext cx="9607826" cy="4868723"/>
          </a:xfr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477" y="278789"/>
            <a:ext cx="11031794" cy="20003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tx1"/>
                </a:solidFill>
                <a:latin typeface="Bell MT" panose="02020503060305020303" pitchFamily="18" charset="0"/>
              </a:rPr>
              <a:t>Early use of adrenaline for non shockable rhythm, if use adrenaline with in 5 minutes after starts CPR get good outcome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FF0000"/>
                </a:solidFill>
                <a:latin typeface="Bell MT" panose="02020503060305020303" pitchFamily="18" charset="0"/>
              </a:rPr>
              <a:t>Strength of adrenaline 1:10000                Strength of adrenaline 1:1000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FF0000"/>
                </a:solidFill>
                <a:latin typeface="Bell MT" panose="02020503060305020303" pitchFamily="18" charset="0"/>
              </a:rPr>
              <a:t>0.01 mg/kg  or 0.1ml/kg                            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13" y="2809883"/>
            <a:ext cx="3320190" cy="21739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810" y="2387320"/>
            <a:ext cx="4042166" cy="24922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6413" y="5092053"/>
            <a:ext cx="103187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sto MT" panose="02040603050505030304" pitchFamily="18" charset="0"/>
              </a:rPr>
              <a:t>If there is no iv/</a:t>
            </a:r>
            <a:r>
              <a:rPr lang="en-US" sz="3200" dirty="0" err="1">
                <a:latin typeface="Calisto MT" panose="02040603050505030304" pitchFamily="18" charset="0"/>
              </a:rPr>
              <a:t>io</a:t>
            </a:r>
            <a:r>
              <a:rPr lang="en-US" sz="3200" dirty="0">
                <a:latin typeface="Calisto MT" panose="02040603050505030304" pitchFamily="18" charset="0"/>
              </a:rPr>
              <a:t> access ,may give endotracheal dose :0.1 mg/kg (0.1 ml/kg of the 1 mg/ml concentration</a:t>
            </a:r>
            <a:endParaRPr lang="en-US" sz="3200" kern="12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>
                <a:latin typeface="Bell MT" panose="02020503060305020303" pitchFamily="18" charset="0"/>
              </a:rPr>
              <a:t>SHOCKABLE RHYTHM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4800" dirty="0">
                <a:solidFill>
                  <a:schemeClr val="tx1"/>
                </a:solidFill>
                <a:latin typeface="Bell MT" panose="02020503060305020303" pitchFamily="18" charset="0"/>
              </a:rPr>
              <a:t>ventricular fibrillation  ventricular tachycardia </a:t>
            </a:r>
          </a:p>
          <a:p>
            <a:r>
              <a:rPr lang="en-IN" sz="4800" dirty="0">
                <a:solidFill>
                  <a:srgbClr val="FF0000"/>
                </a:solidFill>
                <a:latin typeface="Bell MT" panose="02020503060305020303" pitchFamily="18" charset="0"/>
              </a:rPr>
              <a:t>2 J/kg , total dose not exceed 10J/kg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246613" cy="93137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300" dirty="0">
                <a:solidFill>
                  <a:schemeClr val="tx1"/>
                </a:solidFill>
                <a:latin typeface="Monotype Corsiva" panose="03010101010201010101" pitchFamily="66" charset="0"/>
              </a:rPr>
              <a:t>Reversible causes And Management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  <a:latin typeface="Monotype Corsiva" panose="03010101010201010101" pitchFamily="66" charset="0"/>
              </a:rPr>
            </a:br>
            <a:endParaRPr lang="en-IN" dirty="0">
              <a:latin typeface="Monotype Corsiva" panose="03010101010201010101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14" y="1173293"/>
            <a:ext cx="10515600" cy="97153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11200" dirty="0">
                <a:solidFill>
                  <a:schemeClr val="tx1"/>
                </a:solidFill>
              </a:rPr>
              <a:t>If detected and corrected very good outcome</a:t>
            </a:r>
          </a:p>
          <a:p>
            <a:pPr marL="0" indent="0">
              <a:buNone/>
            </a:pPr>
            <a:r>
              <a:rPr lang="en-IN" sz="11200" dirty="0">
                <a:solidFill>
                  <a:schemeClr val="tx1"/>
                </a:solidFill>
              </a:rPr>
              <a:t>So it is very important in CPR management</a:t>
            </a:r>
          </a:p>
          <a:p>
            <a:pPr marL="0" indent="0">
              <a:buNone/>
            </a:pPr>
            <a:r>
              <a:rPr lang="en-IN" sz="3200" b="1" dirty="0">
                <a:solidFill>
                  <a:srgbClr val="FF0000"/>
                </a:solidFill>
              </a:rPr>
              <a:t>                         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081796"/>
              </p:ext>
            </p:extLst>
          </p:nvPr>
        </p:nvGraphicFramePr>
        <p:xfrm>
          <a:off x="788168" y="2540856"/>
          <a:ext cx="8811224" cy="3326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5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5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541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+mn-lt"/>
                        </a:rPr>
                        <a:t> 4 H </a:t>
                      </a:r>
                      <a:endParaRPr lang="en-IN" sz="2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+mn-lt"/>
                        </a:rPr>
                        <a:t>4 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5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Hypovolemia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Tension Pneumothorax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83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Hypoxia</a:t>
                      </a:r>
                    </a:p>
                    <a:p>
                      <a:pPr marL="0" indent="0">
                        <a:buNone/>
                      </a:pP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Toxins /drugs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5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Hypothermia       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Thromboembolism(</a:t>
                      </a:r>
                      <a:r>
                        <a:rPr lang="en-IN" sz="18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pul</a:t>
                      </a: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8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Hyperkalemia</a:t>
                      </a: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                                   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Tamponade( cardiac)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20"/>
            <a:ext cx="12146718" cy="6542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Screenshot_20220915_10553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610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9844" y="795130"/>
            <a:ext cx="108535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latin typeface="Monotype Corsiva" panose="03010101010201010101" pitchFamily="66" charset="0"/>
              </a:rPr>
              <a:t>Now Lets watch a short video on Infant CPR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0330" y="1842053"/>
            <a:ext cx="984516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900" dirty="0">
                <a:latin typeface="Monotype Corsiva" panose="03010101010201010101" pitchFamily="66" charset="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