
<file path=[Content_Types].xml><?xml version="1.0" encoding="utf-8"?>
<Types xmlns="http://schemas.openxmlformats.org/package/2006/content-types">
  <Default ContentType="application/xml" Extension="xml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16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FFEB9BD-1D0B-4E62-9EDF-0C3CE4DD2D53}" type="datetimeFigureOut">
              <a:rPr lang="en-US" smtClean="0"/>
              <a:pPr/>
              <a:t>2/9/2021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AE6E88-F8D3-45F8-B6FE-B2C29955150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-87808"/>
            <a:ext cx="8351936" cy="5028976"/>
          </a:xfrm>
          <a:noFill/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PH" sz="7200" dirty="0" smtClean="0">
                <a:solidFill>
                  <a:schemeClr val="bg1"/>
                </a:solidFill>
                <a:latin typeface="Arial Rounded MT Bold" pitchFamily="34" charset="0"/>
              </a:rPr>
              <a:t>Management of Asthma and </a:t>
            </a:r>
            <a:r>
              <a:rPr lang="en-PH" sz="7200" dirty="0" err="1" smtClean="0">
                <a:solidFill>
                  <a:schemeClr val="bg1"/>
                </a:solidFill>
                <a:latin typeface="Arial Rounded MT Bold" pitchFamily="34" charset="0"/>
              </a:rPr>
              <a:t>Bronchiolitis</a:t>
            </a:r>
            <a:endParaRPr lang="en-US" sz="72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PH" sz="6600" dirty="0" smtClean="0">
                <a:solidFill>
                  <a:schemeClr val="bg1"/>
                </a:solidFill>
              </a:rPr>
              <a:t>Asthma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00808"/>
            <a:ext cx="8229600" cy="4709160"/>
          </a:xfrm>
        </p:spPr>
        <p:txBody>
          <a:bodyPr>
            <a:normAutofit/>
          </a:bodyPr>
          <a:lstStyle/>
          <a:p>
            <a:r>
              <a:rPr lang="en-PH" sz="4000" dirty="0" smtClean="0">
                <a:solidFill>
                  <a:schemeClr val="bg1"/>
                </a:solidFill>
              </a:rPr>
              <a:t> </a:t>
            </a:r>
            <a:r>
              <a:rPr lang="en-PH" sz="4400" dirty="0" smtClean="0">
                <a:solidFill>
                  <a:schemeClr val="bg1"/>
                </a:solidFill>
              </a:rPr>
              <a:t>Is an inflammatory condition that leads to tightening of the muscles around the airways and swelling that cause airways to narrow and produce extra mucus.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chemeClr val="bg1"/>
                </a:solidFill>
              </a:rPr>
              <a:t>3 types of Asthma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8192"/>
            <a:ext cx="8229600" cy="4709160"/>
          </a:xfrm>
        </p:spPr>
        <p:txBody>
          <a:bodyPr>
            <a:normAutofit/>
          </a:bodyPr>
          <a:lstStyle/>
          <a:p>
            <a:r>
              <a:rPr lang="en-PH" sz="3800" b="1" dirty="0" smtClean="0">
                <a:solidFill>
                  <a:schemeClr val="bg1"/>
                </a:solidFill>
              </a:rPr>
              <a:t>Nocturnal asthma</a:t>
            </a:r>
          </a:p>
          <a:p>
            <a:endParaRPr lang="en-PH" sz="3800" b="1" dirty="0" smtClean="0">
              <a:solidFill>
                <a:schemeClr val="bg1"/>
              </a:solidFill>
            </a:endParaRPr>
          </a:p>
          <a:p>
            <a:r>
              <a:rPr lang="en-PH" sz="3800" b="1" dirty="0" smtClean="0">
                <a:solidFill>
                  <a:schemeClr val="bg1"/>
                </a:solidFill>
              </a:rPr>
              <a:t>Exercise induced asthma/ exercise induced </a:t>
            </a:r>
            <a:r>
              <a:rPr lang="en-PH" sz="3800" b="1" dirty="0" err="1" smtClean="0">
                <a:solidFill>
                  <a:schemeClr val="bg1"/>
                </a:solidFill>
              </a:rPr>
              <a:t>bronchoconstriction</a:t>
            </a:r>
            <a:endParaRPr lang="en-PH" sz="3800" b="1" dirty="0" smtClean="0">
              <a:solidFill>
                <a:schemeClr val="bg1"/>
              </a:solidFill>
            </a:endParaRPr>
          </a:p>
          <a:p>
            <a:endParaRPr lang="en-PH" sz="3800" b="1" dirty="0" smtClean="0">
              <a:solidFill>
                <a:schemeClr val="bg1"/>
              </a:solidFill>
            </a:endParaRPr>
          </a:p>
          <a:p>
            <a:r>
              <a:rPr lang="en-PH" sz="3800" b="1" dirty="0" smtClean="0">
                <a:solidFill>
                  <a:schemeClr val="bg1"/>
                </a:solidFill>
              </a:rPr>
              <a:t>Allergic asthma / seasonal asthma</a:t>
            </a:r>
            <a:endParaRPr lang="en-US" sz="3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chemeClr val="bg1"/>
                </a:solidFill>
              </a:rPr>
              <a:t>What triggers asthma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96752"/>
            <a:ext cx="8229600" cy="4709160"/>
          </a:xfrm>
        </p:spPr>
        <p:txBody>
          <a:bodyPr>
            <a:normAutofit lnSpcReduction="10000"/>
          </a:bodyPr>
          <a:lstStyle/>
          <a:p>
            <a:r>
              <a:rPr lang="en-PH" b="1" dirty="0" smtClean="0">
                <a:solidFill>
                  <a:schemeClr val="bg1"/>
                </a:solidFill>
              </a:rPr>
              <a:t>Sinus infections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Allergies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Pollen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Breathing in some chemicals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Acid reflux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Physical exercise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Bad weather</a:t>
            </a:r>
            <a:r>
              <a:rPr lang="en-US" b="1" dirty="0" smtClean="0">
                <a:solidFill>
                  <a:schemeClr val="bg1"/>
                </a:solidFill>
              </a:rPr>
              <a:t> ( thunderstorms/ high humidity breathing in cold or dry air)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Breathing in fragrances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Some food or food additives (</a:t>
            </a:r>
            <a:r>
              <a:rPr lang="en-PH" b="1" dirty="0" err="1" smtClean="0">
                <a:solidFill>
                  <a:schemeClr val="bg1"/>
                </a:solidFill>
              </a:rPr>
              <a:t>sulfites</a:t>
            </a:r>
            <a:r>
              <a:rPr lang="en-PH" b="1" dirty="0" smtClean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4800" dirty="0" smtClean="0">
                <a:solidFill>
                  <a:schemeClr val="bg1"/>
                </a:solidFill>
              </a:rPr>
              <a:t>Signs and symptoms: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4" name="Content Placeholder 3" descr="ASTHMA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1628800"/>
            <a:ext cx="7416824" cy="453650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dirty="0" smtClean="0">
                <a:solidFill>
                  <a:schemeClr val="bg1"/>
                </a:solidFill>
              </a:rPr>
              <a:t>HOW IS ASTHMA  DIAGNOSED</a:t>
            </a:r>
            <a:r>
              <a:rPr lang="en-PH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4824536"/>
          </a:xfrm>
        </p:spPr>
        <p:txBody>
          <a:bodyPr>
            <a:normAutofit lnSpcReduction="10000"/>
          </a:bodyPr>
          <a:lstStyle/>
          <a:p>
            <a:r>
              <a:rPr lang="en-PH" dirty="0" smtClean="0"/>
              <a:t>PHYSICAL EXAM-based on signs and symptoms and health problems (3main symptoms; </a:t>
            </a:r>
            <a:r>
              <a:rPr lang="en-PH" dirty="0" err="1" smtClean="0"/>
              <a:t>cough,wheeze,sob</a:t>
            </a:r>
            <a:r>
              <a:rPr lang="en-PH" dirty="0" smtClean="0"/>
              <a:t>)</a:t>
            </a:r>
          </a:p>
          <a:p>
            <a:r>
              <a:rPr lang="en-PH" dirty="0" smtClean="0"/>
              <a:t>Pulmonary(lung function test)-bronchodilator is given before these tests;</a:t>
            </a:r>
          </a:p>
          <a:p>
            <a:pPr>
              <a:buNone/>
            </a:pPr>
            <a:r>
              <a:rPr lang="en-PH" b="1" dirty="0" smtClean="0">
                <a:solidFill>
                  <a:schemeClr val="bg1"/>
                </a:solidFill>
              </a:rPr>
              <a:t>SPIROMETRY</a:t>
            </a:r>
            <a:r>
              <a:rPr lang="en-PH" dirty="0" smtClean="0"/>
              <a:t>-measure the amount/speed of air that can be inhaled and exhaled(determines the narrowing of bronchial tubes)</a:t>
            </a:r>
          </a:p>
          <a:p>
            <a:pPr>
              <a:buNone/>
            </a:pPr>
            <a:r>
              <a:rPr lang="en-PH" sz="2400" b="1" dirty="0" smtClean="0">
                <a:solidFill>
                  <a:schemeClr val="bg1"/>
                </a:solidFill>
              </a:rPr>
              <a:t>PEAK FLOW METERS</a:t>
            </a:r>
            <a:r>
              <a:rPr lang="en-PH" dirty="0" smtClean="0"/>
              <a:t>-used to measure the peak expiratory flow rate w/c is important in both monitoring and diagnosing asthma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904696"/>
          </a:xfrm>
        </p:spPr>
        <p:txBody>
          <a:bodyPr>
            <a:normAutofit lnSpcReduction="10000"/>
          </a:bodyPr>
          <a:lstStyle/>
          <a:p>
            <a:r>
              <a:rPr lang="en-PH" dirty="0" smtClean="0"/>
              <a:t>IMAGING TEST- CT SCAN , CHEST XRAY to identify the structural abnormalities or disease</a:t>
            </a:r>
          </a:p>
          <a:p>
            <a:r>
              <a:rPr lang="en-PH" dirty="0" smtClean="0"/>
              <a:t>METHACHOLINE CHALLENGE TEST-</a:t>
            </a:r>
            <a:r>
              <a:rPr lang="en-PH" dirty="0" err="1" smtClean="0"/>
              <a:t>methacholine</a:t>
            </a:r>
            <a:r>
              <a:rPr lang="en-PH" dirty="0" smtClean="0"/>
              <a:t> is known as asthma </a:t>
            </a:r>
            <a:r>
              <a:rPr lang="en-PH" dirty="0" err="1" smtClean="0"/>
              <a:t>trigger,if</a:t>
            </a:r>
            <a:r>
              <a:rPr lang="en-PH" dirty="0" smtClean="0"/>
              <a:t> you reacts to </a:t>
            </a:r>
            <a:r>
              <a:rPr lang="en-PH" dirty="0" err="1" smtClean="0"/>
              <a:t>methacholine</a:t>
            </a:r>
            <a:r>
              <a:rPr lang="en-PH" dirty="0" smtClean="0"/>
              <a:t> you are most likely have asthma.</a:t>
            </a:r>
          </a:p>
          <a:p>
            <a:r>
              <a:rPr lang="en-PH" dirty="0" smtClean="0"/>
              <a:t>SPUTUM EOSINOPHILS-  presence of </a:t>
            </a:r>
            <a:r>
              <a:rPr lang="en-PH" dirty="0" err="1" smtClean="0"/>
              <a:t>eosinophils</a:t>
            </a:r>
            <a:r>
              <a:rPr lang="en-PH" dirty="0" smtClean="0"/>
              <a:t> in saliva/ sputum you discharge during coughing</a:t>
            </a:r>
          </a:p>
          <a:p>
            <a:r>
              <a:rPr lang="en-PH" dirty="0" smtClean="0"/>
              <a:t>NITRIC OXIDE TEST-also known as the fractional exhaled nitric oxide used to measure the amount of gas(nitric oxide) in an exhaled sample of your breath</a:t>
            </a:r>
          </a:p>
          <a:p>
            <a:r>
              <a:rPr lang="en-PH" dirty="0" smtClean="0"/>
              <a:t>ALLERGY TESTING- skin or blood test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570186"/>
          </a:xfrm>
        </p:spPr>
        <p:txBody>
          <a:bodyPr>
            <a:noAutofit/>
          </a:bodyPr>
          <a:lstStyle/>
          <a:p>
            <a:r>
              <a:rPr lang="en-PH" sz="4800" dirty="0" smtClean="0">
                <a:solidFill>
                  <a:schemeClr val="bg1"/>
                </a:solidFill>
              </a:rPr>
              <a:t>Two main medications used to treat asthma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561662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PH" sz="4400" dirty="0" smtClean="0">
              <a:solidFill>
                <a:schemeClr val="bg1"/>
              </a:solidFill>
            </a:endParaRPr>
          </a:p>
          <a:p>
            <a:r>
              <a:rPr lang="en-PH" sz="4400" dirty="0" smtClean="0"/>
              <a:t>Long term control medications-</a:t>
            </a:r>
            <a:r>
              <a:rPr lang="en-PH" sz="4400" dirty="0" smtClean="0">
                <a:solidFill>
                  <a:schemeClr val="bg1"/>
                </a:solidFill>
              </a:rPr>
              <a:t>(</a:t>
            </a:r>
            <a:r>
              <a:rPr lang="en-PH" sz="3200" dirty="0" smtClean="0">
                <a:solidFill>
                  <a:schemeClr val="bg1"/>
                </a:solidFill>
              </a:rPr>
              <a:t>inhaled</a:t>
            </a:r>
            <a:r>
              <a:rPr lang="en-PH" sz="4400" dirty="0" smtClean="0">
                <a:solidFill>
                  <a:schemeClr val="bg1"/>
                </a:solidFill>
              </a:rPr>
              <a:t> </a:t>
            </a:r>
            <a:r>
              <a:rPr lang="en-PH" sz="3200" dirty="0" err="1" smtClean="0">
                <a:solidFill>
                  <a:schemeClr val="bg1"/>
                </a:solidFill>
              </a:rPr>
              <a:t>corticosteroids,leukotriene</a:t>
            </a:r>
            <a:r>
              <a:rPr lang="en-PH" sz="3200" dirty="0" smtClean="0">
                <a:solidFill>
                  <a:schemeClr val="bg1"/>
                </a:solidFill>
              </a:rPr>
              <a:t> receptor </a:t>
            </a:r>
            <a:r>
              <a:rPr lang="en-PH" sz="3200" dirty="0" err="1" smtClean="0">
                <a:solidFill>
                  <a:schemeClr val="bg1"/>
                </a:solidFill>
              </a:rPr>
              <a:t>antagonists,long</a:t>
            </a:r>
            <a:r>
              <a:rPr lang="en-PH" sz="3200" dirty="0" smtClean="0">
                <a:solidFill>
                  <a:schemeClr val="bg1"/>
                </a:solidFill>
              </a:rPr>
              <a:t> acting beta </a:t>
            </a:r>
            <a:r>
              <a:rPr lang="en-PH" sz="3200" dirty="0" err="1" smtClean="0">
                <a:solidFill>
                  <a:schemeClr val="bg1"/>
                </a:solidFill>
              </a:rPr>
              <a:t>agonist,theophylline</a:t>
            </a:r>
            <a:r>
              <a:rPr lang="en-PH" sz="3200" dirty="0" smtClean="0">
                <a:solidFill>
                  <a:schemeClr val="bg1"/>
                </a:solidFill>
              </a:rPr>
              <a:t>)</a:t>
            </a:r>
            <a:endParaRPr lang="en-PH" sz="4400" dirty="0" smtClean="0">
              <a:solidFill>
                <a:schemeClr val="bg1"/>
              </a:solidFill>
            </a:endParaRPr>
          </a:p>
          <a:p>
            <a:r>
              <a:rPr lang="en-PH" sz="4400" dirty="0" smtClean="0"/>
              <a:t>Quick relief medications</a:t>
            </a:r>
            <a:r>
              <a:rPr lang="en-PH" sz="4400" dirty="0" smtClean="0">
                <a:solidFill>
                  <a:schemeClr val="bg1"/>
                </a:solidFill>
              </a:rPr>
              <a:t>-</a:t>
            </a:r>
            <a:r>
              <a:rPr lang="en-PH" sz="3200" dirty="0" smtClean="0">
                <a:solidFill>
                  <a:schemeClr val="bg1"/>
                </a:solidFill>
              </a:rPr>
              <a:t>oral and iv </a:t>
            </a:r>
            <a:r>
              <a:rPr lang="en-PH" sz="3200" dirty="0" err="1" smtClean="0">
                <a:solidFill>
                  <a:schemeClr val="bg1"/>
                </a:solidFill>
              </a:rPr>
              <a:t>corticosteroids,atrovent,short</a:t>
            </a:r>
            <a:r>
              <a:rPr lang="en-PH" sz="3200" dirty="0" smtClean="0">
                <a:solidFill>
                  <a:schemeClr val="bg1"/>
                </a:solidFill>
              </a:rPr>
              <a:t> acting beta agonist.</a:t>
            </a:r>
          </a:p>
          <a:p>
            <a:r>
              <a:rPr lang="en-PH" sz="2000" dirty="0" smtClean="0">
                <a:solidFill>
                  <a:schemeClr val="bg1"/>
                </a:solidFill>
              </a:rPr>
              <a:t>FOR PATIENTS WITH AN ACUTE ASTHMA EXACERBATION THAT HAS NOT RESPONDED TO FIRST LINE  THERAPY (BRONCHODILATORS AND CORTICOSTEROIDS) CAN BE TREATED EFFECTIVELY WITH </a:t>
            </a:r>
            <a:r>
              <a:rPr lang="en-PH" sz="2200" b="1" dirty="0" smtClean="0"/>
              <a:t>IV MAGNESIUM SULPHATE.</a:t>
            </a:r>
          </a:p>
          <a:p>
            <a:endParaRPr lang="en-PH" sz="2000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en-US" sz="4400" dirty="0" smtClean="0">
              <a:solidFill>
                <a:schemeClr val="bg1"/>
              </a:solidFill>
            </a:endParaRPr>
          </a:p>
          <a:p>
            <a:endParaRPr lang="en-PH" sz="44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>
                <a:solidFill>
                  <a:schemeClr val="tx1"/>
                </a:solidFill>
              </a:rPr>
              <a:t>BRONCHIAL THERMOPLASTY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Content Placeholder 3" descr="BRONCHIAL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49467" y="1556792"/>
            <a:ext cx="5845066" cy="475193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PH" sz="4800" dirty="0" smtClean="0">
                <a:solidFill>
                  <a:schemeClr val="bg1"/>
                </a:solidFill>
              </a:rPr>
              <a:t>How to prevent / minimize asthma attacks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32208"/>
            <a:ext cx="8229600" cy="4709160"/>
          </a:xfrm>
        </p:spPr>
        <p:txBody>
          <a:bodyPr/>
          <a:lstStyle/>
          <a:p>
            <a:r>
              <a:rPr lang="en-PH" dirty="0" smtClean="0">
                <a:solidFill>
                  <a:schemeClr val="bg1"/>
                </a:solidFill>
              </a:rPr>
              <a:t>Follow your asthma action plan</a:t>
            </a:r>
          </a:p>
          <a:p>
            <a:r>
              <a:rPr lang="en-PH" dirty="0" smtClean="0">
                <a:solidFill>
                  <a:schemeClr val="bg1"/>
                </a:solidFill>
              </a:rPr>
              <a:t>Get vaccinated for influenza and pneumonia</a:t>
            </a:r>
          </a:p>
          <a:p>
            <a:r>
              <a:rPr lang="en-PH" dirty="0" smtClean="0">
                <a:solidFill>
                  <a:schemeClr val="bg1"/>
                </a:solidFill>
              </a:rPr>
              <a:t>Identify and avoid asthma triggers</a:t>
            </a:r>
          </a:p>
          <a:p>
            <a:r>
              <a:rPr lang="en-PH" dirty="0" smtClean="0">
                <a:solidFill>
                  <a:schemeClr val="bg1"/>
                </a:solidFill>
              </a:rPr>
              <a:t>Monitor your breathing</a:t>
            </a:r>
          </a:p>
          <a:p>
            <a:r>
              <a:rPr lang="en-PH" dirty="0" smtClean="0">
                <a:solidFill>
                  <a:schemeClr val="bg1"/>
                </a:solidFill>
              </a:rPr>
              <a:t>Identify and treat attacks early</a:t>
            </a:r>
          </a:p>
          <a:p>
            <a:r>
              <a:rPr lang="en-PH" dirty="0" smtClean="0">
                <a:solidFill>
                  <a:schemeClr val="bg1"/>
                </a:solidFill>
              </a:rPr>
              <a:t>Take your medication as prescribed</a:t>
            </a:r>
          </a:p>
          <a:p>
            <a:r>
              <a:rPr lang="en-PH" dirty="0" smtClean="0">
                <a:solidFill>
                  <a:schemeClr val="bg1"/>
                </a:solidFill>
              </a:rPr>
              <a:t>Pay attention to increasing quick relief inhaler use.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PH" sz="6600" dirty="0" err="1" smtClean="0">
                <a:solidFill>
                  <a:schemeClr val="bg1"/>
                </a:solidFill>
              </a:rPr>
              <a:t>Bronchiolotis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PH" sz="4000" dirty="0" smtClean="0">
                <a:solidFill>
                  <a:schemeClr val="bg1"/>
                </a:solidFill>
              </a:rPr>
              <a:t>Is a common lung infection in young children and infants. It causes inflammation and congestion in the small airways (bronchioles) of the lung. It is almost always caused by a virus and its peak time is during winter months.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/>
              <a:t>CAUSES: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PH" dirty="0" smtClean="0"/>
          </a:p>
          <a:p>
            <a:r>
              <a:rPr lang="en-PH" sz="4000" b="1" dirty="0" smtClean="0">
                <a:solidFill>
                  <a:schemeClr val="bg1"/>
                </a:solidFill>
              </a:rPr>
              <a:t>ADENOVIRUS</a:t>
            </a:r>
          </a:p>
          <a:p>
            <a:r>
              <a:rPr lang="en-PH" sz="4000" b="1" dirty="0" smtClean="0">
                <a:solidFill>
                  <a:schemeClr val="bg1"/>
                </a:solidFill>
              </a:rPr>
              <a:t>RHINOVIRUS</a:t>
            </a:r>
          </a:p>
          <a:p>
            <a:r>
              <a:rPr lang="en-PH" sz="4000" b="1" dirty="0" smtClean="0">
                <a:solidFill>
                  <a:schemeClr val="bg1"/>
                </a:solidFill>
              </a:rPr>
              <a:t>PARAINFLUENZA VIRUS</a:t>
            </a:r>
          </a:p>
          <a:p>
            <a:r>
              <a:rPr lang="en-PH" sz="4000" b="1" dirty="0" smtClean="0">
                <a:solidFill>
                  <a:schemeClr val="bg1"/>
                </a:solidFill>
              </a:rPr>
              <a:t>RESPIRATORY SYNCYTIAL VIRUS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Autofit/>
          </a:bodyPr>
          <a:lstStyle/>
          <a:p>
            <a:r>
              <a:rPr lang="en-PH" sz="3200" dirty="0" smtClean="0">
                <a:solidFill>
                  <a:schemeClr val="bg1"/>
                </a:solidFill>
              </a:rPr>
              <a:t>RSV(RESPIRATORY SYNCYTIAL VIRUS- the common causative virus in </a:t>
            </a:r>
            <a:r>
              <a:rPr lang="en-PH" sz="3200" dirty="0" err="1" smtClean="0">
                <a:solidFill>
                  <a:schemeClr val="bg1"/>
                </a:solidFill>
              </a:rPr>
              <a:t>bronchiolitis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RSV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932856"/>
            <a:ext cx="7632848" cy="45924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5400" dirty="0" smtClean="0">
                <a:solidFill>
                  <a:schemeClr val="bg1"/>
                </a:solidFill>
              </a:rPr>
              <a:t>Signs and Symptoms 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PH" sz="4400" dirty="0" smtClean="0">
                <a:solidFill>
                  <a:schemeClr val="bg1"/>
                </a:solidFill>
              </a:rPr>
              <a:t>Runny nose</a:t>
            </a:r>
          </a:p>
          <a:p>
            <a:r>
              <a:rPr lang="en-PH" sz="4400" dirty="0" smtClean="0">
                <a:solidFill>
                  <a:schemeClr val="bg1"/>
                </a:solidFill>
              </a:rPr>
              <a:t>Stuffy nose</a:t>
            </a:r>
          </a:p>
          <a:p>
            <a:r>
              <a:rPr lang="en-PH" sz="4400" dirty="0" smtClean="0">
                <a:solidFill>
                  <a:schemeClr val="bg1"/>
                </a:solidFill>
              </a:rPr>
              <a:t>Cough</a:t>
            </a:r>
          </a:p>
          <a:p>
            <a:r>
              <a:rPr lang="en-PH" sz="4400" dirty="0" smtClean="0">
                <a:solidFill>
                  <a:schemeClr val="bg1"/>
                </a:solidFill>
              </a:rPr>
              <a:t>Slight fever</a:t>
            </a:r>
          </a:p>
          <a:p>
            <a:r>
              <a:rPr lang="en-PH" sz="4400" dirty="0" smtClean="0">
                <a:solidFill>
                  <a:schemeClr val="bg1"/>
                </a:solidFill>
              </a:rPr>
              <a:t>Ear infection</a:t>
            </a:r>
          </a:p>
          <a:p>
            <a:r>
              <a:rPr lang="en-PH" sz="4400" dirty="0" smtClean="0">
                <a:solidFill>
                  <a:schemeClr val="bg1"/>
                </a:solidFill>
              </a:rPr>
              <a:t>Wheezing</a:t>
            </a:r>
          </a:p>
          <a:p>
            <a:endParaRPr lang="en-US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6000" dirty="0" smtClean="0">
                <a:solidFill>
                  <a:schemeClr val="bg1"/>
                </a:solidFill>
              </a:rPr>
              <a:t>Risk Factors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sz="3200" dirty="0" smtClean="0">
                <a:solidFill>
                  <a:schemeClr val="bg1"/>
                </a:solidFill>
              </a:rPr>
              <a:t>Age under 2 years</a:t>
            </a:r>
          </a:p>
          <a:p>
            <a:r>
              <a:rPr lang="en-PH" sz="3200" dirty="0" smtClean="0">
                <a:solidFill>
                  <a:schemeClr val="bg1"/>
                </a:solidFill>
              </a:rPr>
              <a:t>Premature birth</a:t>
            </a:r>
          </a:p>
          <a:p>
            <a:r>
              <a:rPr lang="en-PH" sz="3200" dirty="0" smtClean="0">
                <a:solidFill>
                  <a:schemeClr val="bg1"/>
                </a:solidFill>
              </a:rPr>
              <a:t>Underlying heart or lung condition</a:t>
            </a:r>
          </a:p>
          <a:p>
            <a:r>
              <a:rPr lang="en-PH" sz="3200" dirty="0" smtClean="0">
                <a:solidFill>
                  <a:schemeClr val="bg1"/>
                </a:solidFill>
              </a:rPr>
              <a:t>Depressed immune system</a:t>
            </a:r>
          </a:p>
          <a:p>
            <a:r>
              <a:rPr lang="en-PH" sz="3200" dirty="0" smtClean="0">
                <a:solidFill>
                  <a:schemeClr val="bg1"/>
                </a:solidFill>
              </a:rPr>
              <a:t>Exposure to tobacco smoke </a:t>
            </a:r>
          </a:p>
          <a:p>
            <a:r>
              <a:rPr lang="en-PH" sz="3200" dirty="0" smtClean="0">
                <a:solidFill>
                  <a:schemeClr val="bg1"/>
                </a:solidFill>
              </a:rPr>
              <a:t>Never having been breast fed</a:t>
            </a:r>
          </a:p>
          <a:p>
            <a:r>
              <a:rPr lang="en-PH" sz="3200" dirty="0" smtClean="0">
                <a:solidFill>
                  <a:schemeClr val="bg1"/>
                </a:solidFill>
              </a:rPr>
              <a:t>Contact with multiple children </a:t>
            </a:r>
          </a:p>
          <a:p>
            <a:r>
              <a:rPr lang="en-PH" sz="3200" dirty="0" smtClean="0">
                <a:solidFill>
                  <a:schemeClr val="bg1"/>
                </a:solidFill>
              </a:rPr>
              <a:t>Spending time in crowded places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PH" sz="4800" dirty="0" smtClean="0">
                <a:solidFill>
                  <a:schemeClr val="bg1"/>
                </a:solidFill>
              </a:rPr>
              <a:t>When to seek medical attention?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PH" sz="4000" dirty="0" smtClean="0">
                <a:solidFill>
                  <a:schemeClr val="bg1"/>
                </a:solidFill>
              </a:rPr>
              <a:t>Audible wheezing sounds </a:t>
            </a:r>
          </a:p>
          <a:p>
            <a:r>
              <a:rPr lang="en-PH" sz="4000" dirty="0" err="1" smtClean="0">
                <a:solidFill>
                  <a:schemeClr val="bg1"/>
                </a:solidFill>
              </a:rPr>
              <a:t>Tachypnea</a:t>
            </a:r>
            <a:endParaRPr lang="en-PH" sz="4000" dirty="0" smtClean="0">
              <a:solidFill>
                <a:schemeClr val="bg1"/>
              </a:solidFill>
            </a:endParaRPr>
          </a:p>
          <a:p>
            <a:r>
              <a:rPr lang="en-PH" sz="4000" dirty="0" err="1" smtClean="0">
                <a:solidFill>
                  <a:schemeClr val="bg1"/>
                </a:solidFill>
              </a:rPr>
              <a:t>Labored</a:t>
            </a:r>
            <a:r>
              <a:rPr lang="en-PH" sz="4000" dirty="0" smtClean="0">
                <a:solidFill>
                  <a:schemeClr val="bg1"/>
                </a:solidFill>
              </a:rPr>
              <a:t> breathing</a:t>
            </a:r>
          </a:p>
          <a:p>
            <a:r>
              <a:rPr lang="en-PH" sz="4000" dirty="0" smtClean="0">
                <a:solidFill>
                  <a:schemeClr val="bg1"/>
                </a:solidFill>
              </a:rPr>
              <a:t>Sluggish or lethargic appearance</a:t>
            </a:r>
          </a:p>
          <a:p>
            <a:r>
              <a:rPr lang="en-PH" sz="4000" dirty="0" smtClean="0">
                <a:solidFill>
                  <a:schemeClr val="bg1"/>
                </a:solidFill>
              </a:rPr>
              <a:t>Refusal to drink enough </a:t>
            </a:r>
          </a:p>
          <a:p>
            <a:r>
              <a:rPr lang="en-PH" sz="4000" dirty="0" smtClean="0">
                <a:solidFill>
                  <a:schemeClr val="bg1"/>
                </a:solidFill>
              </a:rPr>
              <a:t>Skin turning blue</a:t>
            </a:r>
            <a:r>
              <a:rPr lang="en-US" sz="4000" dirty="0" smtClean="0">
                <a:solidFill>
                  <a:schemeClr val="bg1"/>
                </a:solidFill>
              </a:rPr>
              <a:t> especially lips or fingertips</a:t>
            </a:r>
          </a:p>
          <a:p>
            <a:endParaRPr lang="en-PH" sz="40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PH" sz="4800" dirty="0" smtClean="0">
                <a:solidFill>
                  <a:schemeClr val="bg1"/>
                </a:solidFill>
              </a:rPr>
              <a:t>Complications of severe </a:t>
            </a:r>
            <a:r>
              <a:rPr lang="en-PH" sz="4800" dirty="0" err="1" smtClean="0">
                <a:solidFill>
                  <a:schemeClr val="bg1"/>
                </a:solidFill>
              </a:rPr>
              <a:t>bronchiolitis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6184"/>
            <a:ext cx="8229600" cy="4709160"/>
          </a:xfrm>
        </p:spPr>
        <p:txBody>
          <a:bodyPr>
            <a:normAutofit/>
          </a:bodyPr>
          <a:lstStyle/>
          <a:p>
            <a:r>
              <a:rPr lang="en-PH" sz="4000" b="1" dirty="0" smtClean="0">
                <a:solidFill>
                  <a:schemeClr val="bg1"/>
                </a:solidFill>
              </a:rPr>
              <a:t>Blue lips / skin</a:t>
            </a:r>
          </a:p>
          <a:p>
            <a:r>
              <a:rPr lang="en-PH" sz="4000" b="1" dirty="0" smtClean="0">
                <a:solidFill>
                  <a:schemeClr val="bg1"/>
                </a:solidFill>
              </a:rPr>
              <a:t>Pauses in breathing (</a:t>
            </a:r>
            <a:r>
              <a:rPr lang="en-PH" sz="4000" b="1" dirty="0" err="1" smtClean="0">
                <a:solidFill>
                  <a:schemeClr val="bg1"/>
                </a:solidFill>
              </a:rPr>
              <a:t>apnea</a:t>
            </a:r>
            <a:r>
              <a:rPr lang="en-PH" sz="4000" b="1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PH" sz="4000" b="1" dirty="0" smtClean="0">
                <a:solidFill>
                  <a:schemeClr val="bg1"/>
                </a:solidFill>
              </a:rPr>
              <a:t>Dehydration</a:t>
            </a:r>
          </a:p>
          <a:p>
            <a:r>
              <a:rPr lang="en-PH" sz="4000" b="1" dirty="0" smtClean="0">
                <a:solidFill>
                  <a:schemeClr val="bg1"/>
                </a:solidFill>
              </a:rPr>
              <a:t>Low oxygen levels and respiratory failure</a:t>
            </a:r>
          </a:p>
          <a:p>
            <a:r>
              <a:rPr lang="en-PH" sz="4000" b="1" dirty="0" smtClean="0">
                <a:solidFill>
                  <a:schemeClr val="bg1"/>
                </a:solidFill>
              </a:rPr>
              <a:t>Secondary  bacterial infection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 smtClean="0">
                <a:solidFill>
                  <a:schemeClr val="bg1"/>
                </a:solidFill>
              </a:rPr>
              <a:t>DIFFERENTIAL DIAGNOSIS</a:t>
            </a:r>
            <a:r>
              <a:rPr lang="en-PH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sz="3600" dirty="0" smtClean="0"/>
              <a:t>ACUTE ASTHMA</a:t>
            </a:r>
          </a:p>
          <a:p>
            <a:r>
              <a:rPr lang="en-PH" sz="3600" dirty="0" smtClean="0"/>
              <a:t>VIRAL INDUCED –WHEEZE</a:t>
            </a:r>
          </a:p>
          <a:p>
            <a:r>
              <a:rPr lang="en-PH" sz="3600" dirty="0" smtClean="0"/>
              <a:t>PNEUMONIA</a:t>
            </a:r>
          </a:p>
          <a:p>
            <a:r>
              <a:rPr lang="en-PH" sz="3600" dirty="0" smtClean="0"/>
              <a:t>CONGESTIVE HEART FAILURE</a:t>
            </a:r>
          </a:p>
          <a:p>
            <a:r>
              <a:rPr lang="en-PH" sz="3600" dirty="0" smtClean="0"/>
              <a:t>PERTUSSIS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PH" sz="4800" dirty="0" smtClean="0">
                <a:solidFill>
                  <a:schemeClr val="bg1"/>
                </a:solidFill>
              </a:rPr>
              <a:t>Management for </a:t>
            </a:r>
            <a:r>
              <a:rPr lang="en-PH" sz="4800" dirty="0" err="1" smtClean="0">
                <a:solidFill>
                  <a:schemeClr val="bg1"/>
                </a:solidFill>
              </a:rPr>
              <a:t>Bronchiolitis</a:t>
            </a:r>
            <a:r>
              <a:rPr lang="en-PH" sz="4800" dirty="0" smtClean="0">
                <a:solidFill>
                  <a:schemeClr val="bg1"/>
                </a:solidFill>
              </a:rPr>
              <a:t>: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PH" dirty="0" smtClean="0"/>
              <a:t> </a:t>
            </a:r>
            <a:r>
              <a:rPr lang="en-PH" sz="3600" b="1" dirty="0" smtClean="0">
                <a:solidFill>
                  <a:schemeClr val="bg1"/>
                </a:solidFill>
              </a:rPr>
              <a:t>HYDRATION</a:t>
            </a:r>
            <a:r>
              <a:rPr lang="en-PH" dirty="0" smtClean="0"/>
              <a:t>-ENCOURAGE ORAL INTAKE/ NGT FEEDING/INTRAVENOUS FLUIDS</a:t>
            </a:r>
          </a:p>
          <a:p>
            <a:r>
              <a:rPr lang="en-PH" sz="3600" b="1" dirty="0" smtClean="0">
                <a:solidFill>
                  <a:schemeClr val="bg1"/>
                </a:solidFill>
              </a:rPr>
              <a:t>O2 SUPPLEMENT/ OXYGENATION- </a:t>
            </a:r>
            <a:r>
              <a:rPr lang="en-PH" dirty="0" smtClean="0"/>
              <a:t>HFNC ,NIV (CPAP/BIPAP, INTUBATION)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SALINE NASAL  DROPS</a:t>
            </a:r>
          </a:p>
          <a:p>
            <a:r>
              <a:rPr lang="en-PH" b="1" dirty="0" smtClean="0">
                <a:solidFill>
                  <a:schemeClr val="bg1"/>
                </a:solidFill>
              </a:rPr>
              <a:t>ORO-NASAL SUCTION</a:t>
            </a:r>
          </a:p>
          <a:p>
            <a:endParaRPr lang="en-PH" dirty="0" smtClean="0"/>
          </a:p>
          <a:p>
            <a:pPr>
              <a:buNone/>
            </a:pPr>
            <a:r>
              <a:rPr lang="en-PH" sz="2000" b="1" i="1" dirty="0" smtClean="0">
                <a:solidFill>
                  <a:schemeClr val="bg1"/>
                </a:solidFill>
              </a:rPr>
              <a:t>*LITTLE EVIDENCE FOR </a:t>
            </a:r>
          </a:p>
          <a:p>
            <a:pPr>
              <a:buNone/>
            </a:pPr>
            <a:r>
              <a:rPr lang="en-PH" sz="2000" b="1" i="1" dirty="0" smtClean="0">
                <a:solidFill>
                  <a:schemeClr val="bg1"/>
                </a:solidFill>
              </a:rPr>
              <a:t>B RONCHODILATORS,STEROIDS,ANTIBIOTICS,NEBULISED SALINE</a:t>
            </a:r>
          </a:p>
          <a:p>
            <a:pPr>
              <a:buNone/>
            </a:pPr>
            <a:endParaRPr lang="en-PH" dirty="0" smtClean="0"/>
          </a:p>
          <a:p>
            <a:endParaRPr lang="en-PH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sz="4000" dirty="0" smtClean="0">
                <a:solidFill>
                  <a:schemeClr val="bg1"/>
                </a:solidFill>
              </a:rPr>
              <a:t>How to prevent </a:t>
            </a:r>
            <a:r>
              <a:rPr lang="en-PH" sz="4000" dirty="0" err="1" smtClean="0">
                <a:solidFill>
                  <a:schemeClr val="bg1"/>
                </a:solidFill>
              </a:rPr>
              <a:t>bronchiolitis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4176"/>
            <a:ext cx="8229600" cy="4709160"/>
          </a:xfrm>
        </p:spPr>
        <p:txBody>
          <a:bodyPr>
            <a:normAutofit/>
          </a:bodyPr>
          <a:lstStyle/>
          <a:p>
            <a:r>
              <a:rPr lang="en-PH" sz="3600" dirty="0" smtClean="0">
                <a:solidFill>
                  <a:schemeClr val="bg1"/>
                </a:solidFill>
              </a:rPr>
              <a:t>Limits contact with people who have fever and colds</a:t>
            </a:r>
          </a:p>
          <a:p>
            <a:r>
              <a:rPr lang="en-PH" sz="3600" dirty="0" smtClean="0">
                <a:solidFill>
                  <a:schemeClr val="bg1"/>
                </a:solidFill>
              </a:rPr>
              <a:t>Clean and disinfect surfaces</a:t>
            </a:r>
          </a:p>
          <a:p>
            <a:r>
              <a:rPr lang="en-PH" sz="3600" dirty="0" smtClean="0">
                <a:solidFill>
                  <a:schemeClr val="bg1"/>
                </a:solidFill>
              </a:rPr>
              <a:t>Observe proper respiratory hygiene</a:t>
            </a:r>
          </a:p>
          <a:p>
            <a:r>
              <a:rPr lang="en-PH" sz="3600" dirty="0" smtClean="0">
                <a:solidFill>
                  <a:schemeClr val="bg1"/>
                </a:solidFill>
              </a:rPr>
              <a:t>Use your own drinking glass</a:t>
            </a:r>
          </a:p>
          <a:p>
            <a:r>
              <a:rPr lang="en-PH" sz="3600" dirty="0" smtClean="0">
                <a:solidFill>
                  <a:schemeClr val="bg1"/>
                </a:solidFill>
              </a:rPr>
              <a:t>Wash hands often</a:t>
            </a:r>
          </a:p>
          <a:p>
            <a:r>
              <a:rPr lang="en-PH" sz="3600" dirty="0" smtClean="0">
                <a:solidFill>
                  <a:schemeClr val="bg1"/>
                </a:solidFill>
              </a:rPr>
              <a:t>Breast feed</a:t>
            </a: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36264"/>
            <a:ext cx="8229600" cy="470916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PH" sz="9600" b="1" dirty="0" smtClean="0">
                <a:solidFill>
                  <a:schemeClr val="bg1"/>
                </a:solidFill>
              </a:rPr>
              <a:t>Thank you!</a:t>
            </a:r>
            <a:endParaRPr lang="en-US" sz="9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