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9388475" cy="7102475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7">
          <p15:clr>
            <a:srgbClr val="000000"/>
          </p15:clr>
        </p15:guide>
        <p15:guide id="2" pos="2957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71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237"/>
        <p:guide pos="295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8339" cy="3551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3" y="0"/>
            <a:ext cx="4068339" cy="3551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FE6F8B5C-847A-40F8-A5EE-EEC6341FF81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9413" y="533400"/>
            <a:ext cx="3549650" cy="26622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373676"/>
            <a:ext cx="7510780" cy="3196114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51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51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8B61E322-E305-4F7E-BD26-3EBFDD9E4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4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61E322-E305-4F7E-BD26-3EBFDD9E48F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02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3530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302422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16304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730046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38125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54353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6892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21175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109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3029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35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64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ransition spd="slow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81000"/>
            <a:ext cx="8458200" cy="58785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endParaRPr lang="en-US" sz="3200" b="1" dirty="0">
              <a:latin typeface="Algerian" pitchFamily="82" charset="0"/>
            </a:endParaRPr>
          </a:p>
          <a:p>
            <a:r>
              <a:rPr lang="en-US" sz="3200" b="1" dirty="0">
                <a:latin typeface="Algerian" pitchFamily="82" charset="0"/>
              </a:rPr>
              <a:t>TOPICs:</a:t>
            </a:r>
          </a:p>
          <a:p>
            <a:endParaRPr lang="en-US" sz="3200" b="1" dirty="0">
              <a:latin typeface="Algerian" pitchFamily="82" charset="0"/>
            </a:endParaRPr>
          </a:p>
          <a:p>
            <a:pPr algn="ctr"/>
            <a:r>
              <a:rPr lang="en-US" sz="6000" b="1" dirty="0">
                <a:latin typeface="Algerian" pitchFamily="82" charset="0"/>
              </a:rPr>
              <a:t>MDRO</a:t>
            </a:r>
          </a:p>
          <a:p>
            <a:pPr algn="ctr"/>
            <a:r>
              <a:rPr lang="en-US" sz="4800" b="1" dirty="0">
                <a:latin typeface="Algerian" pitchFamily="82" charset="0"/>
              </a:rPr>
              <a:t>RSV</a:t>
            </a:r>
          </a:p>
          <a:p>
            <a:endParaRPr lang="en-US" sz="3200" b="1" dirty="0">
              <a:latin typeface="Algerian" pitchFamily="82" charset="0"/>
            </a:endParaRPr>
          </a:p>
          <a:p>
            <a:endParaRPr lang="en-US" sz="3200" b="1" dirty="0">
              <a:latin typeface="Algerian" pitchFamily="82" charset="0"/>
            </a:endParaRPr>
          </a:p>
          <a:p>
            <a:endParaRPr lang="en-US" sz="3200" b="1" dirty="0">
              <a:latin typeface="Algerian" pitchFamily="82" charset="0"/>
            </a:endParaRPr>
          </a:p>
          <a:p>
            <a:r>
              <a:rPr lang="en-US" sz="3200" b="1" dirty="0">
                <a:latin typeface="Algerian" pitchFamily="82" charset="0"/>
              </a:rPr>
              <a:t>Reporter:  </a:t>
            </a:r>
          </a:p>
          <a:p>
            <a:r>
              <a:rPr lang="en-US" sz="3200" b="1" dirty="0">
                <a:latin typeface="Algerian" pitchFamily="82" charset="0"/>
              </a:rPr>
              <a:t>     </a:t>
            </a:r>
            <a:r>
              <a:rPr lang="en-US" sz="3200" b="1" dirty="0" err="1">
                <a:latin typeface="Algerian" pitchFamily="82" charset="0"/>
              </a:rPr>
              <a:t>Genaline</a:t>
            </a:r>
            <a:r>
              <a:rPr lang="en-US" sz="3200" b="1" dirty="0">
                <a:latin typeface="Algerian" pitchFamily="82" charset="0"/>
              </a:rPr>
              <a:t> </a:t>
            </a:r>
            <a:r>
              <a:rPr lang="en-US" sz="3200" b="1" dirty="0" err="1">
                <a:latin typeface="Algerian" pitchFamily="82" charset="0"/>
              </a:rPr>
              <a:t>Canete</a:t>
            </a:r>
            <a:endParaRPr lang="en-US" sz="3200" b="1" dirty="0"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39537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1000"/>
            <a:ext cx="8229600" cy="563231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                 </a:t>
            </a:r>
          </a:p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                     M-D-R-O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Multi-drug Resistant Organism</a:t>
            </a:r>
          </a:p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         </a:t>
            </a:r>
            <a:endParaRPr lang="en-US" sz="2400" b="1" dirty="0">
              <a:latin typeface="Arial Rounded MT Bold" pitchFamily="34" charset="0"/>
              <a:cs typeface="Times New Roman" pitchFamily="18" charset="0"/>
            </a:endParaRPr>
          </a:p>
          <a:p>
            <a:pPr marL="571500" indent="-571500">
              <a:buFont typeface="Wingdings" pitchFamily="2" charset="2"/>
              <a:buChar char="v"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When to screen the patient?</a:t>
            </a:r>
          </a:p>
          <a:p>
            <a:pPr marL="571500" indent="-571500">
              <a:buFont typeface="Wingdings" pitchFamily="2" charset="2"/>
              <a:buChar char="v"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When to re-screen?</a:t>
            </a:r>
          </a:p>
          <a:p>
            <a:pPr marL="571500" indent="-571500">
              <a:buFont typeface="Wingdings" pitchFamily="2" charset="2"/>
              <a:buChar char="v"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How to collect swab?</a:t>
            </a:r>
          </a:p>
          <a:p>
            <a:pPr marL="571500" indent="-571500">
              <a:buFont typeface="Wingdings" pitchFamily="2" charset="2"/>
              <a:buChar char="v"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PPE to use</a:t>
            </a:r>
          </a:p>
          <a:p>
            <a:pPr marL="571500" indent="-571500">
              <a:buFont typeface="Wingdings" pitchFamily="2" charset="2"/>
              <a:buChar char="v"/>
            </a:pP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11682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52400"/>
            <a:ext cx="8686800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 Rounded MT Bold" pitchFamily="34" charset="0"/>
              </a:rPr>
              <a:t> </a:t>
            </a:r>
            <a:r>
              <a:rPr lang="en-US" sz="2800" b="1" dirty="0">
                <a:latin typeface="Arial Black" pitchFamily="34" charset="0"/>
              </a:rPr>
              <a:t>MDRO  </a:t>
            </a:r>
            <a:r>
              <a:rPr lang="en-US" sz="2800" dirty="0">
                <a:latin typeface="Arial Black" pitchFamily="34" charset="0"/>
              </a:rPr>
              <a:t>- Multi-drug Resistant Organism</a:t>
            </a:r>
          </a:p>
          <a:p>
            <a:pPr algn="ctr"/>
            <a:r>
              <a:rPr lang="en-US" sz="1600" b="1" dirty="0">
                <a:latin typeface="Arial Black" pitchFamily="34" charset="0"/>
                <a:cs typeface="Times New Roman" pitchFamily="18" charset="0"/>
              </a:rPr>
              <a:t>A bacterial strain that is resistant to 1 or more antimicrobial drugs</a:t>
            </a:r>
            <a:endParaRPr lang="en-US" sz="1600" dirty="0">
              <a:latin typeface="Arial Black" pitchFamily="34" charset="0"/>
            </a:endParaRPr>
          </a:p>
          <a:p>
            <a:pPr algn="ctr"/>
            <a:endParaRPr lang="en-US" sz="2400" dirty="0">
              <a:latin typeface="Arial Rounded MT Bold" pitchFamily="34" charset="0"/>
            </a:endParaRPr>
          </a:p>
          <a:p>
            <a:pPr algn="ctr"/>
            <a:endParaRPr lang="en-US" sz="2400" dirty="0">
              <a:latin typeface="Arial Rounded MT Bold" pitchFamily="34" charset="0"/>
            </a:endParaRPr>
          </a:p>
          <a:p>
            <a:pPr marL="285750" lvl="0" indent="-285750">
              <a:buFont typeface="Wingdings" pitchFamily="2" charset="2"/>
              <a:buChar char="q"/>
            </a:pPr>
            <a:endParaRPr lang="en-US" sz="2400" dirty="0">
              <a:latin typeface="Arial Rounded MT Bold" pitchFamily="34" charset="0"/>
            </a:endParaRPr>
          </a:p>
          <a:p>
            <a:pPr marL="285750" lvl="0" indent="-285750">
              <a:buFont typeface="Wingdings" pitchFamily="2" charset="2"/>
              <a:buChar char="q"/>
            </a:pPr>
            <a:endParaRPr lang="en-US" sz="2400" dirty="0">
              <a:latin typeface="Arial Rounded MT Bold" pitchFamily="34" charset="0"/>
            </a:endParaRPr>
          </a:p>
          <a:p>
            <a:pPr marL="285750" lvl="0" indent="-285750">
              <a:buFont typeface="Wingdings" pitchFamily="2" charset="2"/>
              <a:buChar char="q"/>
            </a:pPr>
            <a:endParaRPr lang="en-US" sz="2400" dirty="0">
              <a:latin typeface="Arial Rounded MT Bold" pitchFamily="34" charset="0"/>
            </a:endParaRPr>
          </a:p>
          <a:p>
            <a:pPr lvl="0"/>
            <a:endParaRPr lang="en-US" sz="2400" dirty="0">
              <a:latin typeface="Arial Black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33417"/>
              </p:ext>
            </p:extLst>
          </p:nvPr>
        </p:nvGraphicFramePr>
        <p:xfrm>
          <a:off x="152400" y="1447800"/>
          <a:ext cx="8839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itchFamily="34" charset="0"/>
                        </a:rPr>
                        <a:t>MRSA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itchFamily="2" charset="2"/>
                        <a:buChar char="q"/>
                      </a:pPr>
                      <a:r>
                        <a:rPr lang="en-US" sz="1800" dirty="0">
                          <a:latin typeface="Arial Black" pitchFamily="34" charset="0"/>
                        </a:rPr>
                        <a:t>Methicillin Resistant Staphylococcus</a:t>
                      </a:r>
                      <a:r>
                        <a:rPr lang="en-US" sz="1800" baseline="0" dirty="0">
                          <a:latin typeface="Arial Black" pitchFamily="34" charset="0"/>
                        </a:rPr>
                        <a:t> </a:t>
                      </a:r>
                      <a:r>
                        <a:rPr lang="en-US" sz="1800" dirty="0" err="1">
                          <a:latin typeface="Arial Black" pitchFamily="34" charset="0"/>
                        </a:rPr>
                        <a:t>Aureus</a:t>
                      </a:r>
                      <a:endParaRPr lang="en-US" sz="1800" dirty="0">
                        <a:latin typeface="Arial Black" pitchFamily="34" charset="0"/>
                      </a:endParaRPr>
                    </a:p>
                    <a:p>
                      <a:pPr marL="0" lvl="0" indent="0">
                        <a:buFont typeface="Wingdings" pitchFamily="2" charset="2"/>
                        <a:buNone/>
                      </a:pPr>
                      <a:endParaRPr lang="en-US" sz="1800" dirty="0">
                        <a:latin typeface="Arial Black" pitchFamily="34" charset="0"/>
                      </a:endParaRP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endParaRPr lang="en-US" sz="1800" dirty="0">
                        <a:latin typeface="Arial Black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itchFamily="34" charset="0"/>
                        </a:rPr>
                        <a:t>CRE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itchFamily="2" charset="2"/>
                        <a:buChar char="q"/>
                      </a:pPr>
                      <a:r>
                        <a:rPr lang="en-US" sz="1800" dirty="0" err="1">
                          <a:latin typeface="Arial Black" pitchFamily="34" charset="0"/>
                        </a:rPr>
                        <a:t>Carbapenem</a:t>
                      </a:r>
                      <a:r>
                        <a:rPr lang="en-US" sz="1800" dirty="0">
                          <a:latin typeface="Arial Black" pitchFamily="34" charset="0"/>
                        </a:rPr>
                        <a:t> -Resistant </a:t>
                      </a:r>
                      <a:r>
                        <a:rPr lang="en-US" sz="1800" dirty="0" err="1">
                          <a:latin typeface="Arial Black" pitchFamily="34" charset="0"/>
                        </a:rPr>
                        <a:t>Enterobacteriaceae</a:t>
                      </a:r>
                      <a:r>
                        <a:rPr lang="en-US" sz="1800" dirty="0">
                          <a:latin typeface="Arial Black" pitchFamily="34" charset="0"/>
                        </a:rPr>
                        <a:t>   </a:t>
                      </a:r>
                    </a:p>
                    <a:p>
                      <a:pPr marL="0" lvl="0" indent="0">
                        <a:buFont typeface="Wingdings" pitchFamily="2" charset="2"/>
                        <a:buNone/>
                      </a:pPr>
                      <a:endParaRPr lang="en-US" sz="1800" dirty="0">
                        <a:latin typeface="Arial Black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itchFamily="34" charset="0"/>
                        </a:rPr>
                        <a:t>MDR-A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itchFamily="2" charset="2"/>
                        <a:buChar char="q"/>
                      </a:pPr>
                      <a:r>
                        <a:rPr lang="en-US" sz="1800" dirty="0">
                          <a:latin typeface="Arial Black" pitchFamily="34" charset="0"/>
                        </a:rPr>
                        <a:t>Multi-drug Resistant </a:t>
                      </a:r>
                      <a:r>
                        <a:rPr lang="en-US" sz="1800" dirty="0" err="1">
                          <a:latin typeface="Arial Black" pitchFamily="34" charset="0"/>
                        </a:rPr>
                        <a:t>Acinetobacter</a:t>
                      </a:r>
                      <a:endParaRPr lang="en-US" sz="1800" dirty="0">
                        <a:latin typeface="Arial Black" pitchFamily="34" charset="0"/>
                      </a:endParaRPr>
                    </a:p>
                    <a:p>
                      <a:pPr marL="0" lvl="0" indent="0">
                        <a:buFont typeface="Wingdings" pitchFamily="2" charset="2"/>
                        <a:buNone/>
                      </a:pPr>
                      <a:endParaRPr lang="en-US" sz="1800" dirty="0">
                        <a:latin typeface="Arial Black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itchFamily="34" charset="0"/>
                        </a:rPr>
                        <a:t>VRE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itchFamily="2" charset="2"/>
                        <a:buChar char="q"/>
                      </a:pPr>
                      <a:r>
                        <a:rPr lang="en-US" sz="1800" dirty="0" err="1">
                          <a:latin typeface="Arial Black" pitchFamily="34" charset="0"/>
                        </a:rPr>
                        <a:t>Vancomycin</a:t>
                      </a:r>
                      <a:r>
                        <a:rPr lang="en-US" sz="1800" dirty="0">
                          <a:latin typeface="Arial Black" pitchFamily="34" charset="0"/>
                        </a:rPr>
                        <a:t> -Resistant Enterococcus</a:t>
                      </a:r>
                    </a:p>
                    <a:p>
                      <a:pPr marL="0" lvl="0" indent="0">
                        <a:buFont typeface="Wingdings" pitchFamily="2" charset="2"/>
                        <a:buNone/>
                      </a:pPr>
                      <a:endParaRPr lang="en-US" sz="1800" dirty="0">
                        <a:latin typeface="Arial Black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rial Black" pitchFamily="34" charset="0"/>
                        </a:rPr>
                        <a:t>MDR-P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Wingdings" pitchFamily="2" charset="2"/>
                        <a:buNone/>
                      </a:pPr>
                      <a:r>
                        <a:rPr lang="en-US" sz="1800" dirty="0">
                          <a:latin typeface="Arial Black" pitchFamily="34" charset="0"/>
                        </a:rPr>
                        <a:t>MDR-Pseudomonas</a:t>
                      </a:r>
                    </a:p>
                    <a:p>
                      <a:pPr marL="0" lvl="0" indent="0">
                        <a:buFont typeface="Wingdings" pitchFamily="2" charset="2"/>
                        <a:buNone/>
                      </a:pPr>
                      <a:endParaRPr lang="en-US" sz="1800" dirty="0">
                        <a:latin typeface="Arial Black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rial Black" pitchFamily="34" charset="0"/>
                        </a:rPr>
                        <a:t>ESBL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Wingdings" pitchFamily="2" charset="2"/>
                        <a:buNone/>
                      </a:pPr>
                      <a:r>
                        <a:rPr lang="en-US" sz="1800" dirty="0">
                          <a:latin typeface="Arial Black" pitchFamily="34" charset="0"/>
                        </a:rPr>
                        <a:t>Extended</a:t>
                      </a:r>
                      <a:r>
                        <a:rPr lang="en-US" sz="1800" baseline="0" dirty="0">
                          <a:latin typeface="Arial Black" pitchFamily="34" charset="0"/>
                        </a:rPr>
                        <a:t> S</a:t>
                      </a:r>
                      <a:r>
                        <a:rPr lang="en-US" sz="1800" dirty="0">
                          <a:latin typeface="Arial Black" pitchFamily="34" charset="0"/>
                        </a:rPr>
                        <a:t>pectrum Beta-</a:t>
                      </a:r>
                      <a:r>
                        <a:rPr lang="en-US" sz="1800" baseline="0" dirty="0">
                          <a:latin typeface="Arial Black" pitchFamily="34" charset="0"/>
                        </a:rPr>
                        <a:t> </a:t>
                      </a:r>
                      <a:r>
                        <a:rPr lang="en-US" sz="1800" dirty="0">
                          <a:latin typeface="Arial Black" pitchFamily="34" charset="0"/>
                        </a:rPr>
                        <a:t>Lactamase</a:t>
                      </a:r>
                    </a:p>
                    <a:p>
                      <a:pPr marL="0" lvl="0" indent="0">
                        <a:buFont typeface="Wingdings" pitchFamily="2" charset="2"/>
                        <a:buNone/>
                      </a:pPr>
                      <a:endParaRPr lang="en-US" sz="1800" dirty="0">
                        <a:latin typeface="Arial Black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rial Black" pitchFamily="34" charset="0"/>
                        </a:rPr>
                        <a:t>C. AURIS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itchFamily="2" charset="2"/>
                        <a:buChar char="q"/>
                      </a:pPr>
                      <a:r>
                        <a:rPr lang="en-US" sz="1800" dirty="0">
                          <a:latin typeface="Arial Black" pitchFamily="34" charset="0"/>
                        </a:rPr>
                        <a:t>Candida </a:t>
                      </a:r>
                      <a:r>
                        <a:rPr lang="en-US" sz="1800" dirty="0" err="1">
                          <a:latin typeface="Arial Black" pitchFamily="34" charset="0"/>
                        </a:rPr>
                        <a:t>Auris</a:t>
                      </a:r>
                      <a:endParaRPr lang="en-US" sz="1800" dirty="0">
                        <a:latin typeface="Arial Black" pitchFamily="34" charset="0"/>
                      </a:endParaRPr>
                    </a:p>
                    <a:p>
                      <a:pPr marL="0" lvl="0" indent="0">
                        <a:buFont typeface="Wingdings" pitchFamily="2" charset="2"/>
                        <a:buNone/>
                      </a:pPr>
                      <a:endParaRPr lang="en-US" sz="1800" dirty="0">
                        <a:latin typeface="Arial Black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748044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318812"/>
              </p:ext>
            </p:extLst>
          </p:nvPr>
        </p:nvGraphicFramePr>
        <p:xfrm>
          <a:off x="114300" y="990600"/>
          <a:ext cx="8915400" cy="569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3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2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761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effectLst/>
                        <a:latin typeface="Arial Rounded MT Bold" pitchFamily="34" charset="0"/>
                        <a:cs typeface="Times New Roman"/>
                      </a:endParaRPr>
                    </a:p>
                    <a:p>
                      <a:pPr algn="ctr"/>
                      <a:r>
                        <a:rPr lang="en-US" sz="1600" dirty="0"/>
                        <a:t>MRSA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  <a:p>
                      <a:pPr algn="ctr"/>
                      <a:r>
                        <a:rPr lang="en-US" sz="1600" dirty="0"/>
                        <a:t>ACENITOBACTER/CRE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72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1.Admitted in other hospital w/in past 3 months–</a:t>
                      </a:r>
                      <a:r>
                        <a:rPr lang="en-US" sz="2000" baseline="0" dirty="0">
                          <a:effectLst/>
                          <a:latin typeface="Arial Rounded MT Bold" pitchFamily="34" charset="0"/>
                        </a:rPr>
                        <a:t>  all cases</a:t>
                      </a:r>
                      <a:endParaRPr lang="en-US" sz="2000" dirty="0">
                        <a:latin typeface="Arial Rounded MT Bold" pitchFamily="34" charset="0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1. Admitted in other hospital w/in past 3 months– all cases</a:t>
                      </a:r>
                      <a:endParaRPr lang="en-US" sz="2000" dirty="0">
                        <a:latin typeface="Arial Rounded MT Bold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776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2.</a:t>
                      </a:r>
                      <a:r>
                        <a:rPr lang="en-US" sz="2000" baseline="0" dirty="0">
                          <a:effectLst/>
                          <a:latin typeface="Arial Rounded MT Bold" pitchFamily="34" charset="0"/>
                        </a:rPr>
                        <a:t>  Coming from </a:t>
                      </a:r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hospital abroad w/in 6 months  - all cases</a:t>
                      </a:r>
                    </a:p>
                    <a:p>
                      <a:pPr algn="ctr"/>
                      <a:endParaRPr lang="en-US" sz="2000" dirty="0">
                        <a:latin typeface="Arial Rounded MT Bol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2.</a:t>
                      </a:r>
                      <a:r>
                        <a:rPr lang="en-US" sz="2000" baseline="0" dirty="0">
                          <a:effectLst/>
                          <a:latin typeface="Arial Rounded MT Bold" pitchFamily="34" charset="0"/>
                        </a:rPr>
                        <a:t> Coming from </a:t>
                      </a:r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hospital abroad w/in 6 months – all cases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24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3.High risk cases, admitted in RH w/in 3 months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3.High risk cases, admitted in RH w/in 3 months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4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4.Admitted in Intensive Care Units</a:t>
                      </a:r>
                    </a:p>
                    <a:p>
                      <a:pPr algn="ctr"/>
                      <a:endParaRPr lang="en-US" sz="2000" dirty="0">
                        <a:latin typeface="Arial Rounded MT Bol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4.Admitted in Intensive Care Units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776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  <a:latin typeface="Arial Rounded MT Bold" pitchFamily="34" charset="0"/>
                          <a:ea typeface="+mn-ea"/>
                          <a:cs typeface="+mn-cs"/>
                        </a:rPr>
                        <a:t>5. Any</a:t>
                      </a:r>
                      <a:r>
                        <a:rPr lang="en-US" sz="2000" b="0" baseline="0" dirty="0">
                          <a:effectLst/>
                          <a:latin typeface="Arial Rounded MT Bold" pitchFamily="34" charset="0"/>
                          <a:ea typeface="+mn-ea"/>
                          <a:cs typeface="+mn-cs"/>
                        </a:rPr>
                        <a:t> high risk patient (CVC,  wound,    tracheostomy,   gastrostomy, urinary catheter</a:t>
                      </a:r>
                      <a:endParaRPr lang="en-US" sz="2000" dirty="0">
                        <a:latin typeface="Arial Rounded MT Bold" pitchFamily="34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  <a:latin typeface="Arial Rounded MT Bold" pitchFamily="34" charset="0"/>
                          <a:ea typeface="+mn-ea"/>
                          <a:cs typeface="+mn-cs"/>
                        </a:rPr>
                        <a:t>5. Any</a:t>
                      </a:r>
                      <a:r>
                        <a:rPr lang="en-US" sz="2000" b="0" baseline="0" dirty="0">
                          <a:effectLst/>
                          <a:latin typeface="Arial Rounded MT Bold" pitchFamily="34" charset="0"/>
                          <a:ea typeface="+mn-ea"/>
                          <a:cs typeface="+mn-cs"/>
                        </a:rPr>
                        <a:t> high risk patient (CVC, wound, tracheostomy,   gastrostomy, urinary catheter</a:t>
                      </a:r>
                      <a:endParaRPr lang="en-US" sz="2000" dirty="0">
                        <a:latin typeface="Arial Rounded MT Bold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77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effectLst/>
                        <a:latin typeface="Arial Rounded MT Bold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6.If</a:t>
                      </a:r>
                      <a:r>
                        <a:rPr lang="en-US" sz="2000" baseline="0" dirty="0">
                          <a:effectLst/>
                          <a:latin typeface="Arial Rounded MT Bold" pitchFamily="34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undergoing liver &amp; cardiac surgery, CAPD, Hemodialysis</a:t>
                      </a:r>
                      <a:endParaRPr lang="en-US" sz="2000" b="1" dirty="0">
                        <a:effectLst/>
                        <a:latin typeface="Arial Rounded MT Bold" pitchFamily="34" charset="0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effectLst/>
                        <a:latin typeface="Arial Rounded MT Bold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dirty="0">
                        <a:effectLst/>
                        <a:latin typeface="Arial Rounded MT Bold" pitchFamily="34" charset="0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87531"/>
            <a:ext cx="91440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 Black" pitchFamily="34" charset="0"/>
              </a:rPr>
              <a:t>WHEN TO SCREEN THE PATIENT?</a:t>
            </a:r>
          </a:p>
          <a:p>
            <a:r>
              <a:rPr lang="en-US" dirty="0">
                <a:latin typeface="Arial Black" pitchFamily="34" charset="0"/>
              </a:rPr>
              <a:t>              During admission </a:t>
            </a:r>
          </a:p>
        </p:txBody>
      </p:sp>
    </p:spTree>
    <p:extLst>
      <p:ext uri="{BB962C8B-B14F-4D97-AF65-F5344CB8AC3E}">
        <p14:creationId xmlns:p14="http://schemas.microsoft.com/office/powerpoint/2010/main" val="379880017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898546"/>
              </p:ext>
            </p:extLst>
          </p:nvPr>
        </p:nvGraphicFramePr>
        <p:xfrm>
          <a:off x="76200" y="152399"/>
          <a:ext cx="8991600" cy="6493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059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aseline="0" dirty="0">
                          <a:effectLst/>
                          <a:latin typeface="Arial Rounded MT Bold" pitchFamily="34" charset="0"/>
                        </a:rPr>
                        <a:t>                  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aseline="0" dirty="0">
                          <a:effectLst/>
                          <a:latin typeface="Arial Rounded MT Bold" pitchFamily="34" charset="0"/>
                        </a:rPr>
                        <a:t>                        </a:t>
                      </a:r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VRE</a:t>
                      </a:r>
                      <a:endParaRPr lang="en-US" sz="2000" b="1" dirty="0">
                        <a:effectLst/>
                        <a:latin typeface="Arial Rounded MT Bold" pitchFamily="34" charset="0"/>
                        <a:ea typeface="Calibri"/>
                        <a:cs typeface="Times New Roman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endParaRPr lang="en-US" sz="2000" b="1" dirty="0">
                        <a:latin typeface="Arial Black" pitchFamily="34" charset="0"/>
                        <a:cs typeface="Times New Roman" pitchFamily="18" charset="0"/>
                      </a:endParaRPr>
                    </a:p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2000" b="1" dirty="0">
                          <a:latin typeface="Arial Black" pitchFamily="34" charset="0"/>
                          <a:cs typeface="Times New Roman" pitchFamily="18" charset="0"/>
                        </a:rPr>
                        <a:t>Candida </a:t>
                      </a:r>
                      <a:r>
                        <a:rPr lang="en-US" sz="2000" b="1" dirty="0" err="1">
                          <a:latin typeface="Arial Black" pitchFamily="34" charset="0"/>
                          <a:cs typeface="Times New Roman" pitchFamily="18" charset="0"/>
                        </a:rPr>
                        <a:t>Auris</a:t>
                      </a:r>
                      <a:endParaRPr lang="en-US" sz="2000" b="1" dirty="0">
                        <a:latin typeface="Arial Black" pitchFamily="34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59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1.</a:t>
                      </a:r>
                      <a:r>
                        <a:rPr lang="en-US" sz="2000" baseline="0" dirty="0">
                          <a:effectLst/>
                          <a:latin typeface="Arial Rounded MT Bold" pitchFamily="34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All</a:t>
                      </a:r>
                      <a:r>
                        <a:rPr lang="en-US" sz="2000" baseline="0" dirty="0">
                          <a:effectLst/>
                          <a:latin typeface="Arial Rounded MT Bold" pitchFamily="34" charset="0"/>
                        </a:rPr>
                        <a:t> patients coming from other 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aseline="0" dirty="0">
                          <a:effectLst/>
                          <a:latin typeface="Arial Rounded MT Bold" pitchFamily="34" charset="0"/>
                        </a:rPr>
                        <a:t>     hospital</a:t>
                      </a:r>
                      <a:endParaRPr lang="en-US" sz="2000" b="1" dirty="0">
                        <a:effectLst/>
                        <a:latin typeface="Arial Rounded MT Bold" pitchFamily="34" charset="0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1.</a:t>
                      </a:r>
                      <a:r>
                        <a:rPr lang="en-US" sz="2000" baseline="0" dirty="0">
                          <a:effectLst/>
                          <a:latin typeface="Arial Rounded MT Bold" pitchFamily="34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All</a:t>
                      </a:r>
                      <a:r>
                        <a:rPr lang="en-US" sz="2000" baseline="0" dirty="0">
                          <a:effectLst/>
                          <a:latin typeface="Arial Rounded MT Bold" pitchFamily="34" charset="0"/>
                        </a:rPr>
                        <a:t> patients coming from other 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aseline="0" dirty="0">
                          <a:effectLst/>
                          <a:latin typeface="Arial Rounded MT Bold" pitchFamily="34" charset="0"/>
                        </a:rPr>
                        <a:t>     hospital w/in the past 4 weeks</a:t>
                      </a:r>
                      <a:endParaRPr lang="en-US" sz="2000" b="1" dirty="0">
                        <a:effectLst/>
                        <a:latin typeface="Arial Rounded MT Bold" pitchFamily="34" charset="0"/>
                        <a:ea typeface="Calibri"/>
                        <a:cs typeface="Times New Roman"/>
                      </a:endParaRPr>
                    </a:p>
                    <a:p>
                      <a:pPr marL="0" indent="0" algn="ctr">
                        <a:buFont typeface="Wingdings" pitchFamily="2" charset="2"/>
                        <a:buNone/>
                      </a:pPr>
                      <a:endParaRPr lang="en-US" sz="2000" b="1" dirty="0">
                        <a:latin typeface="Arial Black" pitchFamily="34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30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2. Admitted to Oncology 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2. Hospitalized abroad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30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3. Admitted to Nephrology Ward , on Dialysis</a:t>
                      </a:r>
                    </a:p>
                    <a:p>
                      <a:pPr algn="ctr"/>
                      <a:endParaRPr lang="en-US" sz="2000" dirty="0">
                        <a:latin typeface="Arial Rounded MT Bol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Patients coming from   </a:t>
                      </a:r>
                      <a:r>
                        <a:rPr lang="en-US" sz="2000" b="1" dirty="0" err="1">
                          <a:latin typeface="Times New Roman" pitchFamily="18" charset="0"/>
                          <a:cs typeface="Times New Roman" pitchFamily="18" charset="0"/>
                        </a:rPr>
                        <a:t>Khoula</a:t>
                      </a:r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 Hospital,   to do rectal swab for Candida </a:t>
                      </a:r>
                      <a:r>
                        <a:rPr lang="en-US" sz="2000" b="1" dirty="0" err="1">
                          <a:latin typeface="Times New Roman" pitchFamily="18" charset="0"/>
                          <a:cs typeface="Times New Roman" pitchFamily="18" charset="0"/>
                        </a:rPr>
                        <a:t>auris</a:t>
                      </a:r>
                      <a:endParaRPr 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2000" dirty="0">
                        <a:latin typeface="Arial Rounded MT Bold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3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Arial Rounded MT Bold" pitchFamily="34" charset="0"/>
                        </a:rPr>
                        <a:t>4. Known previous VRE +</a:t>
                      </a:r>
                    </a:p>
                    <a:p>
                      <a:pPr algn="ctr"/>
                      <a:endParaRPr lang="en-US" sz="2000" dirty="0">
                        <a:latin typeface="Arial Rounded MT Bol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Arial Rounded MT Bold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90738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 Rounded MT Bold" pitchFamily="34" charset="0"/>
                        </a:rPr>
                        <a:t>5</a:t>
                      </a:r>
                      <a:r>
                        <a:rPr lang="en-US" sz="2000" baseline="0" dirty="0">
                          <a:latin typeface="Arial Rounded MT Bold" pitchFamily="34" charset="0"/>
                        </a:rPr>
                        <a:t> </a:t>
                      </a:r>
                      <a:r>
                        <a:rPr lang="en-US" sz="2000" dirty="0">
                          <a:latin typeface="Arial Rounded MT Bold" pitchFamily="34" charset="0"/>
                        </a:rPr>
                        <a:t>.Patient on Hemodialysis or </a:t>
                      </a:r>
                    </a:p>
                    <a:p>
                      <a:pPr algn="l"/>
                      <a:r>
                        <a:rPr lang="en-US" sz="2000" baseline="0" dirty="0">
                          <a:latin typeface="Arial Rounded MT Bold" pitchFamily="34" charset="0"/>
                        </a:rPr>
                        <a:t>     </a:t>
                      </a:r>
                      <a:r>
                        <a:rPr lang="en-US" sz="2000" baseline="0" dirty="0" err="1">
                          <a:latin typeface="Arial Rounded MT Bold" pitchFamily="34" charset="0"/>
                        </a:rPr>
                        <a:t>Peritonial</a:t>
                      </a:r>
                      <a:r>
                        <a:rPr lang="en-US" sz="2000" baseline="0" dirty="0">
                          <a:latin typeface="Arial Rounded MT Bold" pitchFamily="34" charset="0"/>
                        </a:rPr>
                        <a:t> </a:t>
                      </a:r>
                      <a:r>
                        <a:rPr lang="en-US" sz="2000" dirty="0">
                          <a:latin typeface="Arial Rounded MT Bold" pitchFamily="34" charset="0"/>
                        </a:rPr>
                        <a:t>Dialysis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Arial Rounded MT Bold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33093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3683" y="117693"/>
            <a:ext cx="8153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latin typeface="Arial Black" pitchFamily="34" charset="0"/>
              </a:rPr>
              <a:t>  Direct admission from other hospital :</a:t>
            </a:r>
          </a:p>
          <a:p>
            <a:pPr lvl="0"/>
            <a:r>
              <a:rPr lang="en-US" sz="2400" b="1" dirty="0">
                <a:latin typeface="Arial Black" pitchFamily="34" charset="0"/>
              </a:rPr>
              <a:t>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889373"/>
              </p:ext>
            </p:extLst>
          </p:nvPr>
        </p:nvGraphicFramePr>
        <p:xfrm>
          <a:off x="109024" y="838200"/>
          <a:ext cx="884271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2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00104">
                <a:tc>
                  <a:txBody>
                    <a:bodyPr/>
                    <a:lstStyle/>
                    <a:p>
                      <a:pPr marL="0" indent="0">
                        <a:buFont typeface="Wingdings" pitchFamily="2" charset="2"/>
                        <a:buNone/>
                      </a:pPr>
                      <a:endParaRPr lang="en-US" sz="2000" b="1" dirty="0">
                        <a:latin typeface="Arial Black" pitchFamily="34" charset="0"/>
                      </a:endParaRPr>
                    </a:p>
                    <a:p>
                      <a:pPr marL="342900" indent="-342900">
                        <a:buFont typeface="Wingdings" pitchFamily="2" charset="2"/>
                        <a:buChar char="q"/>
                      </a:pPr>
                      <a:r>
                        <a:rPr lang="en-US" sz="2000" b="1" dirty="0">
                          <a:latin typeface="Arial Black" pitchFamily="34" charset="0"/>
                        </a:rPr>
                        <a:t>If URGENT admission with</a:t>
                      </a:r>
                      <a:r>
                        <a:rPr lang="en-US" sz="2000" b="1" baseline="0" dirty="0">
                          <a:latin typeface="Arial Black" pitchFamily="34" charset="0"/>
                        </a:rPr>
                        <a:t> unknown</a:t>
                      </a:r>
                      <a:r>
                        <a:rPr lang="en-US" sz="2000" b="1" dirty="0">
                          <a:latin typeface="Arial Black" pitchFamily="34" charset="0"/>
                        </a:rPr>
                        <a:t> screening result</a:t>
                      </a:r>
                    </a:p>
                    <a:p>
                      <a:pPr marL="342900" indent="-342900">
                        <a:buFont typeface="Wingdings" pitchFamily="2" charset="2"/>
                        <a:buChar char="Ø"/>
                      </a:pPr>
                      <a:r>
                        <a:rPr lang="en-US" sz="2000" b="1" dirty="0">
                          <a:latin typeface="Arial Black" pitchFamily="34" charset="0"/>
                        </a:rPr>
                        <a:t> patient can be accepted and screening to be done here in</a:t>
                      </a:r>
                    </a:p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en-US" sz="2000" b="1" dirty="0">
                          <a:latin typeface="Arial Black" pitchFamily="34" charset="0"/>
                        </a:rPr>
                        <a:t>      RH. </a:t>
                      </a:r>
                    </a:p>
                    <a:p>
                      <a:pPr marL="342900" indent="-342900">
                        <a:buFont typeface="Wingdings" pitchFamily="2" charset="2"/>
                        <a:buChar char="Ø"/>
                      </a:pPr>
                      <a:r>
                        <a:rPr lang="en-US" sz="2000" b="1" dirty="0">
                          <a:latin typeface="Arial Black" pitchFamily="34" charset="0"/>
                        </a:rPr>
                        <a:t> And to place the patient in contact  precaution if admitted</a:t>
                      </a:r>
                    </a:p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en-US" sz="2000" b="1" dirty="0">
                          <a:latin typeface="Arial Black" pitchFamily="34" charset="0"/>
                        </a:rPr>
                        <a:t>     in </a:t>
                      </a:r>
                      <a:r>
                        <a:rPr lang="en-US" sz="2000" b="1" baseline="0" dirty="0">
                          <a:latin typeface="Arial Black" pitchFamily="34" charset="0"/>
                        </a:rPr>
                        <a:t>critical areas (PICU, PHD, NICU, AICU, MHD)  </a:t>
                      </a:r>
                      <a:r>
                        <a:rPr lang="en-US" sz="2000" b="1" dirty="0">
                          <a:latin typeface="Arial Black" pitchFamily="34" charset="0"/>
                        </a:rPr>
                        <a:t>till the</a:t>
                      </a:r>
                    </a:p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en-US" sz="2000" b="1" dirty="0">
                          <a:latin typeface="Arial Black" pitchFamily="34" charset="0"/>
                        </a:rPr>
                        <a:t>     result</a:t>
                      </a:r>
                      <a:r>
                        <a:rPr lang="en-US" sz="2000" b="1" baseline="0" dirty="0">
                          <a:latin typeface="Arial Black" pitchFamily="34" charset="0"/>
                        </a:rPr>
                        <a:t>  </a:t>
                      </a:r>
                      <a:r>
                        <a:rPr lang="en-US" sz="2000" b="1" dirty="0">
                          <a:latin typeface="Arial Black" pitchFamily="34" charset="0"/>
                        </a:rPr>
                        <a:t>released.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sz="2000" b="1" dirty="0">
                          <a:latin typeface="Arial Black" pitchFamily="34" charset="0"/>
                        </a:rPr>
                        <a:t>  If the result is  +,  continue contact isolation precaution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Arial Black" pitchFamily="34" charset="0"/>
                        </a:rPr>
                        <a:t>        as per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6296">
                <a:tc>
                  <a:txBody>
                    <a:bodyPr/>
                    <a:lstStyle/>
                    <a:p>
                      <a:pPr marL="342900" indent="-342900">
                        <a:buFont typeface="Wingdings" pitchFamily="2" charset="2"/>
                        <a:buChar char="q"/>
                      </a:pPr>
                      <a:endParaRPr lang="en-US" sz="2000" b="1" dirty="0">
                        <a:latin typeface="Arial Black" pitchFamily="34" charset="0"/>
                      </a:endParaRPr>
                    </a:p>
                    <a:p>
                      <a:pPr marL="342900" indent="-342900">
                        <a:buFont typeface="Wingdings" pitchFamily="2" charset="2"/>
                        <a:buChar char="q"/>
                      </a:pPr>
                      <a:r>
                        <a:rPr lang="en-US" sz="2000" b="1" dirty="0">
                          <a:latin typeface="Arial Black" pitchFamily="34" charset="0"/>
                        </a:rPr>
                        <a:t>If NON-URGENT admission</a:t>
                      </a:r>
                    </a:p>
                    <a:p>
                      <a:pPr marL="342900" indent="-342900">
                        <a:buFont typeface="Wingdings" pitchFamily="2" charset="2"/>
                        <a:buChar char="Ø"/>
                      </a:pPr>
                      <a:r>
                        <a:rPr lang="en-US" sz="2000" b="1" dirty="0">
                          <a:latin typeface="Arial Black" pitchFamily="34" charset="0"/>
                        </a:rPr>
                        <a:t> result is a   MUST   before accepting the patient,  accordingly  bed can be arrange if isolation or not</a:t>
                      </a:r>
                    </a:p>
                    <a:p>
                      <a:pPr marL="342900" indent="-342900">
                        <a:buFont typeface="Wingdings" pitchFamily="2" charset="2"/>
                        <a:buChar char="Ø"/>
                      </a:pPr>
                      <a:r>
                        <a:rPr lang="en-US" sz="2000" b="1" dirty="0">
                          <a:latin typeface="Arial Black" pitchFamily="34" charset="0"/>
                        </a:rPr>
                        <a:t>If result from referring hospital is  (-)  standard precautions should be applied. </a:t>
                      </a:r>
                    </a:p>
                    <a:p>
                      <a:pPr marL="342900" indent="-342900">
                        <a:buFont typeface="Wingdings" pitchFamily="2" charset="2"/>
                        <a:buChar char="Ø"/>
                      </a:pPr>
                      <a:r>
                        <a:rPr lang="en-US" sz="2000" b="1" dirty="0">
                          <a:latin typeface="Arial Black" pitchFamily="34" charset="0"/>
                        </a:rPr>
                        <a:t>If result is  (+),  referring hospital should fax the result to the concerned area of admission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882866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304800"/>
            <a:ext cx="762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 Black" pitchFamily="34" charset="0"/>
              </a:rPr>
              <a:t>  Transferring patient to other hospital</a:t>
            </a:r>
            <a:endParaRPr lang="en-US" sz="2400" dirty="0">
              <a:latin typeface="Arial Black" pitchFamily="34" charset="0"/>
            </a:endParaRPr>
          </a:p>
          <a:p>
            <a:r>
              <a:rPr lang="en-US" sz="2400" b="1" dirty="0">
                <a:latin typeface="Arial Black" pitchFamily="34" charset="0"/>
              </a:rPr>
              <a:t> </a:t>
            </a:r>
            <a:endParaRPr lang="en-US" sz="2400" dirty="0">
              <a:latin typeface="Arial Black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843834"/>
              </p:ext>
            </p:extLst>
          </p:nvPr>
        </p:nvGraphicFramePr>
        <p:xfrm>
          <a:off x="304800" y="1524000"/>
          <a:ext cx="8382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159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Arial Black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Arial Black" pitchFamily="34" charset="0"/>
                        </a:rPr>
                        <a:t>Patient can be screened before shifting to other   hospital if they are not on antibiotics  and not known to have been colonized/infected with  MDROs.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62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 Black" pitchFamily="34" charset="0"/>
                        </a:rPr>
                        <a:t> </a:t>
                      </a:r>
                    </a:p>
                    <a:p>
                      <a:r>
                        <a:rPr lang="en-US" sz="2400" dirty="0">
                          <a:latin typeface="Arial Black" pitchFamily="34" charset="0"/>
                        </a:rPr>
                        <a:t>In case the patient is still on antibiotics, inform the receiving hospital that the  screening is  not  indicated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37346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09800" y="228600"/>
            <a:ext cx="52578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400" b="1" dirty="0">
                <a:latin typeface="Arial Black" pitchFamily="34" charset="0"/>
                <a:cs typeface="Times New Roman" pitchFamily="18" charset="0"/>
              </a:rPr>
              <a:t>WHEN TO RE-SCREEN ?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185987"/>
              </p:ext>
            </p:extLst>
          </p:nvPr>
        </p:nvGraphicFramePr>
        <p:xfrm>
          <a:off x="216422" y="762000"/>
          <a:ext cx="8711156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1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2521">
                <a:tc>
                  <a:txBody>
                    <a:bodyPr/>
                    <a:lstStyle/>
                    <a:p>
                      <a:endParaRPr lang="en-US" sz="2000" dirty="0">
                        <a:latin typeface="Arial Black" pitchFamily="34" charset="0"/>
                      </a:endParaRPr>
                    </a:p>
                    <a:p>
                      <a:endParaRPr lang="en-US" sz="2000" dirty="0">
                        <a:latin typeface="Arial Black" pitchFamily="34" charset="0"/>
                      </a:endParaRPr>
                    </a:p>
                    <a:p>
                      <a:r>
                        <a:rPr lang="en-US" sz="2000" dirty="0">
                          <a:latin typeface="Arial Black" pitchFamily="34" charset="0"/>
                        </a:rPr>
                        <a:t>MRSA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aseline="0" dirty="0">
                          <a:latin typeface="Arial Black" pitchFamily="34" charset="0"/>
                        </a:rPr>
                        <a:t>Upon admission, ask mother if decolonization done at home?  </a:t>
                      </a:r>
                    </a:p>
                    <a:p>
                      <a:r>
                        <a:rPr lang="en-US" sz="2000" baseline="0" dirty="0">
                          <a:latin typeface="Arial Black" pitchFamily="34" charset="0"/>
                        </a:rPr>
                        <a:t>if “yes” ,   to re-screen. </a:t>
                      </a:r>
                    </a:p>
                    <a:p>
                      <a:r>
                        <a:rPr lang="en-US" sz="2000" baseline="0" dirty="0">
                          <a:latin typeface="Arial Black" pitchFamily="34" charset="0"/>
                        </a:rPr>
                        <a:t>If “no” or “incomplete”, no  need to re-screen.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Black" pitchFamily="34" charset="0"/>
                        </a:rPr>
                        <a:t>Complete Decolonization</a:t>
                      </a:r>
                      <a:r>
                        <a:rPr lang="en-US" sz="2000" baseline="0" dirty="0">
                          <a:latin typeface="Arial Black" pitchFamily="34" charset="0"/>
                        </a:rPr>
                        <a:t> –</a:t>
                      </a:r>
                      <a:r>
                        <a:rPr lang="en-US" sz="2000" dirty="0">
                          <a:latin typeface="Arial Black" pitchFamily="34" charset="0"/>
                        </a:rPr>
                        <a:t>bath given BID x </a:t>
                      </a:r>
                      <a:r>
                        <a:rPr lang="en-US" sz="2000" baseline="0" dirty="0">
                          <a:latin typeface="Arial Black" pitchFamily="34" charset="0"/>
                        </a:rPr>
                        <a:t>7 days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>
                          <a:latin typeface="Arial Black" pitchFamily="34" charset="0"/>
                        </a:rPr>
                        <a:t>Document  the reason why it was not done</a:t>
                      </a:r>
                    </a:p>
                    <a:p>
                      <a:endParaRPr lang="en-US" sz="2000" dirty="0">
                        <a:latin typeface="Arial Black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6400">
                <a:tc>
                  <a:txBody>
                    <a:bodyPr/>
                    <a:lstStyle/>
                    <a:p>
                      <a:endParaRPr lang="en-US" sz="2000" dirty="0">
                        <a:latin typeface="Arial Black" pitchFamily="34" charset="0"/>
                      </a:endParaRPr>
                    </a:p>
                    <a:p>
                      <a:r>
                        <a:rPr lang="en-US" sz="2000" dirty="0">
                          <a:latin typeface="Arial Black" pitchFamily="34" charset="0"/>
                        </a:rPr>
                        <a:t>CRE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b="0" dirty="0">
                        <a:latin typeface="Arial Black" pitchFamily="34" charset="0"/>
                      </a:endParaRPr>
                    </a:p>
                    <a:p>
                      <a:r>
                        <a:rPr lang="en-US" sz="2000" b="0" dirty="0">
                          <a:latin typeface="Arial Black" pitchFamily="34" charset="0"/>
                        </a:rPr>
                        <a:t>After 6 months from  +  result</a:t>
                      </a:r>
                    </a:p>
                    <a:p>
                      <a:endParaRPr lang="en-US" sz="2000" b="1" dirty="0">
                        <a:latin typeface="Arial Black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760">
                <a:tc>
                  <a:txBody>
                    <a:bodyPr/>
                    <a:lstStyle/>
                    <a:p>
                      <a:endParaRPr lang="en-US" sz="2000" dirty="0">
                        <a:latin typeface="Arial Black" pitchFamily="34" charset="0"/>
                      </a:endParaRPr>
                    </a:p>
                    <a:p>
                      <a:r>
                        <a:rPr lang="en-US" sz="2000" dirty="0">
                          <a:latin typeface="Arial Black" pitchFamily="34" charset="0"/>
                        </a:rPr>
                        <a:t>VRE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Arial Black" pitchFamily="34" charset="0"/>
                        </a:rPr>
                        <a:t>Rescreening is done monthly for chronic frequently admitted patient</a:t>
                      </a:r>
                    </a:p>
                    <a:p>
                      <a:endParaRPr lang="en-US" sz="2000" b="1" dirty="0">
                        <a:latin typeface="Arial Black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endParaRPr lang="en-US" sz="20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latin typeface="Arial Black" pitchFamily="34" charset="0"/>
                        </a:rPr>
                        <a:t>         ------ NOTE  -----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5720">
                <a:tc>
                  <a:txBody>
                    <a:bodyPr/>
                    <a:lstStyle/>
                    <a:p>
                      <a:endParaRPr lang="en-US" sz="20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en-US" sz="2000" b="1" dirty="0">
                          <a:latin typeface="Arial Black" pitchFamily="34" charset="0"/>
                          <a:cs typeface="Times New Roman" pitchFamily="18" charset="0"/>
                        </a:rPr>
                        <a:t>Screening/ re-screening should not be done if patient on antibiotic.</a:t>
                      </a:r>
                      <a:r>
                        <a:rPr lang="en-US" sz="2000" b="1" baseline="0" dirty="0">
                          <a:latin typeface="Arial Black" pitchFamily="34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en-US" sz="2000" b="1" dirty="0">
                          <a:latin typeface="Arial Black" pitchFamily="34" charset="0"/>
                          <a:cs typeface="Times New Roman" pitchFamily="18" charset="0"/>
                        </a:rPr>
                        <a:t>After antibiotic to wait for 72</a:t>
                      </a:r>
                      <a:r>
                        <a:rPr lang="en-US" sz="2000" b="1" baseline="0" dirty="0">
                          <a:latin typeface="Arial Black" pitchFamily="34" charset="0"/>
                          <a:cs typeface="Times New Roman" pitchFamily="18" charset="0"/>
                        </a:rPr>
                        <a:t> hours</a:t>
                      </a:r>
                      <a:r>
                        <a:rPr lang="en-US" sz="2000" b="1" dirty="0">
                          <a:latin typeface="Arial Black" pitchFamily="34" charset="0"/>
                          <a:cs typeface="Times New Roman" pitchFamily="18" charset="0"/>
                        </a:rPr>
                        <a:t>, then to repeat screening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04209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17470"/>
            <a:ext cx="78567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 Black" pitchFamily="34" charset="0"/>
              </a:rPr>
              <a:t>                    Sites to swab?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916257"/>
              </p:ext>
            </p:extLst>
          </p:nvPr>
        </p:nvGraphicFramePr>
        <p:xfrm>
          <a:off x="152400" y="758663"/>
          <a:ext cx="8839200" cy="5991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24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Specimen</a:t>
                      </a:r>
                      <a:endParaRPr lang="en-US" sz="1800" b="1" dirty="0">
                        <a:effectLst/>
                        <a:latin typeface="Arial Rounded MT Bold" pitchFamily="34" charset="0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     MRSA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MDRA/CRE</a:t>
                      </a:r>
                    </a:p>
                    <a:p>
                      <a:pPr algn="ctr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VRE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8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Arial Rounded MT Bold" pitchFamily="34" charset="0"/>
                        </a:rPr>
                        <a:t>Culture</a:t>
                      </a:r>
                      <a:r>
                        <a:rPr lang="en-US" sz="1800" b="1" baseline="0" dirty="0">
                          <a:effectLst/>
                          <a:latin typeface="Arial Rounded MT Bold" pitchFamily="34" charset="0"/>
                        </a:rPr>
                        <a:t> </a:t>
                      </a:r>
                      <a:r>
                        <a:rPr lang="en-US" sz="1800" dirty="0">
                          <a:effectLst/>
                        </a:rPr>
                        <a:t>(charcoal)</a:t>
                      </a:r>
                      <a:endParaRPr lang="en-US" sz="1800" b="0" dirty="0">
                        <a:effectLst/>
                        <a:latin typeface="Arial Rounded MT Bold" pitchFamily="34" charset="0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Arial Rounded MT Bold" pitchFamily="34" charset="0"/>
                        </a:rPr>
                        <a:t>Nasal, axilla, groin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Arial Rounded MT Bold" pitchFamily="34" charset="0"/>
                        </a:rPr>
                        <a:t>Throat &amp; rectal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Rectal swab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61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Arial Rounded MT Bold" pitchFamily="34" charset="0"/>
                        </a:rPr>
                        <a:t>Tracheostomy 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Arial Rounded MT Bold" pitchFamily="34" charset="0"/>
                        </a:rPr>
                        <a:t>Tracheostomy 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322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Rounded MT Bold" pitchFamily="34" charset="0"/>
                        </a:rPr>
                        <a:t>ET secretion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Rounded MT Bold" pitchFamily="34" charset="0"/>
                        </a:rPr>
                        <a:t>(ventilated pt.)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Rounded MT Bold" pitchFamily="34" charset="0"/>
                        </a:rPr>
                        <a:t>ET secretion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Rounded MT Bold" pitchFamily="34" charset="0"/>
                        </a:rPr>
                        <a:t>(ventilated pt.)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 Rounded MT Bold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437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  <a:latin typeface="Arial Rounded MT Bold" pitchFamily="34" charset="0"/>
                        </a:rPr>
                        <a:t>Wound (if present)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Arial Rounded MT Bold" pitchFamily="34" charset="0"/>
                        </a:rPr>
                        <a:t>Wound </a:t>
                      </a:r>
                    </a:p>
                    <a:p>
                      <a:pPr algn="ctr"/>
                      <a:r>
                        <a:rPr lang="en-US" sz="1800" dirty="0">
                          <a:effectLst/>
                          <a:latin typeface="Arial Rounded MT Bold" pitchFamily="34" charset="0"/>
                        </a:rPr>
                        <a:t>(if</a:t>
                      </a:r>
                      <a:r>
                        <a:rPr lang="en-US" sz="1800" baseline="0" dirty="0">
                          <a:effectLst/>
                          <a:latin typeface="Arial Rounded MT Bold" pitchFamily="34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Arial Rounded MT Bold" pitchFamily="34" charset="0"/>
                        </a:rPr>
                        <a:t>present)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PCR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>
                          <a:effectLst/>
                        </a:rPr>
                        <a:t>     </a:t>
                      </a:r>
                      <a:r>
                        <a:rPr lang="en-US" sz="1800" dirty="0">
                          <a:effectLst/>
                        </a:rPr>
                        <a:t>(red top)</a:t>
                      </a:r>
                      <a:endParaRPr lang="en-US" sz="1800" b="0" dirty="0">
                        <a:effectLst/>
                        <a:latin typeface="Arial Rounded MT Bold" pitchFamily="34" charset="0"/>
                        <a:ea typeface="Calibri"/>
                        <a:cs typeface="Times New Roman"/>
                      </a:endParaRP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Rounded MT Bold" pitchFamily="34" charset="0"/>
                        </a:rPr>
                        <a:t>Nasal swab 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Rounded MT Bold" pitchFamily="34" charset="0"/>
                        </a:rPr>
                        <a:t>(Only for cases posted for urgent cardiothoracic surgery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  <a:p>
                      <a:pPr algn="ctr"/>
                      <a:r>
                        <a:rPr lang="en-US" sz="1800" dirty="0"/>
                        <a:t>-----NONE----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/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---NONE---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163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Rounded MT Bold" pitchFamily="34" charset="0"/>
                        </a:rPr>
                        <a:t>Urine</a:t>
                      </a:r>
                      <a:r>
                        <a:rPr lang="en-US" sz="1800" baseline="0" dirty="0">
                          <a:latin typeface="Arial Rounded MT Bold" pitchFamily="34" charset="0"/>
                        </a:rPr>
                        <a:t> culture sterile container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Rounded MT Bold" pitchFamily="34" charset="0"/>
                        </a:rPr>
                        <a:t>Urine 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Rounded MT Bold" pitchFamily="34" charset="0"/>
                        </a:rPr>
                        <a:t>(catheterized patient)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Rounded MT Bold" pitchFamily="34" charset="0"/>
                        </a:rPr>
                        <a:t>Urine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Rounded MT Bold" pitchFamily="34" charset="0"/>
                        </a:rPr>
                        <a:t>(catheterized patient)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86514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228600"/>
            <a:ext cx="8991600" cy="695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400" b="1" dirty="0">
                <a:latin typeface="Arial Rounded MT Bold" pitchFamily="34" charset="0"/>
                <a:ea typeface="Calibri"/>
                <a:cs typeface="Times New Roman"/>
              </a:rPr>
              <a:t>                          </a:t>
            </a:r>
            <a:r>
              <a:rPr lang="en-US" sz="2800" b="1" u="sng" dirty="0">
                <a:latin typeface="Algerian" pitchFamily="82" charset="0"/>
                <a:ea typeface="Calibri"/>
                <a:cs typeface="Times New Roman" pitchFamily="18" charset="0"/>
              </a:rPr>
              <a:t>HOW TO COLLECT  SWAB?</a:t>
            </a:r>
          </a:p>
          <a:p>
            <a:pPr>
              <a:lnSpc>
                <a:spcPct val="115000"/>
              </a:lnSpc>
            </a:pPr>
            <a:endParaRPr lang="en-US" sz="2400" b="1" u="sng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400" b="1" u="sng" dirty="0">
                <a:latin typeface="Arial Black" pitchFamily="34" charset="0"/>
                <a:ea typeface="Calibri"/>
                <a:cs typeface="Times New Roman" pitchFamily="18" charset="0"/>
              </a:rPr>
              <a:t>MRSA screening:</a:t>
            </a:r>
          </a:p>
          <a:p>
            <a:pPr>
              <a:lnSpc>
                <a:spcPct val="115000"/>
              </a:lnSpc>
            </a:pPr>
            <a:endParaRPr lang="en-US" sz="2400" b="1" u="sng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</a:pPr>
            <a:endParaRPr lang="en-US" sz="2400" b="1" u="sng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</a:pPr>
            <a:endParaRPr lang="en-US" sz="2400" b="1" u="sng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</a:pPr>
            <a:endParaRPr lang="en-US" sz="2400" b="1" u="sng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</a:pPr>
            <a:endParaRPr lang="en-US" sz="2400" b="1" u="sng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</a:pPr>
            <a:endParaRPr lang="en-US" sz="2400" b="1" u="sng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</a:pPr>
            <a:endParaRPr lang="en-US" sz="2400" b="1" u="sng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</a:pPr>
            <a:endParaRPr lang="en-US" sz="2400" b="1" u="sng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</a:pPr>
            <a:endParaRPr lang="en-US" sz="2400" b="1" u="sng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</a:pPr>
            <a:endParaRPr lang="en-US" sz="2400" b="1" u="sng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</a:pPr>
            <a:endParaRPr lang="en-US" sz="2400" b="1" u="sng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</a:pPr>
            <a:endParaRPr lang="en-US" sz="2400" b="1" u="sng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</a:pPr>
            <a:endParaRPr lang="en-US" sz="2400" b="1" u="sng" dirty="0">
              <a:latin typeface="Arial Black" pitchFamily="34" charset="0"/>
              <a:ea typeface="Calibri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71045"/>
              </p:ext>
            </p:extLst>
          </p:nvPr>
        </p:nvGraphicFramePr>
        <p:xfrm>
          <a:off x="41031" y="1676400"/>
          <a:ext cx="9067800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0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300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15000"/>
                        </a:lnSpc>
                        <a:buFont typeface="Wingdings" pitchFamily="2" charset="2"/>
                        <a:buChar char="v"/>
                      </a:pPr>
                      <a:r>
                        <a:rPr lang="en-US" sz="2000" b="1" u="sng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Nasal swab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15000"/>
                        </a:lnSpc>
                        <a:buFont typeface="Wingdings" pitchFamily="2" charset="2"/>
                        <a:buChar char="q"/>
                      </a:pPr>
                      <a:r>
                        <a:rPr lang="en-US" sz="2000" b="1" dirty="0">
                          <a:latin typeface="Arial Black" pitchFamily="34" charset="0"/>
                          <a:ea typeface="Calibri"/>
                          <a:cs typeface="DokChampa" pitchFamily="34" charset="-34"/>
                        </a:rPr>
                        <a:t>Insert the </a:t>
                      </a:r>
                      <a:r>
                        <a:rPr lang="en-US" sz="2000" b="1">
                          <a:latin typeface="Arial Black" pitchFamily="34" charset="0"/>
                          <a:ea typeface="Calibri"/>
                          <a:cs typeface="DokChampa" pitchFamily="34" charset="-34"/>
                        </a:rPr>
                        <a:t>swab into </a:t>
                      </a:r>
                      <a:r>
                        <a:rPr lang="en-US" sz="2000" b="1" dirty="0">
                          <a:latin typeface="Arial Black" pitchFamily="34" charset="0"/>
                          <a:ea typeface="Calibri"/>
                          <a:cs typeface="DokChampa" pitchFamily="34" charset="-34"/>
                        </a:rPr>
                        <a:t>the first nostril next to the nasal septum.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q"/>
                      </a:pPr>
                      <a:r>
                        <a:rPr lang="en-US" sz="2000" b="1" dirty="0">
                          <a:latin typeface="Arial Black" pitchFamily="34" charset="0"/>
                          <a:ea typeface="Calibri"/>
                          <a:cs typeface="DokChampa" pitchFamily="34" charset="-34"/>
                        </a:rPr>
                        <a:t>Rotate the swab against the anterior nasal mucosa for 3-5 seconds. 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q"/>
                      </a:pPr>
                      <a:r>
                        <a:rPr lang="en-US" sz="2000" b="1" dirty="0">
                          <a:latin typeface="Arial Black" pitchFamily="34" charset="0"/>
                          <a:ea typeface="Calibri"/>
                          <a:cs typeface="DokChampa" pitchFamily="34" charset="-34"/>
                        </a:rPr>
                        <a:t>Use  the same swab, repeat it to the other  nostril</a:t>
                      </a:r>
                      <a:r>
                        <a:rPr lang="en-US" sz="2000" b="1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8100">
                <a:tc>
                  <a:txBody>
                    <a:bodyPr/>
                    <a:lstStyle/>
                    <a:p>
                      <a:r>
                        <a:rPr lang="en-US" sz="2000" b="1" u="sng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Axillary and Groin swabs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15000"/>
                        </a:lnSpc>
                        <a:buFont typeface="Wingdings" pitchFamily="2" charset="2"/>
                        <a:buChar char="q"/>
                      </a:pPr>
                      <a:r>
                        <a:rPr lang="en-US" sz="2000" b="1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Clean the site first with Normal Saline to remove debris </a:t>
                      </a:r>
                    </a:p>
                    <a:p>
                      <a:pPr marL="342900" indent="-342900">
                        <a:lnSpc>
                          <a:spcPct val="115000"/>
                        </a:lnSpc>
                        <a:buFont typeface="Wingdings" pitchFamily="2" charset="2"/>
                        <a:buChar char="q"/>
                      </a:pPr>
                      <a:r>
                        <a:rPr lang="en-US" sz="2000" b="1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Pre-moisten the swab with sterile Normal Saline before</a:t>
                      </a:r>
                      <a:r>
                        <a:rPr lang="en-US" sz="2000" b="1" baseline="0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 </a:t>
                      </a:r>
                      <a:r>
                        <a:rPr lang="en-US" sz="2000" b="1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swabbing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q"/>
                      </a:pPr>
                      <a:r>
                        <a:rPr lang="en-US" sz="2000" b="1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Use the same swab for identical sites:  </a:t>
                      </a:r>
                    </a:p>
                    <a:p>
                      <a:pPr marR="0" lv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           ---one swab for  both axilla </a:t>
                      </a:r>
                    </a:p>
                    <a:p>
                      <a:pPr marR="0" lv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           ---and one swab for both inguinal areas</a:t>
                      </a:r>
                      <a:r>
                        <a:rPr lang="en-US" sz="2000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88652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0"/>
            <a:ext cx="8534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endParaRPr lang="en-US" sz="2400" b="1" u="sng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400" u="sng" dirty="0">
                <a:latin typeface="Arial Black" pitchFamily="34" charset="0"/>
                <a:ea typeface="Calibri"/>
                <a:cs typeface="Times New Roman" pitchFamily="18" charset="0"/>
              </a:rPr>
              <a:t>CRE, MDRAB, VRE screening:</a:t>
            </a:r>
          </a:p>
          <a:p>
            <a:pPr algn="ctr"/>
            <a:endParaRPr lang="en-US" sz="2400" u="sng" dirty="0">
              <a:latin typeface="Baskerville Old Face" pitchFamily="18" charset="0"/>
              <a:ea typeface="Calibri"/>
              <a:cs typeface="Times New Roman" pitchFamily="18" charset="0"/>
            </a:endParaRPr>
          </a:p>
          <a:p>
            <a:pPr algn="ctr"/>
            <a:endParaRPr lang="en-US" sz="3200" u="sng" dirty="0">
              <a:latin typeface="Baskerville Old Face" pitchFamily="18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</a:pPr>
            <a:endParaRPr lang="en-US" sz="2800" b="1" dirty="0">
              <a:latin typeface="Arial Rounded MT Bold" pitchFamily="34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</a:pPr>
            <a:endParaRPr lang="en-US" sz="2800" b="1" dirty="0">
              <a:latin typeface="Arial Rounded MT Bold" pitchFamily="34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</a:pPr>
            <a:endParaRPr lang="en-US" sz="2800" b="1" dirty="0">
              <a:latin typeface="Arial Rounded MT Bold" pitchFamily="34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</a:pPr>
            <a:endParaRPr lang="en-US" sz="2800" b="1" dirty="0">
              <a:latin typeface="Arial Rounded MT Bold" pitchFamily="34" charset="0"/>
              <a:ea typeface="Calibri"/>
              <a:cs typeface="Times New Roman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827439"/>
              </p:ext>
            </p:extLst>
          </p:nvPr>
        </p:nvGraphicFramePr>
        <p:xfrm>
          <a:off x="152400" y="1752600"/>
          <a:ext cx="88392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8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332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u="sng" dirty="0">
                        <a:latin typeface="Arial Black" pitchFamily="34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Throat swab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q"/>
                      </a:pPr>
                      <a:endParaRPr lang="en-US" sz="2400" b="1" dirty="0">
                        <a:latin typeface="Arial Black" pitchFamily="34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q"/>
                      </a:pPr>
                      <a:r>
                        <a:rPr lang="en-US" sz="2400" b="1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Rotate the swab against the </a:t>
                      </a:r>
                      <a:r>
                        <a:rPr lang="en-US" sz="2400" b="1" dirty="0" err="1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tonsillar</a:t>
                      </a:r>
                      <a:r>
                        <a:rPr lang="en-US" sz="2400" b="1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 area and pillars of the </a:t>
                      </a:r>
                      <a:r>
                        <a:rPr lang="en-US" sz="2400" b="1" dirty="0" err="1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fauces</a:t>
                      </a:r>
                      <a:r>
                        <a:rPr lang="en-US" sz="2400" b="1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 for 3-5 seconds.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q"/>
                      </a:pPr>
                      <a:endParaRPr lang="en-US" sz="2400" b="1" dirty="0">
                        <a:latin typeface="Arial Black" pitchFamily="34" charset="0"/>
                        <a:ea typeface="Calibri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7321"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buFont typeface="Wingdings" pitchFamily="2" charset="2"/>
                        <a:buNone/>
                      </a:pPr>
                      <a:endParaRPr lang="en-US" sz="2400" b="1" u="sng" dirty="0">
                        <a:latin typeface="Arial Black" pitchFamily="34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indent="0">
                        <a:lnSpc>
                          <a:spcPct val="115000"/>
                        </a:lnSpc>
                        <a:buFont typeface="Wingdings" pitchFamily="2" charset="2"/>
                        <a:buNone/>
                      </a:pPr>
                      <a:r>
                        <a:rPr lang="en-US" sz="2400" b="1" u="sng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Rectal swab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  <a:defRPr/>
                      </a:pPr>
                      <a:endParaRPr lang="en-US" sz="2400" b="1" dirty="0">
                        <a:latin typeface="Arial Black" pitchFamily="34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  <a:defRPr/>
                      </a:pPr>
                      <a:r>
                        <a:rPr lang="en-US" sz="2400" b="1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Rotate the swab against the external orifice. If visible stool is not obtained on the swab, insert it few cm into the rectum until visible stool is obtained.</a:t>
                      </a:r>
                      <a:endParaRPr lang="en-US" sz="2400" b="1" dirty="0">
                        <a:latin typeface="Arial Black" pitchFamily="34" charset="0"/>
                        <a:cs typeface="Times New Roman" pitchFamily="18" charset="0"/>
                      </a:endParaRP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53949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337263"/>
              </p:ext>
            </p:extLst>
          </p:nvPr>
        </p:nvGraphicFramePr>
        <p:xfrm>
          <a:off x="152400" y="152400"/>
          <a:ext cx="8839200" cy="65645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0619">
                <a:tc>
                  <a:txBody>
                    <a:bodyPr/>
                    <a:lstStyle/>
                    <a:p>
                      <a:pPr lvl="0" algn="ctr"/>
                      <a:r>
                        <a:rPr lang="en-US" sz="2400" b="1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GENERAL PROCEDURE IN COLLECTING SWAB:  </a:t>
                      </a:r>
                    </a:p>
                    <a:p>
                      <a:pPr lvl="0" algn="ctr"/>
                      <a:endParaRPr lang="en-US" sz="2400" b="1" dirty="0">
                        <a:latin typeface="Arial Black" pitchFamily="34" charset="0"/>
                        <a:ea typeface="Calibri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1581">
                <a:tc>
                  <a:txBody>
                    <a:bodyPr/>
                    <a:lstStyle/>
                    <a:p>
                      <a:pPr marL="342900" lvl="0" indent="-342900">
                        <a:buFont typeface="Wingdings" pitchFamily="2" charset="2"/>
                        <a:buChar char="Ø"/>
                      </a:pPr>
                      <a:r>
                        <a:rPr lang="en-US" sz="2400" dirty="0">
                          <a:latin typeface="Arial Black" pitchFamily="34" charset="0"/>
                        </a:rPr>
                        <a:t>Before collecting, explain the procedure to the patient/parents.</a:t>
                      </a:r>
                    </a:p>
                    <a:p>
                      <a:pPr marL="342900" lvl="0" indent="-342900">
                        <a:buFont typeface="Wingdings" pitchFamily="2" charset="2"/>
                        <a:buChar char="Ø"/>
                      </a:pPr>
                      <a:r>
                        <a:rPr lang="en-US" sz="2400" dirty="0">
                          <a:latin typeface="Arial Black" pitchFamily="34" charset="0"/>
                        </a:rPr>
                        <a:t>Provide privacy and comfort.</a:t>
                      </a:r>
                    </a:p>
                    <a:p>
                      <a:pPr marL="342900" lvl="0" indent="-342900">
                        <a:buFont typeface="Wingdings" pitchFamily="2" charset="2"/>
                        <a:buChar char="Ø"/>
                      </a:pPr>
                      <a:r>
                        <a:rPr lang="en-US" sz="2400" dirty="0">
                          <a:latin typeface="Arial Black" pitchFamily="34" charset="0"/>
                        </a:rPr>
                        <a:t>Do hand hygiene and wear</a:t>
                      </a:r>
                      <a:r>
                        <a:rPr lang="en-US" sz="2400" baseline="0" dirty="0">
                          <a:latin typeface="Arial Black" pitchFamily="34" charset="0"/>
                        </a:rPr>
                        <a:t> </a:t>
                      </a:r>
                      <a:r>
                        <a:rPr lang="en-US" sz="2400" dirty="0">
                          <a:latin typeface="Arial Black" pitchFamily="34" charset="0"/>
                        </a:rPr>
                        <a:t>disposable gloves </a:t>
                      </a:r>
                    </a:p>
                    <a:p>
                      <a:pPr marL="342900" lvl="0" indent="-342900">
                        <a:buFont typeface="Wingdings" pitchFamily="2" charset="2"/>
                        <a:buChar char="Ø"/>
                      </a:pPr>
                      <a:r>
                        <a:rPr lang="en-US" sz="2400" dirty="0">
                          <a:latin typeface="Arial Black" pitchFamily="34" charset="0"/>
                        </a:rPr>
                        <a:t>Swab wounds/skin lesions/incisions/ulcers or central line exit site if present with separate swabs.</a:t>
                      </a:r>
                    </a:p>
                    <a:p>
                      <a:pPr marL="342900" lvl="0" indent="-342900">
                        <a:buFont typeface="Wingdings" pitchFamily="2" charset="2"/>
                        <a:buChar char="Ø"/>
                      </a:pPr>
                      <a:r>
                        <a:rPr lang="en-US" sz="2400" dirty="0">
                          <a:latin typeface="Arial Black" pitchFamily="34" charset="0"/>
                        </a:rPr>
                        <a:t>Carefully place used swab back into transport tube,  and secure.</a:t>
                      </a:r>
                    </a:p>
                    <a:p>
                      <a:pPr marL="342900" lvl="0" indent="-342900">
                        <a:buFont typeface="Wingdings" pitchFamily="2" charset="2"/>
                        <a:buChar char="Ø"/>
                      </a:pPr>
                      <a:r>
                        <a:rPr lang="en-US" sz="2400" dirty="0">
                          <a:latin typeface="Arial Black" pitchFamily="34" charset="0"/>
                        </a:rPr>
                        <a:t>All swabs collected should be correctly labeled with patient sticker or hospital number, screened</a:t>
                      </a:r>
                    </a:p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en-US" sz="2400" dirty="0">
                          <a:latin typeface="Arial Black" pitchFamily="34" charset="0"/>
                        </a:rPr>
                        <a:t>  </a:t>
                      </a:r>
                      <a:r>
                        <a:rPr lang="en-US" sz="2400" baseline="0" dirty="0">
                          <a:latin typeface="Arial Black" pitchFamily="34" charset="0"/>
                        </a:rPr>
                        <a:t>  s</a:t>
                      </a:r>
                      <a:r>
                        <a:rPr lang="en-US" sz="2400" dirty="0">
                          <a:latin typeface="Arial Black" pitchFamily="34" charset="0"/>
                        </a:rPr>
                        <a:t>ite and MDRO code (MRSA, CRE, MDRAB, VRE,</a:t>
                      </a:r>
                    </a:p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en-US" sz="2400" dirty="0">
                          <a:latin typeface="Arial Black" pitchFamily="34" charset="0"/>
                        </a:rPr>
                        <a:t>   </a:t>
                      </a:r>
                      <a:r>
                        <a:rPr lang="en-US" sz="2400" dirty="0" err="1">
                          <a:latin typeface="Arial Black" pitchFamily="34" charset="0"/>
                        </a:rPr>
                        <a:t>C.auris</a:t>
                      </a:r>
                      <a:r>
                        <a:rPr lang="en-US" sz="2400" dirty="0">
                          <a:latin typeface="Arial Black" pitchFamily="34" charset="0"/>
                        </a:rPr>
                        <a:t>….</a:t>
                      </a:r>
                      <a:r>
                        <a:rPr lang="en-US" sz="2400" dirty="0" err="1">
                          <a:latin typeface="Arial Black" pitchFamily="34" charset="0"/>
                        </a:rPr>
                        <a:t>etc</a:t>
                      </a:r>
                      <a:r>
                        <a:rPr lang="en-US" sz="2400" dirty="0">
                          <a:latin typeface="Arial Black" pitchFamily="34" charset="0"/>
                        </a:rPr>
                        <a:t>) for screening</a:t>
                      </a:r>
                    </a:p>
                    <a:p>
                      <a:pPr marL="342900" lvl="0" indent="-342900">
                        <a:buFont typeface="Wingdings" pitchFamily="2" charset="2"/>
                        <a:buChar char="Ø"/>
                      </a:pPr>
                      <a:r>
                        <a:rPr lang="en-US" sz="2400" dirty="0">
                          <a:latin typeface="Arial Black" pitchFamily="34" charset="0"/>
                        </a:rPr>
                        <a:t>Make sure that the patient is not on antibiotic for the last 72 hours.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45535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013" y="1160583"/>
            <a:ext cx="24384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24000" y="253161"/>
            <a:ext cx="61722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</a:t>
            </a:r>
            <a:r>
              <a:rPr lang="en-US" sz="2400" dirty="0">
                <a:latin typeface="Arial Black" pitchFamily="34" charset="0"/>
              </a:rPr>
              <a:t>PPE  FOR MDRO                  </a:t>
            </a:r>
          </a:p>
        </p:txBody>
      </p:sp>
      <p:pic>
        <p:nvPicPr>
          <p:cNvPr id="2052" name="Picture 4" descr="https://3.imimg.com/data3/MB/OF/GLADMIN-84444/isolation-gown-250x25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6400"/>
            <a:ext cx="2593732" cy="3560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66" y="1159409"/>
            <a:ext cx="2968868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28600" y="5405735"/>
            <a:ext cx="8229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latin typeface="Arial Rounded MT Bold" pitchFamily="34" charset="0"/>
              </a:rPr>
              <a:t>1. Gown                    2. Surgical  mask              3.  Gloves   </a:t>
            </a:r>
          </a:p>
          <a:p>
            <a:pPr lvl="0"/>
            <a:endParaRPr lang="en-US" sz="2000" b="1" dirty="0">
              <a:latin typeface="Arial Rounded MT Bold" pitchFamily="34" charset="0"/>
            </a:endParaRPr>
          </a:p>
          <a:p>
            <a:pPr lvl="0"/>
            <a:r>
              <a:rPr lang="en-US" sz="2000" b="1" dirty="0">
                <a:latin typeface="Arial Rounded MT Bold" pitchFamily="34" charset="0"/>
              </a:rPr>
              <a:t>4.    Face shield or goggle  if there ‘s  a risk of splashing of blood and body fluids .</a:t>
            </a:r>
          </a:p>
        </p:txBody>
      </p:sp>
      <p:pic>
        <p:nvPicPr>
          <p:cNvPr id="1026" name="Picture 2" descr="Safety Google - Personal Protective Goggles- (OBS001) Exporter from Noi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166402"/>
            <a:ext cx="2667000" cy="2070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5506" y="3107637"/>
            <a:ext cx="2919413" cy="2144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552471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32479"/>
            <a:ext cx="8839199" cy="674030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 Black" pitchFamily="34" charset="0"/>
              </a:rPr>
              <a:t>Things to remember:  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b="1" dirty="0">
                <a:latin typeface="Arial Black" pitchFamily="34" charset="0"/>
              </a:rPr>
              <a:t>Any patient screened for MDRO should be isolated till result is released</a:t>
            </a:r>
          </a:p>
          <a:p>
            <a:endParaRPr lang="en-US" sz="2400" b="1" dirty="0">
              <a:latin typeface="Arial Black" pitchFamily="34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>
                <a:latin typeface="Arial Black" pitchFamily="34" charset="0"/>
                <a:ea typeface="Calibri"/>
                <a:cs typeface="Times New Roman" pitchFamily="18" charset="0"/>
              </a:rPr>
              <a:t> Any patient positive  or suspected for MDRO should follow contact isolation policy 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latin typeface="Arial Black" pitchFamily="34" charset="0"/>
                <a:ea typeface="Times New Roman"/>
                <a:cs typeface="Times New Roman" pitchFamily="18" charset="0"/>
              </a:rPr>
              <a:t>Isolation precaution  can be  done by placing patient in single room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latin typeface="Arial Black" pitchFamily="34" charset="0"/>
                <a:ea typeface="Times New Roman"/>
                <a:cs typeface="Times New Roman" pitchFamily="18" charset="0"/>
              </a:rPr>
              <a:t>or cohort when single room is not available and where several patients with same confirmed organism   </a:t>
            </a:r>
            <a:r>
              <a:rPr lang="en-US" sz="2400" dirty="0" err="1">
                <a:latin typeface="Arial Black" pitchFamily="34" charset="0"/>
                <a:ea typeface="Times New Roman"/>
                <a:cs typeface="Times New Roman" pitchFamily="18" charset="0"/>
              </a:rPr>
              <a:t>eg</a:t>
            </a:r>
            <a:r>
              <a:rPr lang="en-US" sz="2400" dirty="0">
                <a:latin typeface="Arial Black" pitchFamily="34" charset="0"/>
                <a:ea typeface="Times New Roman"/>
                <a:cs typeface="Times New Roman" pitchFamily="18" charset="0"/>
              </a:rPr>
              <a:t>. MRSA </a:t>
            </a:r>
          </a:p>
          <a:p>
            <a:endParaRPr lang="en-US" sz="2400" dirty="0">
              <a:latin typeface="Arial Black" pitchFamily="34" charset="0"/>
            </a:endParaRPr>
          </a:p>
          <a:p>
            <a:pPr marL="342900" lvl="0" indent="-342900">
              <a:buFont typeface="Wingdings" pitchFamily="2" charset="2"/>
              <a:buChar char="q"/>
            </a:pPr>
            <a:r>
              <a:rPr lang="en-US" sz="2400" dirty="0">
                <a:latin typeface="Arial Black" pitchFamily="34" charset="0"/>
              </a:rPr>
              <a:t>Treat all body fluid as potentially infectious </a:t>
            </a:r>
          </a:p>
          <a:p>
            <a:pPr lvl="0"/>
            <a:r>
              <a:rPr lang="en-US" sz="2400" dirty="0">
                <a:latin typeface="Arial Black" pitchFamily="34" charset="0"/>
              </a:rPr>
              <a:t> </a:t>
            </a:r>
          </a:p>
          <a:p>
            <a:pPr marL="342900" lvl="0" indent="-342900">
              <a:buFont typeface="Wingdings" pitchFamily="2" charset="2"/>
              <a:buChar char="q"/>
            </a:pPr>
            <a:r>
              <a:rPr lang="en-US" sz="2400" dirty="0">
                <a:latin typeface="Arial Black" pitchFamily="34" charset="0"/>
              </a:rPr>
              <a:t>Dispose waste according to hospital policy adhering aseptic technique when requiring </a:t>
            </a:r>
          </a:p>
          <a:p>
            <a:pPr marL="342900" lvl="0" indent="-342900">
              <a:buFont typeface="Wingdings" pitchFamily="2" charset="2"/>
              <a:buChar char="q"/>
            </a:pPr>
            <a:endParaRPr lang="en-US" sz="2400" dirty="0">
              <a:latin typeface="Arial Black" pitchFamily="34" charset="0"/>
            </a:endParaRPr>
          </a:p>
          <a:p>
            <a:pPr marL="342900" lvl="0" indent="-342900">
              <a:buFont typeface="Wingdings" pitchFamily="2" charset="2"/>
              <a:buChar char="q"/>
            </a:pPr>
            <a:endParaRPr lang="en-US" sz="24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686258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228600"/>
            <a:ext cx="8763000" cy="646330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914400" marR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US" sz="2400" b="1" u="sng" dirty="0">
                <a:latin typeface="Arial Black" pitchFamily="34" charset="0"/>
                <a:ea typeface="Calibri"/>
                <a:cs typeface="Times New Roman" pitchFamily="18" charset="0"/>
              </a:rPr>
              <a:t>Admission </a:t>
            </a:r>
            <a:r>
              <a:rPr lang="en-US" sz="2800" b="1" u="sng" dirty="0">
                <a:latin typeface="Arial Black" pitchFamily="34" charset="0"/>
                <a:ea typeface="Calibri"/>
                <a:cs typeface="Times New Roman" pitchFamily="18" charset="0"/>
              </a:rPr>
              <a:t>:</a:t>
            </a:r>
          </a:p>
          <a:p>
            <a:pPr marL="571500" indent="-342900">
              <a:lnSpc>
                <a:spcPct val="115000"/>
              </a:lnSpc>
              <a:buFont typeface="Wingdings" pitchFamily="2" charset="2"/>
              <a:buChar char="q"/>
            </a:pPr>
            <a:endParaRPr lang="en-US" sz="2400" dirty="0">
              <a:latin typeface="Arial Black" pitchFamily="34" charset="0"/>
              <a:ea typeface="Calibri"/>
              <a:cs typeface="Times New Roman"/>
            </a:endParaRPr>
          </a:p>
          <a:p>
            <a:pPr marL="571500" indent="-342900">
              <a:lnSpc>
                <a:spcPct val="115000"/>
              </a:lnSpc>
              <a:buFont typeface="Wingdings" pitchFamily="2" charset="2"/>
              <a:buChar char="q"/>
            </a:pPr>
            <a:r>
              <a:rPr lang="en-US" sz="2400" dirty="0">
                <a:latin typeface="Arial Black" pitchFamily="34" charset="0"/>
                <a:ea typeface="Calibri"/>
                <a:cs typeface="Times New Roman"/>
              </a:rPr>
              <a:t>   “Contact </a:t>
            </a:r>
            <a:r>
              <a:rPr lang="en-US" sz="2400" b="1" dirty="0">
                <a:latin typeface="Arial Black" pitchFamily="34" charset="0"/>
                <a:ea typeface="Calibri"/>
                <a:cs typeface="Times New Roman"/>
              </a:rPr>
              <a:t>Isolation sign”  to put </a:t>
            </a:r>
            <a:r>
              <a:rPr lang="en-US" sz="2400" dirty="0">
                <a:latin typeface="Arial Black" pitchFamily="34" charset="0"/>
                <a:ea typeface="Calibri"/>
                <a:cs typeface="Times New Roman"/>
              </a:rPr>
              <a:t>outside</a:t>
            </a:r>
          </a:p>
          <a:p>
            <a:pPr marL="228600">
              <a:lnSpc>
                <a:spcPct val="115000"/>
              </a:lnSpc>
            </a:pPr>
            <a:r>
              <a:rPr lang="en-US" sz="2400" dirty="0">
                <a:latin typeface="Arial Black" pitchFamily="34" charset="0"/>
                <a:ea typeface="Calibri"/>
                <a:cs typeface="Times New Roman"/>
              </a:rPr>
              <a:t>  patient’s  room/ bed.</a:t>
            </a:r>
          </a:p>
          <a:p>
            <a:pPr marL="571500" indent="-342900">
              <a:lnSpc>
                <a:spcPct val="115000"/>
              </a:lnSpc>
              <a:buFont typeface="Wingdings" pitchFamily="2" charset="2"/>
              <a:buChar char="q"/>
            </a:pPr>
            <a:r>
              <a:rPr lang="en-US" sz="2400" dirty="0">
                <a:latin typeface="Arial Black" pitchFamily="34" charset="0"/>
                <a:ea typeface="Calibri"/>
                <a:cs typeface="Times New Roman"/>
              </a:rPr>
              <a:t>Keep equipment and supplies in the area</a:t>
            </a:r>
            <a:r>
              <a:rPr lang="en-US" sz="2400" dirty="0">
                <a:latin typeface="Arial Black" pitchFamily="34" charset="0"/>
                <a:ea typeface="Calibri"/>
                <a:cs typeface="Times New Roman" pitchFamily="18" charset="0"/>
              </a:rPr>
              <a:t> to a minimum </a:t>
            </a:r>
            <a:r>
              <a:rPr lang="en-US" sz="2400" dirty="0" err="1">
                <a:latin typeface="Arial Black" pitchFamily="34" charset="0"/>
                <a:ea typeface="Calibri"/>
                <a:cs typeface="Times New Roman" pitchFamily="18" charset="0"/>
              </a:rPr>
              <a:t>eg</a:t>
            </a:r>
            <a:r>
              <a:rPr lang="en-US" sz="2400" dirty="0">
                <a:latin typeface="Arial Black" pitchFamily="34" charset="0"/>
                <a:ea typeface="Calibri"/>
                <a:cs typeface="Times New Roman" pitchFamily="18" charset="0"/>
              </a:rPr>
              <a:t>. </a:t>
            </a:r>
            <a:r>
              <a:rPr lang="en-US" sz="2400" dirty="0" err="1">
                <a:latin typeface="Arial Black" pitchFamily="34" charset="0"/>
                <a:ea typeface="Calibri"/>
                <a:cs typeface="Times New Roman" pitchFamily="18" charset="0"/>
              </a:rPr>
              <a:t>Iotion</a:t>
            </a:r>
            <a:r>
              <a:rPr lang="en-US" sz="2400" dirty="0">
                <a:latin typeface="Arial Black" pitchFamily="34" charset="0"/>
                <a:ea typeface="Calibri"/>
                <a:cs typeface="Times New Roman" pitchFamily="18" charset="0"/>
              </a:rPr>
              <a:t>, shampoo.</a:t>
            </a:r>
          </a:p>
          <a:p>
            <a:pPr marL="228600">
              <a:lnSpc>
                <a:spcPct val="115000"/>
              </a:lnSpc>
            </a:pPr>
            <a:endParaRPr lang="en-US" sz="2400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 marL="571500" indent="-342900">
              <a:lnSpc>
                <a:spcPct val="115000"/>
              </a:lnSpc>
              <a:buFont typeface="Wingdings" pitchFamily="2" charset="2"/>
              <a:buChar char="v"/>
            </a:pPr>
            <a:r>
              <a:rPr lang="en-US" sz="2400" u="sng" dirty="0">
                <a:latin typeface="Arial Black" pitchFamily="34" charset="0"/>
                <a:ea typeface="Calibri"/>
                <a:cs typeface="Times New Roman" pitchFamily="18" charset="0"/>
              </a:rPr>
              <a:t> Shifting :</a:t>
            </a:r>
          </a:p>
          <a:p>
            <a:pPr marL="800100" lvl="1" indent="-342900">
              <a:lnSpc>
                <a:spcPct val="115000"/>
              </a:lnSpc>
              <a:buFont typeface="Wingdings" pitchFamily="2" charset="2"/>
              <a:buChar char="q"/>
            </a:pPr>
            <a:r>
              <a:rPr lang="en-US" sz="2400" dirty="0">
                <a:latin typeface="Arial Black" pitchFamily="34" charset="0"/>
                <a:ea typeface="Calibri"/>
                <a:cs typeface="Times New Roman" pitchFamily="18" charset="0"/>
              </a:rPr>
              <a:t>If patient for shifting to ward, inform the  </a:t>
            </a:r>
          </a:p>
          <a:p>
            <a:pPr>
              <a:lnSpc>
                <a:spcPct val="115000"/>
              </a:lnSpc>
            </a:pPr>
            <a:r>
              <a:rPr lang="en-US" sz="2400" dirty="0">
                <a:latin typeface="Arial Black" pitchFamily="34" charset="0"/>
                <a:ea typeface="Calibri"/>
                <a:cs typeface="Times New Roman" pitchFamily="18" charset="0"/>
              </a:rPr>
              <a:t>      receiving ward that the patient is isolation. </a:t>
            </a:r>
          </a:p>
          <a:p>
            <a:pPr marL="800100" lvl="1" indent="-342900">
              <a:lnSpc>
                <a:spcPct val="115000"/>
              </a:lnSpc>
              <a:buFont typeface="Wingdings" pitchFamily="2" charset="2"/>
              <a:buChar char="q"/>
            </a:pPr>
            <a:r>
              <a:rPr lang="en-US" sz="2400" dirty="0">
                <a:latin typeface="Arial Black" pitchFamily="34" charset="0"/>
                <a:ea typeface="Calibri"/>
                <a:cs typeface="Times New Roman" pitchFamily="18" charset="0"/>
              </a:rPr>
              <a:t>An isolation form must be filled by the doctor   prior to shifting.</a:t>
            </a:r>
          </a:p>
          <a:p>
            <a:pPr marL="342900" indent="-342900">
              <a:lnSpc>
                <a:spcPct val="115000"/>
              </a:lnSpc>
              <a:buFont typeface="Wingdings" pitchFamily="2" charset="2"/>
              <a:buChar char="q"/>
            </a:pPr>
            <a:endParaRPr lang="en-US" sz="2000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 marL="342900" indent="-342900">
              <a:lnSpc>
                <a:spcPct val="115000"/>
              </a:lnSpc>
              <a:buFont typeface="Arial" pitchFamily="34" charset="0"/>
              <a:buChar char="•"/>
            </a:pPr>
            <a:endParaRPr lang="en-US" sz="2400" dirty="0">
              <a:latin typeface="Arial Rounded MT Bold" pitchFamily="34" charset="0"/>
              <a:ea typeface="Calibri"/>
              <a:cs typeface="Times New Roman" pitchFamily="18" charset="0"/>
            </a:endParaRP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93363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52400"/>
            <a:ext cx="8610600" cy="646330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buFont typeface="Wingdings" pitchFamily="2" charset="2"/>
              <a:buChar char="v"/>
            </a:pPr>
            <a:r>
              <a:rPr lang="en-US" sz="2400" dirty="0">
                <a:latin typeface="Arial Black" pitchFamily="34" charset="0"/>
                <a:ea typeface="Times New Roman"/>
                <a:cs typeface="Times New Roman" pitchFamily="18" charset="0"/>
              </a:rPr>
              <a:t>After discharging/shifting patient:</a:t>
            </a:r>
          </a:p>
          <a:p>
            <a:pPr>
              <a:lnSpc>
                <a:spcPct val="115000"/>
              </a:lnSpc>
            </a:pPr>
            <a:r>
              <a:rPr lang="en-US" sz="2400" dirty="0">
                <a:latin typeface="Arial Black" pitchFamily="34" charset="0"/>
                <a:ea typeface="Times New Roman"/>
                <a:cs typeface="Times New Roman" pitchFamily="18" charset="0"/>
              </a:rPr>
              <a:t>    Terminal cleaning of the room  must be done</a:t>
            </a:r>
          </a:p>
          <a:p>
            <a:pPr>
              <a:lnSpc>
                <a:spcPct val="115000"/>
              </a:lnSpc>
            </a:pPr>
            <a:endParaRPr lang="en-US" sz="2400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itchFamily="2" charset="2"/>
              <a:buChar char="q"/>
              <a:tabLst>
                <a:tab pos="2667000" algn="l"/>
              </a:tabLst>
            </a:pPr>
            <a:r>
              <a:rPr lang="en-US" sz="2400" dirty="0">
                <a:latin typeface="Arial Black" pitchFamily="34" charset="0"/>
                <a:ea typeface="Times New Roman"/>
                <a:cs typeface="Times New Roman" pitchFamily="18" charset="0"/>
              </a:rPr>
              <a:t> Curtain to be removed before cleaning.</a:t>
            </a:r>
            <a:endParaRPr lang="en-US" sz="2400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itchFamily="2" charset="2"/>
              <a:buChar char="q"/>
            </a:pPr>
            <a:r>
              <a:rPr lang="en-US" sz="2400" dirty="0">
                <a:latin typeface="Arial Black" pitchFamily="34" charset="0"/>
                <a:ea typeface="Times New Roman"/>
                <a:cs typeface="Times New Roman" pitchFamily="18" charset="0"/>
              </a:rPr>
              <a:t>  Nurses must clean all medical and nursing</a:t>
            </a:r>
          </a:p>
          <a:p>
            <a:pPr>
              <a:lnSpc>
                <a:spcPct val="115000"/>
              </a:lnSpc>
            </a:pPr>
            <a:r>
              <a:rPr lang="en-US" sz="2400" dirty="0">
                <a:latin typeface="Arial Black" pitchFamily="34" charset="0"/>
                <a:ea typeface="Times New Roman"/>
                <a:cs typeface="Times New Roman" pitchFamily="18" charset="0"/>
              </a:rPr>
              <a:t>     </a:t>
            </a:r>
            <a:r>
              <a:rPr lang="en-US" sz="2400" dirty="0" err="1">
                <a:latin typeface="Arial Black" pitchFamily="34" charset="0"/>
                <a:ea typeface="Times New Roman"/>
                <a:cs typeface="Times New Roman" pitchFamily="18" charset="0"/>
              </a:rPr>
              <a:t>equipments</a:t>
            </a:r>
            <a:r>
              <a:rPr lang="en-US" sz="2400" dirty="0">
                <a:latin typeface="Arial Black" pitchFamily="34" charset="0"/>
                <a:ea typeface="Times New Roman"/>
                <a:cs typeface="Times New Roman" pitchFamily="18" charset="0"/>
              </a:rPr>
              <a:t>  and cables  with appropriate</a:t>
            </a:r>
          </a:p>
          <a:p>
            <a:pPr>
              <a:lnSpc>
                <a:spcPct val="115000"/>
              </a:lnSpc>
            </a:pPr>
            <a:r>
              <a:rPr lang="en-US" sz="2400" dirty="0">
                <a:latin typeface="Arial Black" pitchFamily="34" charset="0"/>
                <a:ea typeface="Times New Roman"/>
                <a:cs typeface="Times New Roman" pitchFamily="18" charset="0"/>
              </a:rPr>
              <a:t>     disinfectant .</a:t>
            </a:r>
          </a:p>
          <a:p>
            <a:pPr marL="342900" indent="-342900">
              <a:lnSpc>
                <a:spcPct val="115000"/>
              </a:lnSpc>
              <a:buFont typeface="Wingdings" pitchFamily="2" charset="2"/>
              <a:buChar char="q"/>
            </a:pPr>
            <a:r>
              <a:rPr lang="en-US" sz="2400" dirty="0">
                <a:latin typeface="Arial Black" pitchFamily="34" charset="0"/>
                <a:ea typeface="Times New Roman"/>
                <a:cs typeface="Times New Roman" pitchFamily="18" charset="0"/>
              </a:rPr>
              <a:t>Remove </a:t>
            </a:r>
            <a:r>
              <a:rPr lang="en-US" sz="2400" dirty="0" err="1">
                <a:latin typeface="Arial Black" pitchFamily="34" charset="0"/>
                <a:ea typeface="Times New Roman"/>
                <a:cs typeface="Times New Roman" pitchFamily="18" charset="0"/>
              </a:rPr>
              <a:t>equipments</a:t>
            </a:r>
            <a:r>
              <a:rPr lang="en-US" sz="2400" dirty="0">
                <a:latin typeface="Arial Black" pitchFamily="34" charset="0"/>
                <a:ea typeface="Times New Roman"/>
                <a:cs typeface="Times New Roman" pitchFamily="18" charset="0"/>
              </a:rPr>
              <a:t> from the IV stand. Then to be removed from the room to allow cleaning and disinfect room/bed  thoroughly.</a:t>
            </a:r>
          </a:p>
          <a:p>
            <a:pPr marL="342900" indent="-342900">
              <a:lnSpc>
                <a:spcPct val="115000"/>
              </a:lnSpc>
              <a:buFont typeface="Wingdings" pitchFamily="2" charset="2"/>
              <a:buChar char="q"/>
            </a:pPr>
            <a:endParaRPr lang="en-US" sz="2400" dirty="0">
              <a:latin typeface="Arial Rounded MT Bold" pitchFamily="34" charset="0"/>
              <a:ea typeface="Calibri"/>
              <a:cs typeface="Times New Roman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itchFamily="2" charset="2"/>
              <a:buChar char="v"/>
            </a:pPr>
            <a:r>
              <a:rPr lang="en-US" sz="2400" dirty="0">
                <a:latin typeface="Arial Black" pitchFamily="34" charset="0"/>
                <a:ea typeface="Times New Roman"/>
                <a:cs typeface="Times New Roman" pitchFamily="18" charset="0"/>
              </a:rPr>
              <a:t>Curtain:  </a:t>
            </a:r>
            <a:endParaRPr lang="en-US" sz="2400" dirty="0">
              <a:latin typeface="Arial Black" pitchFamily="34" charset="0"/>
              <a:ea typeface="Calibri"/>
              <a:cs typeface="Times New Roman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itchFamily="2" charset="2"/>
              <a:buChar char="q"/>
            </a:pPr>
            <a:r>
              <a:rPr lang="en-US" sz="2400" dirty="0">
                <a:latin typeface="Arial Black" pitchFamily="34" charset="0"/>
                <a:ea typeface="Times New Roman"/>
                <a:cs typeface="Times New Roman" pitchFamily="18" charset="0"/>
              </a:rPr>
              <a:t>Curtain must be changed on termination of isolation and every 2 weeks if isolation continues longer 2 weeks.</a:t>
            </a:r>
            <a:endParaRPr lang="en-US" sz="2400" dirty="0">
              <a:latin typeface="Arial Black" pitchFamily="34" charset="0"/>
              <a:ea typeface="Calibri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40449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1228</Words>
  <Application>Microsoft Office PowerPoint</Application>
  <PresentationFormat>On-screen Show (4:3)</PresentationFormat>
  <Paragraphs>244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Algerian</vt:lpstr>
      <vt:lpstr>Arial</vt:lpstr>
      <vt:lpstr>Arial Black</vt:lpstr>
      <vt:lpstr>Arial Rounded MT Bold</vt:lpstr>
      <vt:lpstr>Baskerville Old Face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talib masoud</cp:lastModifiedBy>
  <cp:revision>1</cp:revision>
  <dcterms:modified xsi:type="dcterms:W3CDTF">2025-10-31T18:14:29Z</dcterms:modified>
</cp:coreProperties>
</file>