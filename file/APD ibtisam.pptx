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0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8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y="6858000" cx="12192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3/11/2021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3/11/2021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APD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3159" y="4088329"/>
            <a:ext cx="5534263" cy="748402"/>
          </a:xfrm>
        </p:spPr>
        <p:txBody>
          <a:bodyPr/>
          <a:lstStyle/>
          <a:p>
            <a:r>
              <a:rPr lang="en-US" dirty="0" smtClean="0"/>
              <a:t>Automated Peritoneal Dialysis </a:t>
            </a:r>
            <a:endParaRPr lang="en-US" dirty="0"/>
          </a:p>
        </p:txBody>
      </p:sp>
      <p:pic>
        <p:nvPicPr>
          <p:cNvPr id="1026" name="Picture 2" descr="Baxter HomeChoice Automated Peritoneal Dialysis (APD) System, हेमोडायलिसिस  मशीन - Benaka Healthcare (Unit Of Benaka Business Consultancy), Bengaluru |  ID: 201150730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0307" y="3979572"/>
            <a:ext cx="2154230" cy="1288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1806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98495" y="1976717"/>
            <a:ext cx="85388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Type of Dialysis which uses the peritoneum in a person abdomen as the membrane through which fluid and dissolved substance are exchange with the blood . It is use to remove excess fluid, correct electrolyte problems and remove toxins in those with kidney failure. </a:t>
            </a:r>
            <a:endParaRPr lang="en-US" dirty="0"/>
          </a:p>
        </p:txBody>
      </p:sp>
      <p:sp>
        <p:nvSpPr>
          <p:cNvPr id="3" name="AutoShape 2" descr="How Hemodialysis and Peritoneal Dialysis Work - United Dialysis Center"/>
          <p:cNvSpPr>
            <a:spLocks noChangeAspect="1" noChangeArrowheads="1"/>
          </p:cNvSpPr>
          <p:nvPr/>
        </p:nvSpPr>
        <p:spPr bwMode="auto">
          <a:xfrm>
            <a:off x="4741022" y="347279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744" y="3858278"/>
            <a:ext cx="270510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56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47165" y="1498693"/>
            <a:ext cx="797202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Peritoneal dialysis (PD) can be performed either manually as in continuous ambulatory peritoneal dialysis (CAPD) or using mechanical devices as in automated PD (APD). 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C</a:t>
            </a:r>
            <a:r>
              <a:rPr lang="en-US" b="1" dirty="0" smtClean="0">
                <a:solidFill>
                  <a:srgbClr val="212B32"/>
                </a:solidFill>
                <a:latin typeface="Frutiger W01"/>
              </a:rPr>
              <a:t>ontinuous </a:t>
            </a:r>
            <a:r>
              <a:rPr lang="en-US" b="1" dirty="0">
                <a:solidFill>
                  <a:srgbClr val="212B32"/>
                </a:solidFill>
                <a:latin typeface="Frutiger W01"/>
              </a:rPr>
              <a:t>ambulatory peritoneal dialysis (CAPD)</a:t>
            </a:r>
            <a:r>
              <a:rPr lang="en-US" dirty="0">
                <a:solidFill>
                  <a:srgbClr val="212B32"/>
                </a:solidFill>
                <a:latin typeface="Frutiger W01"/>
              </a:rPr>
              <a:t> – where </a:t>
            </a:r>
            <a:r>
              <a:rPr lang="en-US" dirty="0" smtClean="0">
                <a:solidFill>
                  <a:srgbClr val="212B32"/>
                </a:solidFill>
                <a:latin typeface="Frutiger W01"/>
              </a:rPr>
              <a:t>the blood </a:t>
            </a:r>
            <a:r>
              <a:rPr lang="en-US" dirty="0">
                <a:solidFill>
                  <a:srgbClr val="212B32"/>
                </a:solidFill>
                <a:latin typeface="Frutiger W01"/>
              </a:rPr>
              <a:t>is filtered several times during the </a:t>
            </a:r>
            <a:r>
              <a:rPr lang="en-US" dirty="0" smtClean="0">
                <a:solidFill>
                  <a:srgbClr val="212B32"/>
                </a:solidFill>
                <a:latin typeface="Frutiger W01"/>
              </a:rPr>
              <a:t>day.</a:t>
            </a:r>
            <a:r>
              <a:rPr lang="en-US" dirty="0">
                <a:solidFill>
                  <a:srgbClr val="575757"/>
                </a:solidFill>
                <a:latin typeface="Merriweather"/>
              </a:rPr>
              <a:t>  the patient empties a fresh bag of dialysis solution into the abdomen. After 4 to 6 hours of dwell time, the patient returns the solution containing wastes to the </a:t>
            </a:r>
            <a:r>
              <a:rPr lang="en-US" dirty="0" smtClean="0">
                <a:solidFill>
                  <a:srgbClr val="575757"/>
                </a:solidFill>
                <a:latin typeface="Merriweather"/>
              </a:rPr>
              <a:t>bag.</a:t>
            </a:r>
            <a:endParaRPr lang="en-US" dirty="0">
              <a:solidFill>
                <a:srgbClr val="212B32"/>
              </a:solidFill>
              <a:latin typeface="Frutiger W01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212B32"/>
                </a:solidFill>
                <a:latin typeface="Frutiger W01"/>
              </a:rPr>
              <a:t>Automated </a:t>
            </a:r>
            <a:r>
              <a:rPr lang="en-US" b="1" dirty="0">
                <a:solidFill>
                  <a:srgbClr val="212B32"/>
                </a:solidFill>
                <a:latin typeface="Frutiger W01"/>
              </a:rPr>
              <a:t>peritoneal dialysis (APD)</a:t>
            </a:r>
            <a:r>
              <a:rPr lang="en-US" dirty="0">
                <a:solidFill>
                  <a:srgbClr val="212B32"/>
                </a:solidFill>
                <a:latin typeface="Frutiger W01"/>
              </a:rPr>
              <a:t> – where a machine helps filter </a:t>
            </a:r>
            <a:r>
              <a:rPr lang="en-US" dirty="0" smtClean="0">
                <a:solidFill>
                  <a:srgbClr val="212B32"/>
                </a:solidFill>
                <a:latin typeface="Frutiger W01"/>
              </a:rPr>
              <a:t>the blood </a:t>
            </a:r>
            <a:r>
              <a:rPr lang="en-US" dirty="0">
                <a:solidFill>
                  <a:srgbClr val="212B32"/>
                </a:solidFill>
                <a:latin typeface="Frutiger W01"/>
              </a:rPr>
              <a:t>during the night </a:t>
            </a:r>
            <a:r>
              <a:rPr lang="en-US" dirty="0" smtClean="0">
                <a:solidFill>
                  <a:srgbClr val="212B32"/>
                </a:solidFill>
                <a:latin typeface="Frutiger W01"/>
              </a:rPr>
              <a:t> sleep.</a:t>
            </a:r>
            <a:endParaRPr lang="en-US" dirty="0">
              <a:solidFill>
                <a:srgbClr val="212B32"/>
              </a:solidFill>
              <a:latin typeface="Frutiger W01"/>
            </a:endParaRPr>
          </a:p>
          <a:p>
            <a:endParaRPr lang="en-US" dirty="0" smtClean="0"/>
          </a:p>
          <a:p>
            <a:r>
              <a:rPr lang="en-US" dirty="0" smtClean="0"/>
              <a:t>APD </a:t>
            </a:r>
            <a:r>
              <a:rPr lang="en-US" dirty="0"/>
              <a:t>has been considered to have several advantages over CAPD such as reduced incidence of peritonitis, mechanical complications and greater psychosocial acceptability.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64406" y="837127"/>
            <a:ext cx="4520485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2400" b="1" dirty="0" smtClean="0">
                <a:ln/>
                <a:solidFill>
                  <a:schemeClr val="accent3"/>
                </a:solidFill>
              </a:rPr>
              <a:t>Tow types of PD:</a:t>
            </a:r>
            <a:endParaRPr lang="en-US" sz="2400" b="1" dirty="0">
              <a:ln/>
              <a:solidFill>
                <a:schemeClr val="accent3"/>
              </a:solidFill>
            </a:endParaRPr>
          </a:p>
        </p:txBody>
      </p:sp>
      <p:pic>
        <p:nvPicPr>
          <p:cNvPr id="2052" name="Picture 4" descr="Illustration Of A Senior Woman Undergoing Peritoneal Dialysis Stock  Illustration - Download Image Now - i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5365" y="2074242"/>
            <a:ext cx="214312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286" y="4297739"/>
            <a:ext cx="2627292" cy="1788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469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1977" y="1061263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PD fluids: 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71977" y="1775730"/>
            <a:ext cx="797202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Is a tool use by Nephrologist to determine the characteristic of peritoneal membrane mass transport characteristic when assessing a patient for peritoneal dialysis.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peritoneal equilibration test—often called the PET—measures how much dextrose has been absorbed from a bag of infused dialysis solution and how much urea and creatinine have entered into the solution during a 4-hour dwell. The peritoneal transport rate varies from person to person. People who have a high rate of transport absorb dextrose from the dialysis solution quickly, and they should be given a dialysis schedule that avoids exchanges with a long dwell time because they tend to absorb too much dextrose and dialysis solution from such exchanges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 smtClean="0">
                <a:solidFill>
                  <a:srgbClr val="0070C0"/>
                </a:solidFill>
              </a:rPr>
              <a:t>Dianeal</a:t>
            </a:r>
            <a:r>
              <a:rPr lang="en-US" dirty="0" smtClean="0">
                <a:solidFill>
                  <a:srgbClr val="0070C0"/>
                </a:solidFill>
              </a:rPr>
              <a:t>  1.36% Dextrose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              2.26% Dextrose 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             3.86% Dextrose</a:t>
            </a:r>
          </a:p>
          <a:p>
            <a:r>
              <a:rPr lang="en-US" dirty="0" err="1" smtClean="0">
                <a:solidFill>
                  <a:srgbClr val="0070C0"/>
                </a:solidFill>
              </a:rPr>
              <a:t>Extraneal</a:t>
            </a:r>
            <a:r>
              <a:rPr lang="en-US" dirty="0" smtClean="0">
                <a:solidFill>
                  <a:srgbClr val="0070C0"/>
                </a:solidFill>
              </a:rPr>
              <a:t> 7.5% Dextrose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454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00259" y="935642"/>
            <a:ext cx="653388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Source Sans Pro"/>
            </a:endParaRPr>
          </a:p>
          <a:p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ource Sans Pro"/>
              </a:rPr>
              <a:t>Peritonitis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ource Sans Pro"/>
              </a:rPr>
              <a:t> 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  <a:latin typeface="Source Sans Pro"/>
            </a:endParaRPr>
          </a:p>
          <a:p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ource Sans Pro"/>
              </a:rPr>
              <a:t>is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ource Sans Pro"/>
              </a:rPr>
              <a:t>an inflammation of the peritoneum, the tissue that lines the inner wall of the 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ource Sans Pro"/>
              </a:rPr>
              <a:t>abdomen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ource Sans Pro"/>
              </a:rPr>
              <a:t> and covers and supports most of 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ource Sans Pro"/>
              </a:rPr>
              <a:t>the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Source Sans Pro"/>
              </a:rPr>
              <a:t>abdominal organs. Peritonitis is usually caused by infection from bacteria or fungi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ource Sans Pro"/>
              </a:rPr>
              <a:t>.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Source Sans Pro"/>
            </a:endParaRPr>
          </a:p>
          <a:p>
            <a:r>
              <a:rPr lang="en-US" dirty="0" smtClean="0">
                <a:solidFill>
                  <a:srgbClr val="FF0000"/>
                </a:solidFill>
                <a:latin typeface="Source Sans Pro"/>
              </a:rPr>
              <a:t>Signs and symptoms : </a:t>
            </a:r>
          </a:p>
          <a:p>
            <a:r>
              <a:rPr lang="en-US" dirty="0">
                <a:solidFill>
                  <a:srgbClr val="0070C0"/>
                </a:solidFill>
              </a:rPr>
              <a:t>Abdominal tenderness or distention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Chills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Sever Abdomen pain                                                       </a:t>
            </a:r>
            <a:r>
              <a:rPr 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Septic Shock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Fever</a:t>
            </a:r>
          </a:p>
          <a:p>
            <a:r>
              <a:rPr lang="en-US" dirty="0">
                <a:solidFill>
                  <a:srgbClr val="0070C0"/>
                </a:solidFill>
              </a:rPr>
              <a:t>Fluid in the abdomen</a:t>
            </a:r>
          </a:p>
          <a:p>
            <a:r>
              <a:rPr lang="en-US" dirty="0">
                <a:solidFill>
                  <a:srgbClr val="0070C0"/>
                </a:solidFill>
              </a:rPr>
              <a:t>Not passing any urine, or passing significantly less urine than usual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Vomiting</a:t>
            </a:r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4" name="Elbow Connector 3"/>
          <p:cNvCxnSpPr/>
          <p:nvPr/>
        </p:nvCxnSpPr>
        <p:spPr>
          <a:xfrm>
            <a:off x="4675031" y="3464417"/>
            <a:ext cx="1159099" cy="57955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766388" y="2065637"/>
            <a:ext cx="381601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Source Sans Pro"/>
              </a:rPr>
              <a:t>Diagnosis:</a:t>
            </a:r>
          </a:p>
          <a:p>
            <a:r>
              <a:rPr lang="en-US" dirty="0" smtClean="0">
                <a:solidFill>
                  <a:srgbClr val="444444"/>
                </a:solidFill>
                <a:latin typeface="Source Sans Pro"/>
              </a:rPr>
              <a:t>Physical Examination( redness /discharge and swelling of the site</a:t>
            </a:r>
          </a:p>
          <a:p>
            <a:endParaRPr lang="en-US" dirty="0">
              <a:solidFill>
                <a:srgbClr val="444444"/>
              </a:solidFill>
              <a:latin typeface="Source Sans Pro"/>
            </a:endParaRPr>
          </a:p>
          <a:p>
            <a:r>
              <a:rPr lang="en-US" dirty="0" smtClean="0">
                <a:solidFill>
                  <a:srgbClr val="444444"/>
                </a:solidFill>
                <a:latin typeface="Source Sans Pro"/>
              </a:rPr>
              <a:t>Imaging </a:t>
            </a:r>
            <a:r>
              <a:rPr lang="en-US" dirty="0">
                <a:solidFill>
                  <a:srgbClr val="444444"/>
                </a:solidFill>
                <a:latin typeface="Source Sans Pro"/>
              </a:rPr>
              <a:t>studies such as X-rays </a:t>
            </a:r>
            <a:endParaRPr lang="en-US" dirty="0" smtClean="0">
              <a:solidFill>
                <a:srgbClr val="444444"/>
              </a:solidFill>
              <a:latin typeface="Source Sans Pro"/>
            </a:endParaRPr>
          </a:p>
          <a:p>
            <a:endParaRPr lang="en-US" dirty="0">
              <a:solidFill>
                <a:srgbClr val="444444"/>
              </a:solidFill>
              <a:latin typeface="Source Sans Pro"/>
            </a:endParaRPr>
          </a:p>
          <a:p>
            <a:r>
              <a:rPr lang="en-US" dirty="0" smtClean="0">
                <a:solidFill>
                  <a:srgbClr val="444444"/>
                </a:solidFill>
                <a:latin typeface="Source Sans Pro"/>
              </a:rPr>
              <a:t>PD fluid sample.</a:t>
            </a:r>
          </a:p>
          <a:p>
            <a:endParaRPr lang="en-US" dirty="0" smtClean="0">
              <a:solidFill>
                <a:srgbClr val="444444"/>
              </a:solidFill>
              <a:latin typeface="Source Sans Pro"/>
            </a:endParaRPr>
          </a:p>
          <a:p>
            <a:r>
              <a:rPr lang="en-US" dirty="0" smtClean="0">
                <a:solidFill>
                  <a:srgbClr val="FF0000"/>
                </a:solidFill>
                <a:latin typeface="Source Sans Pro"/>
              </a:rPr>
              <a:t>Treatment:</a:t>
            </a:r>
          </a:p>
          <a:p>
            <a:r>
              <a:rPr lang="en-US" dirty="0" smtClean="0">
                <a:latin typeface="Source Sans Pro"/>
              </a:rPr>
              <a:t>Antibiotic </a:t>
            </a:r>
          </a:p>
          <a:p>
            <a:r>
              <a:rPr lang="en-US" dirty="0" smtClean="0">
                <a:latin typeface="Source Sans Pro"/>
              </a:rPr>
              <a:t>Pain </a:t>
            </a:r>
            <a:r>
              <a:rPr lang="en-US" dirty="0" smtClean="0">
                <a:latin typeface="Source Sans Pro"/>
              </a:rPr>
              <a:t>management </a:t>
            </a:r>
          </a:p>
          <a:p>
            <a:r>
              <a:rPr lang="en-US" dirty="0" smtClean="0">
                <a:latin typeface="Source Sans Pro"/>
              </a:rPr>
              <a:t>Correction of Electrolytes </a:t>
            </a:r>
          </a:p>
          <a:p>
            <a:endParaRPr lang="en-US" dirty="0">
              <a:solidFill>
                <a:srgbClr val="444444"/>
              </a:solidFill>
              <a:latin typeface="Source Sans Pro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834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10052" y="1741488"/>
            <a:ext cx="5146858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Prevention of Infection: </a:t>
            </a:r>
          </a:p>
          <a:p>
            <a:endParaRPr lang="en-US" sz="2800" dirty="0"/>
          </a:p>
          <a:p>
            <a:r>
              <a:rPr lang="en-US" sz="2800" dirty="0" smtClean="0"/>
              <a:t>Change transfer set every 6 month, </a:t>
            </a:r>
          </a:p>
          <a:p>
            <a:r>
              <a:rPr lang="en-US" sz="2800" dirty="0"/>
              <a:t>D</a:t>
            </a:r>
            <a:r>
              <a:rPr lang="en-US" sz="2800" dirty="0" smtClean="0"/>
              <a:t>aily sterile dressing</a:t>
            </a:r>
          </a:p>
          <a:p>
            <a:r>
              <a:rPr lang="en-US" sz="2800" dirty="0" smtClean="0"/>
              <a:t>Application of antibiotic ointment </a:t>
            </a:r>
          </a:p>
          <a:p>
            <a:r>
              <a:rPr lang="en-US" sz="2800" dirty="0" smtClean="0"/>
              <a:t>Flushing once per week.</a:t>
            </a:r>
            <a:endParaRPr lang="en-US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7026" y="958585"/>
            <a:ext cx="2472328" cy="216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508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56647" y="2407023"/>
            <a:ext cx="626633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PD catheter Flushing  : </a:t>
            </a:r>
          </a:p>
          <a:p>
            <a:endParaRPr lang="en-US" dirty="0" smtClean="0"/>
          </a:p>
          <a:p>
            <a:r>
              <a:rPr lang="en-US" sz="2000" dirty="0" smtClean="0"/>
              <a:t>Newly inserted catheter </a:t>
            </a:r>
          </a:p>
          <a:p>
            <a:r>
              <a:rPr lang="en-US" sz="2000" dirty="0" smtClean="0"/>
              <a:t>Blockage</a:t>
            </a:r>
          </a:p>
          <a:p>
            <a:r>
              <a:rPr lang="en-US" sz="2000" dirty="0" smtClean="0"/>
              <a:t>Once per week</a:t>
            </a:r>
          </a:p>
          <a:p>
            <a:r>
              <a:rPr lang="en-US" sz="2000" dirty="0" smtClean="0"/>
              <a:t>Infection ( Peritonitis)                            10-20ml/kg 3-4times </a:t>
            </a:r>
          </a:p>
          <a:p>
            <a:r>
              <a:rPr lang="en-US" sz="2000" dirty="0" smtClean="0"/>
              <a:t>Constipation </a:t>
            </a:r>
          </a:p>
          <a:p>
            <a:r>
              <a:rPr lang="en-US" sz="2000" dirty="0" smtClean="0"/>
              <a:t>Catheter not in place  </a:t>
            </a:r>
            <a:endParaRPr lang="en-US" sz="2000" dirty="0"/>
          </a:p>
        </p:txBody>
      </p:sp>
      <p:sp>
        <p:nvSpPr>
          <p:cNvPr id="3" name="Oval 2"/>
          <p:cNvSpPr/>
          <p:nvPr/>
        </p:nvSpPr>
        <p:spPr>
          <a:xfrm>
            <a:off x="6078071" y="2364396"/>
            <a:ext cx="1694329" cy="8875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Heparin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778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7807" y="1495511"/>
            <a:ext cx="563534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APD Process :</a:t>
            </a:r>
          </a:p>
          <a:p>
            <a:endParaRPr lang="en-US" dirty="0" smtClean="0"/>
          </a:p>
          <a:p>
            <a:r>
              <a:rPr lang="en-US" dirty="0" smtClean="0"/>
              <a:t>Total volume =NO of Cycles *Fill Volume </a:t>
            </a:r>
          </a:p>
          <a:p>
            <a:endParaRPr lang="en-US" dirty="0" smtClean="0"/>
          </a:p>
          <a:p>
            <a:r>
              <a:rPr lang="en-US" dirty="0" smtClean="0"/>
              <a:t>Fill Volume              Dwell Time               Drain </a:t>
            </a:r>
          </a:p>
          <a:p>
            <a:endParaRPr lang="en-US" dirty="0"/>
          </a:p>
          <a:p>
            <a:r>
              <a:rPr lang="en-US" dirty="0" smtClean="0"/>
              <a:t>                                    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                                                  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/>
          </a:p>
          <a:p>
            <a:r>
              <a:rPr lang="en-US" dirty="0" smtClean="0"/>
              <a:t>                                             Fill 1 of 25 </a:t>
            </a:r>
          </a:p>
          <a:p>
            <a:endParaRPr lang="en-US" dirty="0" smtClean="0"/>
          </a:p>
          <a:p>
            <a:r>
              <a:rPr lang="en-US" dirty="0" smtClean="0"/>
              <a:t>                           First Cycle                            Total of Cycle </a:t>
            </a:r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580815" y="2791562"/>
            <a:ext cx="4507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4390202" y="2818460"/>
            <a:ext cx="6310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3911723" y="5164375"/>
            <a:ext cx="367513" cy="232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1551" y="1169894"/>
            <a:ext cx="2053998" cy="443753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4107" y="3245477"/>
            <a:ext cx="3928056" cy="1377078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>
            <a:off x="5021267" y="5164375"/>
            <a:ext cx="330662" cy="216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598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49251" y="669702"/>
            <a:ext cx="7830354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APD Trouble shouting:</a:t>
            </a:r>
          </a:p>
          <a:p>
            <a:r>
              <a:rPr lang="en-US" dirty="0" smtClean="0"/>
              <a:t> </a:t>
            </a:r>
          </a:p>
          <a:p>
            <a:r>
              <a:rPr lang="en-US" dirty="0" smtClean="0"/>
              <a:t>1.</a:t>
            </a:r>
            <a:r>
              <a:rPr lang="en-US" b="1" dirty="0" smtClean="0">
                <a:solidFill>
                  <a:srgbClr val="FF0000"/>
                </a:solidFill>
              </a:rPr>
              <a:t>Low drain </a:t>
            </a:r>
            <a:r>
              <a:rPr lang="en-US" dirty="0" smtClean="0"/>
              <a:t>( Need to press red button then green button ) </a:t>
            </a:r>
          </a:p>
          <a:p>
            <a:r>
              <a:rPr lang="en-US" dirty="0" smtClean="0"/>
              <a:t>Reasons</a:t>
            </a:r>
          </a:p>
          <a:p>
            <a:r>
              <a:rPr lang="en-US" dirty="0" smtClean="0"/>
              <a:t>*Constipation need to give child laxatives</a:t>
            </a:r>
          </a:p>
          <a:p>
            <a:r>
              <a:rPr lang="en-US" dirty="0" smtClean="0"/>
              <a:t>*peritonitis need to flush the PD catheter ( sometimes need to heplock transfer set for  1Hr if no benefit to use Reteplase) and to treat the peritonitis.</a:t>
            </a:r>
          </a:p>
          <a:p>
            <a:r>
              <a:rPr lang="en-US" dirty="0" smtClean="0"/>
              <a:t>*PD catheter king</a:t>
            </a:r>
          </a:p>
          <a:p>
            <a:r>
              <a:rPr lang="en-US" dirty="0" smtClean="0"/>
              <a:t>*PD catheter not in the place </a:t>
            </a:r>
          </a:p>
          <a:p>
            <a:pPr marL="342900" indent="-342900">
              <a:buAutoNum type="arabicPeriod"/>
            </a:pPr>
            <a:r>
              <a:rPr lang="en-US" dirty="0" smtClean="0"/>
              <a:t>Negative UF ( Need to press red button then green button)</a:t>
            </a:r>
          </a:p>
          <a:p>
            <a:r>
              <a:rPr lang="en-US" dirty="0" smtClean="0"/>
              <a:t>Reasons</a:t>
            </a:r>
          </a:p>
          <a:p>
            <a:r>
              <a:rPr lang="en-US" dirty="0" smtClean="0"/>
              <a:t>*Continuously alarming of low drain need to </a:t>
            </a:r>
            <a:r>
              <a:rPr lang="en-US" dirty="0" err="1" smtClean="0"/>
              <a:t>neguf</a:t>
            </a:r>
            <a:r>
              <a:rPr lang="en-US" dirty="0" smtClean="0"/>
              <a:t> </a:t>
            </a:r>
          </a:p>
          <a:p>
            <a:r>
              <a:rPr lang="en-US" dirty="0" smtClean="0"/>
              <a:t>*Peritonitis because of poor UF and low drain because of fibrin </a:t>
            </a:r>
          </a:p>
          <a:p>
            <a:endParaRPr lang="en-US" dirty="0"/>
          </a:p>
          <a:p>
            <a:r>
              <a:rPr lang="en-US" dirty="0" smtClean="0"/>
              <a:t>***</a:t>
            </a:r>
            <a:r>
              <a:rPr lang="en-US" b="1" dirty="0" smtClean="0"/>
              <a:t>If the child want to go to the toilet or X- ray and he is on APD</a:t>
            </a:r>
          </a:p>
          <a:p>
            <a:pPr marL="342900" indent="-342900">
              <a:buAutoNum type="arabicPeriod"/>
            </a:pPr>
            <a:r>
              <a:rPr lang="en-US" dirty="0" smtClean="0"/>
              <a:t>Need to stop the dialysis during only dwell time( the fluid inside the abdomen) by pressing red button </a:t>
            </a:r>
          </a:p>
          <a:p>
            <a:pPr marL="342900" indent="-342900">
              <a:buAutoNum type="arabicPeriod"/>
            </a:pPr>
            <a:r>
              <a:rPr lang="en-US" dirty="0" smtClean="0"/>
              <a:t>Wear mask and apron</a:t>
            </a:r>
          </a:p>
          <a:p>
            <a:pPr marL="342900" indent="-342900">
              <a:buAutoNum type="arabicPeriod"/>
            </a:pPr>
            <a:r>
              <a:rPr lang="en-US" dirty="0" smtClean="0"/>
              <a:t>Hand washing, hand rub</a:t>
            </a:r>
          </a:p>
          <a:p>
            <a:pPr marL="342900" indent="-342900">
              <a:buAutoNum type="arabicPeriod"/>
            </a:pPr>
            <a:r>
              <a:rPr lang="en-US" dirty="0" smtClean="0"/>
              <a:t>Open sterile gauze, new mini cap , micropore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65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85611"/>
            <a:ext cx="1043188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5. Disconnected from the patient and put new mini cap and over with 2pieces of sterile gauze and patient line to cover with 5 pieces of sterile gauze and  to keep it in the cassette place.</a:t>
            </a:r>
          </a:p>
          <a:p>
            <a:r>
              <a:rPr lang="en-US" dirty="0" smtClean="0"/>
              <a:t>6. When the patient finish, to connect to patient after that to press green button.</a:t>
            </a:r>
          </a:p>
          <a:p>
            <a:endParaRPr lang="en-US" dirty="0"/>
          </a:p>
          <a:p>
            <a:endParaRPr lang="en-US" b="1" dirty="0" smtClean="0"/>
          </a:p>
          <a:p>
            <a:r>
              <a:rPr lang="en-US" b="1" dirty="0" smtClean="0"/>
              <a:t>***If the patient in the HD , started on APD and they want to shift child to </a:t>
            </a:r>
            <a:r>
              <a:rPr lang="en-US" b="1" dirty="0"/>
              <a:t>t</a:t>
            </a:r>
            <a:r>
              <a:rPr lang="en-US" b="1" dirty="0" smtClean="0"/>
              <a:t>he ward</a:t>
            </a:r>
          </a:p>
          <a:p>
            <a:r>
              <a:rPr lang="en-US" dirty="0" smtClean="0"/>
              <a:t>1. To stop only during dwell time</a:t>
            </a:r>
          </a:p>
          <a:p>
            <a:r>
              <a:rPr lang="en-US" dirty="0"/>
              <a:t>2</a:t>
            </a:r>
            <a:r>
              <a:rPr lang="en-US" dirty="0" smtClean="0"/>
              <a:t>. Close patient line clamp </a:t>
            </a:r>
          </a:p>
          <a:p>
            <a:r>
              <a:rPr lang="en-US" dirty="0" smtClean="0"/>
              <a:t>3. Switch off the machine </a:t>
            </a:r>
          </a:p>
          <a:p>
            <a:r>
              <a:rPr lang="en-US" dirty="0" smtClean="0"/>
              <a:t>4. Keep the machine on patient bed</a:t>
            </a:r>
          </a:p>
          <a:p>
            <a:r>
              <a:rPr lang="en-US" dirty="0" smtClean="0"/>
              <a:t>5. Transfer the patient</a:t>
            </a:r>
          </a:p>
          <a:p>
            <a:r>
              <a:rPr lang="en-US" dirty="0" smtClean="0"/>
              <a:t>6. To switch on the machine, it will show power restore then to press red button</a:t>
            </a:r>
          </a:p>
          <a:p>
            <a:r>
              <a:rPr lang="en-US" dirty="0" smtClean="0"/>
              <a:t>7. Open patient clump.</a:t>
            </a:r>
          </a:p>
          <a:p>
            <a:r>
              <a:rPr lang="en-US" b="1" dirty="0" smtClean="0"/>
              <a:t>*** If the machine show continuously alarm low drain, </a:t>
            </a:r>
            <a:r>
              <a:rPr lang="en-US" b="1" dirty="0" err="1" smtClean="0"/>
              <a:t>neguf</a:t>
            </a:r>
            <a:endParaRPr lang="en-US" b="1" dirty="0" smtClean="0"/>
          </a:p>
          <a:p>
            <a:pPr marL="342900" indent="-342900">
              <a:buAutoNum type="arabicPeriod"/>
            </a:pPr>
            <a:r>
              <a:rPr lang="en-US" dirty="0" smtClean="0"/>
              <a:t>To do manual drain ( need to press red button to stop dialysis and to go arrow and to search for manual drain and to press conform button near arrow)</a:t>
            </a:r>
          </a:p>
          <a:p>
            <a:pPr marL="342900" indent="-342900">
              <a:buAutoNum type="arabicPeriod"/>
            </a:pPr>
            <a:r>
              <a:rPr lang="en-US" dirty="0" smtClean="0"/>
              <a:t>After manual drain the machine will show drain stop </a:t>
            </a:r>
            <a:r>
              <a:rPr lang="en-US" dirty="0"/>
              <a:t>t</a:t>
            </a:r>
            <a:r>
              <a:rPr lang="en-US" dirty="0" smtClean="0"/>
              <a:t>hen to press bypass to go for next cycle</a:t>
            </a:r>
          </a:p>
          <a:p>
            <a:r>
              <a:rPr lang="en-US" dirty="0" smtClean="0"/>
              <a:t>Need to </a:t>
            </a:r>
            <a:r>
              <a:rPr lang="en-US" smtClean="0"/>
              <a:t>make sure </a:t>
            </a:r>
            <a:r>
              <a:rPr lang="en-US" dirty="0" smtClean="0"/>
              <a:t>all fluid came out then to do bypass.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898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30101" y="2967335"/>
            <a:ext cx="35318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 </a:t>
            </a:r>
            <a:endParaRPr 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3585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