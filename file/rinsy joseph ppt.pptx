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6835cfb4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6835cfb4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6835cfb4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6835cfb4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1de3040cf98ac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1de3040cf98ac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49a85f67f7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49a85f67f7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6b054aa941dbf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6b054aa941dbf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49a85f67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49a85f67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9a85f67f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49a85f67f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9a85f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49a85f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9a85f67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49a85f67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9a85f67f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49a85f67f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9990d8b5cf600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9990d8b5cf600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68294059387ddc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68294059387ddc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68294059387ddcd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668294059387ddcd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68294059387ddcd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68294059387ddcd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668294059387ddcd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668294059387ddcd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68294059387ddcd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68294059387ddcd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668294059387ddcd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668294059387ddcd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68294059387ddcd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668294059387ddcd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49a85f67f7_0_325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149a85f67f7_0_325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149a85f67f7_0_325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g149a85f67f7_0_325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g149a85f67f7_0_3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49a85f67f7_0_331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149a85f67f7_0_331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g149a85f67f7_0_3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9a85f67f7_0_3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g149a85f67f7_0_33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g149a85f67f7_0_3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49a85f67f7_0_3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g149a85f67f7_0_339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g149a85f67f7_0_339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149a85f67f7_0_33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49a85f67f7_0_3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g149a85f67f7_0_34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9a85f67f7_0_3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g149a85f67f7_0_3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149a85f67f7_0_34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49a85f67f7_0_35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g149a85f67f7_0_35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49a85f67f7_0_354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g149a85f67f7_0_35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g149a85f67f7_0_354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149a85f67f7_0_354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149a85f67f7_0_35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g149a85f67f7_0_35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49a85f67f7_0_36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g149a85f67f7_0_36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49a85f67f7_0_364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g149a85f67f7_0_364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g149a85f67f7_0_36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49a85f67f7_0_36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49a85f67f7_0_370"/>
          <p:cNvSpPr txBox="1"/>
          <p:nvPr>
            <p:ph type="title"/>
          </p:nvPr>
        </p:nvSpPr>
        <p:spPr>
          <a:xfrm>
            <a:off x="3112350" y="2863875"/>
            <a:ext cx="2919300" cy="47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" name="Google Shape;56;g149a85f67f7_0_370"/>
          <p:cNvSpPr txBox="1"/>
          <p:nvPr>
            <p:ph idx="1" type="subTitle"/>
          </p:nvPr>
        </p:nvSpPr>
        <p:spPr>
          <a:xfrm>
            <a:off x="1914450" y="1558013"/>
            <a:ext cx="53151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300"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49a85f67f7_0_373"/>
          <p:cNvSpPr txBox="1"/>
          <p:nvPr>
            <p:ph type="title"/>
          </p:nvPr>
        </p:nvSpPr>
        <p:spPr>
          <a:xfrm>
            <a:off x="2357250" y="1683366"/>
            <a:ext cx="4429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" name="Google Shape;59;g149a85f67f7_0_373"/>
          <p:cNvSpPr txBox="1"/>
          <p:nvPr>
            <p:ph idx="2" type="title"/>
          </p:nvPr>
        </p:nvSpPr>
        <p:spPr>
          <a:xfrm>
            <a:off x="3102450" y="1076325"/>
            <a:ext cx="2939100" cy="5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0" name="Google Shape;60;g149a85f67f7_0_373"/>
          <p:cNvSpPr txBox="1"/>
          <p:nvPr>
            <p:ph idx="1" type="subTitle"/>
          </p:nvPr>
        </p:nvSpPr>
        <p:spPr>
          <a:xfrm>
            <a:off x="2357250" y="2845484"/>
            <a:ext cx="4429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149a85f67f7_0_373"/>
          <p:cNvSpPr txBox="1"/>
          <p:nvPr>
            <p:ph idx="3" type="title"/>
          </p:nvPr>
        </p:nvSpPr>
        <p:spPr>
          <a:xfrm>
            <a:off x="3102450" y="2236025"/>
            <a:ext cx="2939100" cy="5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2" name="Google Shape;62;g149a85f67f7_0_373"/>
          <p:cNvSpPr txBox="1"/>
          <p:nvPr>
            <p:ph idx="4" type="subTitle"/>
          </p:nvPr>
        </p:nvSpPr>
        <p:spPr>
          <a:xfrm>
            <a:off x="2357400" y="4004026"/>
            <a:ext cx="4429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149a85f67f7_0_373"/>
          <p:cNvSpPr txBox="1"/>
          <p:nvPr>
            <p:ph idx="5" type="title"/>
          </p:nvPr>
        </p:nvSpPr>
        <p:spPr>
          <a:xfrm>
            <a:off x="3102450" y="3393325"/>
            <a:ext cx="2939100" cy="5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49a85f67f7_0_380"/>
          <p:cNvSpPr txBox="1"/>
          <p:nvPr>
            <p:ph type="title"/>
          </p:nvPr>
        </p:nvSpPr>
        <p:spPr>
          <a:xfrm>
            <a:off x="713250" y="539500"/>
            <a:ext cx="38586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3000">
                <a:solidFill>
                  <a:schemeClr val="accen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9a85f67f7_0_3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149a85f67f7_0_3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g149a85f67f7_0_3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0.jpg"/><Relationship Id="rId5" Type="http://schemas.openxmlformats.org/officeDocument/2006/relationships/image" Target="../media/image5.jpg"/><Relationship Id="rId6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youtube.com/watch?v=7gHEtGY4chE" TargetMode="External"/><Relationship Id="rId4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title"/>
          </p:nvPr>
        </p:nvSpPr>
        <p:spPr>
          <a:xfrm>
            <a:off x="5410200" y="3181350"/>
            <a:ext cx="2919300" cy="4794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685800" y="1558012"/>
            <a:ext cx="7620000" cy="139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solidFill>
                  <a:srgbClr val="6567BE"/>
                </a:solidFill>
              </a:rPr>
              <a:t>FIRE EVACUATION PLAN FOR PHDU</a:t>
            </a:r>
            <a:endParaRPr sz="4000">
              <a:solidFill>
                <a:srgbClr val="6567BE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600425" y="285750"/>
            <a:ext cx="7717500" cy="7575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4000"/>
              <a:t>INTROD</a:t>
            </a:r>
            <a:r>
              <a:rPr lang="en-US" sz="4000"/>
              <a:t>UCTION</a:t>
            </a:r>
            <a:endParaRPr sz="4000"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-US" sz="2000" u="sng"/>
              <a:t>Fire evacuation procedure in RH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/>
              <a:t> It is created by the   fire prevention department which includes the action to be take by all staff in the event of fire and the arrangements for calling the fire safety officer.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-US" sz="2000" u="sng"/>
              <a:t>Code red team members  during normal working hours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/>
              <a:t> D.G or whoever act 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/>
              <a:t>Fire officer 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/>
              <a:t>Nursing officer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/>
              <a:t>PRO 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/>
              <a:t>Eng controller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685800" y="209550"/>
            <a:ext cx="7717500" cy="478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Lesson plan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685800" y="742950"/>
            <a:ext cx="77175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In the event of a fire on the ward all staff must be fully familiar with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The procedure for reporting the fire  and calling for assistance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The location of fire fighting equipments and how to use it correctly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The movement of pts to a place of safety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In the very first instance fire is discovered the alarm must be raised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 shout fire to bring colleagues immediately to your assistance 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Activate the manual fire alarm call point to ring the fire alarm bell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Code 9777 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There a number of smoke and heat detectors throughout wards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1400"/>
              <a:t>These will automatically detect fire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835cfb460_0_0"/>
          <p:cNvSpPr txBox="1"/>
          <p:nvPr>
            <p:ph idx="1" type="body"/>
          </p:nvPr>
        </p:nvSpPr>
        <p:spPr>
          <a:xfrm>
            <a:off x="311700" y="498375"/>
            <a:ext cx="85206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400"/>
              <a:t>SMOKE AND HEAT DETECTORS</a:t>
            </a:r>
            <a:endParaRPr b="1"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There a number of smoke and heat detectors throughout ward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●"/>
            </a:pPr>
            <a:r>
              <a:rPr lang="en-US" sz="1400"/>
              <a:t>These will automatically detect fire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It is possible that a detector has activated due to a fire concealed in a closed or unoccupied area.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If you hear a continual alarm ringing but are not aware of a fire then check all rooms and check for a smell of smoke or burning.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CHECKING FOR FIRE BEHIND CLOSED DOORS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If you suspect there may be a fire in a closed unoccupied room you must do the following.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Observe the top,the bottom and around the edge of the room to see if smoke visiblly coming from the room.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With your back of the hand only, feel the surface of the door ,particularly towards the top of the door.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If smoke is visible and the door feel excessively hot to the touch DO NOT open it. leave it closed and activate the firm alarm immediately . prepare to evacuate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6835cfb460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16835cfb460_0_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g16835cfb460_0_6"/>
          <p:cNvPicPr preferRelativeResize="0"/>
          <p:nvPr/>
        </p:nvPicPr>
        <p:blipFill rotWithShape="1">
          <a:blip r:embed="rId3">
            <a:alphaModFix/>
          </a:blip>
          <a:srcRect b="27835" l="0" r="0" t="9499"/>
          <a:stretch/>
        </p:blipFill>
        <p:spPr>
          <a:xfrm rot="-5400002">
            <a:off x="1984050" y="-1758374"/>
            <a:ext cx="5077675" cy="872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685800" y="133350"/>
            <a:ext cx="7717500" cy="478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Five classes of fire</a:t>
            </a:r>
            <a:r>
              <a:rPr lang="en-US"/>
              <a:t> 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685800" y="666750"/>
            <a:ext cx="77175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Class A -  these are commonly flammable material as there fuel sources 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 Example   -wood ,fabric , paper, trash , plastics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Class B – defined as flammable liquid or gas.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Example  - oil, paints ,kerosene, gasoline, flammable gases such as butane or propane are common sources.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Class c – defined as fire that uses electrical components or energized equipments.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Class d- defined as that uses combustible metal as its fuel sources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Example  - metal include titanium, magnesium and potasium these are danger in laboratory environments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Class k – defined as cooking fire involving combustion from liquids used in food preparation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CHARACTERISTICS OF FIRE EXTINGUISHERS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/>
              <a:t> DRY POWDER  Fire extinguishers are colored    blue  or  red with  light  blue band , they are multipurpose   can be used for fight solid ,liquid and gas.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/>
              <a:t>FORM   fire extinguisher colored  cream or  red with a  cream band ,used to fight solid and liquid fire.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/>
              <a:t> CO2   fire extinguishers are colored   black   or red with a black band,    it can be used to fight  , b and c class fire 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/>
              <a:t>At each end of the ward    you will find a fire point    -   in the upper cabinet there is a automatic fire hose reel    -in the lower cabinet there are     2 x 6 litres foam extinguisher.</a:t>
            </a:r>
            <a:endParaRPr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685800" y="209550"/>
            <a:ext cx="7717500" cy="60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713225" y="666750"/>
            <a:ext cx="77175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:\Users\Samsung\AppData\Local\Microsoft\Windows\INetCache\IE\ITHQ6JFC\extinguisher_PNG27[1].png"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1772" y="857243"/>
            <a:ext cx="3733803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RE-EXTINGUISHERS-chart.jpg" id="115" name="Google Shape;1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819150"/>
            <a:ext cx="36576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1de3040cf98ac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81de3040cf98ac3_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g81de3040cf98ac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49" y="222525"/>
            <a:ext cx="8352802" cy="46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609600" y="133350"/>
            <a:ext cx="7717500" cy="457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/>
              <a:t>ACTION WHEN HEARING FIRE ALAR</a:t>
            </a:r>
            <a:r>
              <a:rPr lang="en-US"/>
              <a:t>M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609600" y="590550"/>
            <a:ext cx="77175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RECOGNITION OF FIRE SOUND</a:t>
            </a:r>
            <a:endParaRPr/>
          </a:p>
          <a:p>
            <a:pPr indent="-298450" lvl="0" marL="457200" rtl="0" algn="l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-US" sz="1100"/>
              <a:t>If </a:t>
            </a:r>
            <a:r>
              <a:rPr lang="en-US" sz="1100"/>
              <a:t> alarm sound is continuous it means that there is a fire in the ward </a:t>
            </a:r>
            <a:endParaRPr/>
          </a:p>
          <a:p>
            <a:pPr indent="-298450" lvl="0" marL="457200" rtl="0" algn="l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-US" sz="1100"/>
              <a:t>If the sound </a:t>
            </a:r>
            <a:r>
              <a:rPr lang="en-US" sz="1100"/>
              <a:t>is intermittent the fire is in  a nearby ward</a:t>
            </a:r>
            <a:endParaRPr/>
          </a:p>
          <a:p>
            <a:pPr indent="-342900" lvl="0" marL="482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 Breaking the plastic glass in the nearest break glass call point</a:t>
            </a:r>
            <a:endParaRPr/>
          </a:p>
          <a:p>
            <a:pPr indent="-228600" lvl="0" marL="482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100"/>
          </a:p>
          <a:p>
            <a:pPr indent="-342900" lvl="0" marL="482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 Close the door</a:t>
            </a:r>
            <a:endParaRPr/>
          </a:p>
          <a:p>
            <a:pPr indent="-228600" lvl="0" marL="482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100"/>
          </a:p>
          <a:p>
            <a:pPr indent="-342900" lvl="0" marL="482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Call fire emergency [ code red] 9777</a:t>
            </a:r>
            <a:endParaRPr/>
          </a:p>
          <a:p>
            <a:pPr indent="-342900" lvl="1" marL="965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lphaLcParenR"/>
            </a:pPr>
            <a:r>
              <a:rPr lang="en-US" sz="1100"/>
              <a:t>Name of the person calling </a:t>
            </a:r>
            <a:endParaRPr/>
          </a:p>
          <a:p>
            <a:pPr indent="-342900" lvl="1" marL="965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lphaLcParenR"/>
            </a:pPr>
            <a:r>
              <a:rPr lang="en-US" sz="1100"/>
              <a:t>Location of the fire pw4</a:t>
            </a:r>
            <a:endParaRPr/>
          </a:p>
          <a:p>
            <a:pPr indent="-342900" lvl="1" marL="965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lphaLcParenR"/>
            </a:pPr>
            <a:r>
              <a:rPr lang="en-US" sz="1100"/>
              <a:t>Information about the fire</a:t>
            </a:r>
            <a:endParaRPr sz="1100"/>
          </a:p>
          <a:p>
            <a:pPr indent="-3429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Incharge  will decide to evacuate the pt</a:t>
            </a:r>
            <a:endParaRPr/>
          </a:p>
          <a:p>
            <a:pPr indent="-3429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/>
          </a:p>
          <a:p>
            <a:pPr indent="-3429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If any person is missing call control room inform the where last seen call all care givers, extra attenders, staff all should be around</a:t>
            </a:r>
            <a:endParaRPr/>
          </a:p>
          <a:p>
            <a:pPr indent="-2286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100"/>
          </a:p>
          <a:p>
            <a:pPr indent="-3429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Pt will be evacuated to PW3</a:t>
            </a:r>
            <a:endParaRPr/>
          </a:p>
          <a:p>
            <a:pPr indent="-2286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100"/>
          </a:p>
          <a:p>
            <a:pPr indent="-34290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100"/>
              <a:t>Most stable pt will be shifted first   followed by the most critical pt</a:t>
            </a:r>
            <a:endParaRPr/>
          </a:p>
        </p:txBody>
      </p:sp>
    </p:spTree>
  </p:cSld>
  <p:clrMapOvr>
    <a:masterClrMapping/>
  </p:clrMapOvr>
  <p:transition>
    <p:checker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228600" y="209550"/>
            <a:ext cx="4429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en-US"/>
              <a:t>Fire Witness Person</a:t>
            </a:r>
            <a:endParaRPr/>
          </a:p>
        </p:txBody>
      </p:sp>
      <p:sp>
        <p:nvSpPr>
          <p:cNvPr id="134" name="Google Shape;134;p7"/>
          <p:cNvSpPr txBox="1"/>
          <p:nvPr>
            <p:ph idx="2" type="title"/>
          </p:nvPr>
        </p:nvSpPr>
        <p:spPr>
          <a:xfrm>
            <a:off x="381000" y="742950"/>
            <a:ext cx="3810000" cy="19050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None/>
            </a:pP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600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None/>
            </a:pPr>
            <a:r>
              <a:t/>
            </a:r>
            <a:endParaRPr sz="1600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None/>
            </a:pP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16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1. </a:t>
            </a:r>
            <a: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Shouting fire</a:t>
            </a:r>
            <a:b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2. Break the fire alarm glass.</a:t>
            </a:r>
            <a:b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3. Close down medical gasses at the break glass control point in the ward. </a:t>
            </a:r>
            <a:b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4. Activate switch board for fire 9777.</a:t>
            </a:r>
            <a:b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13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5. Help for immediate patients. evacuation to the designated ward .</a:t>
            </a:r>
            <a:r>
              <a:rPr lang="en-US" sz="1300">
                <a:solidFill>
                  <a:srgbClr val="FFFF00"/>
                </a:solidFill>
                <a:highlight>
                  <a:schemeClr val="dk2"/>
                </a:highlight>
                <a:latin typeface="Arial Black"/>
                <a:ea typeface="Arial Black"/>
                <a:cs typeface="Arial Black"/>
                <a:sym typeface="Arial Black"/>
              </a:rPr>
              <a:t> </a:t>
            </a:r>
            <a:br>
              <a:rPr lang="en-US" sz="1600">
                <a:solidFill>
                  <a:srgbClr val="FFFF00"/>
                </a:solidFill>
                <a:highlight>
                  <a:schemeClr val="dk2"/>
                </a:highlight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highlight>
                  <a:schemeClr val="dk2"/>
                </a:highlight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160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1600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5" name="Google Shape;135;p7"/>
          <p:cNvSpPr txBox="1"/>
          <p:nvPr>
            <p:ph idx="1" type="subTitle"/>
          </p:nvPr>
        </p:nvSpPr>
        <p:spPr>
          <a:xfrm>
            <a:off x="4343400" y="285750"/>
            <a:ext cx="442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Ward nurse on duty</a:t>
            </a:r>
            <a:endParaRPr/>
          </a:p>
        </p:txBody>
      </p:sp>
      <p:sp>
        <p:nvSpPr>
          <p:cNvPr id="136" name="Google Shape;136;p7"/>
          <p:cNvSpPr txBox="1"/>
          <p:nvPr>
            <p:ph idx="3" type="title"/>
          </p:nvPr>
        </p:nvSpPr>
        <p:spPr>
          <a:xfrm>
            <a:off x="4800600" y="895350"/>
            <a:ext cx="3733800" cy="3657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1400">
                <a:solidFill>
                  <a:schemeClr val="dk2"/>
                </a:solidFill>
              </a:rPr>
              <a:t>1.</a:t>
            </a:r>
            <a:r>
              <a:rPr lang="en-US" sz="2000">
                <a:solidFill>
                  <a:schemeClr val="dk2"/>
                </a:solidFill>
              </a:rPr>
              <a:t> </a:t>
            </a:r>
            <a:r>
              <a:rPr lang="en-US" sz="1400">
                <a:solidFill>
                  <a:schemeClr val="dk2"/>
                </a:solidFill>
              </a:rPr>
              <a:t>Ensure the activation of fire alarm system .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2. Close down medical gasses at the break glass control point in the ward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3. evaluate the situation for risk during evacuation.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4. start immediate pt evacuation by-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  * assess the man power availability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  * arrange enough o2 trolley, monitors, ambubag if possible </a:t>
            </a:r>
            <a:br>
              <a:rPr lang="en-US" sz="1400">
                <a:solidFill>
                  <a:srgbClr val="FFFF00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  *evacuate ambulatory pts near the fire zone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  * semi and non ambulatory pt evacuate by beds and wheel chairs</a:t>
            </a:r>
            <a:br>
              <a:rPr lang="en-US" sz="1400">
                <a:solidFill>
                  <a:schemeClr val="dk2"/>
                </a:solidFill>
              </a:rPr>
            </a:br>
            <a:r>
              <a:rPr lang="en-US" sz="1400">
                <a:solidFill>
                  <a:schemeClr val="dk2"/>
                </a:solidFill>
              </a:rPr>
              <a:t>  * upon arrival to designated area ensue safe arrival of ts and all health care professionals.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137" name="Google Shape;137;p7"/>
          <p:cNvSpPr txBox="1"/>
          <p:nvPr>
            <p:ph idx="4" type="subTitle"/>
          </p:nvPr>
        </p:nvSpPr>
        <p:spPr>
          <a:xfrm>
            <a:off x="152400" y="2800350"/>
            <a:ext cx="4429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Bedside nurse </a:t>
            </a:r>
            <a:endParaRPr/>
          </a:p>
        </p:txBody>
      </p:sp>
      <p:sp>
        <p:nvSpPr>
          <p:cNvPr id="138" name="Google Shape;138;p7"/>
          <p:cNvSpPr txBox="1"/>
          <p:nvPr>
            <p:ph idx="5" type="title"/>
          </p:nvPr>
        </p:nvSpPr>
        <p:spPr>
          <a:xfrm>
            <a:off x="381000" y="3181350"/>
            <a:ext cx="4038600" cy="1769225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900">
                <a:solidFill>
                  <a:schemeClr val="dk2"/>
                </a:solidFill>
              </a:rPr>
              <a:t> 1.</a:t>
            </a:r>
            <a:r>
              <a:rPr lang="en-US" sz="1050">
                <a:solidFill>
                  <a:schemeClr val="dk2"/>
                </a:solidFill>
              </a:rPr>
              <a:t>Disconnect pt from monitoring and unneeded infusion pumps </a:t>
            </a:r>
            <a:br>
              <a:rPr lang="en-US" sz="1050">
                <a:solidFill>
                  <a:schemeClr val="dk2"/>
                </a:solidFill>
              </a:rPr>
            </a:br>
            <a:r>
              <a:rPr lang="en-US" sz="1050">
                <a:solidFill>
                  <a:schemeClr val="dk2"/>
                </a:solidFill>
              </a:rPr>
              <a:t>2. Upload o2 cylinder on the patient bed [ avoid opening o2 cylinder near fire scene]</a:t>
            </a:r>
            <a:br>
              <a:rPr lang="en-US" sz="1050">
                <a:solidFill>
                  <a:schemeClr val="dk2"/>
                </a:solidFill>
              </a:rPr>
            </a:br>
            <a:r>
              <a:rPr lang="en-US" sz="1050">
                <a:solidFill>
                  <a:schemeClr val="dk2"/>
                </a:solidFill>
              </a:rPr>
              <a:t>3. Start manual ventilation with the ambubag.</a:t>
            </a:r>
            <a:br>
              <a:rPr lang="en-US" sz="1050">
                <a:solidFill>
                  <a:schemeClr val="dk2"/>
                </a:solidFill>
              </a:rPr>
            </a:br>
            <a:r>
              <a:rPr lang="en-US" sz="1050">
                <a:solidFill>
                  <a:schemeClr val="dk2"/>
                </a:solidFill>
              </a:rPr>
              <a:t>4. Gather all pt documents and medication </a:t>
            </a:r>
            <a:br>
              <a:rPr lang="en-US" sz="1050">
                <a:solidFill>
                  <a:schemeClr val="dk2"/>
                </a:solidFill>
              </a:rPr>
            </a:br>
            <a:r>
              <a:rPr lang="en-US" sz="1050">
                <a:solidFill>
                  <a:schemeClr val="dk2"/>
                </a:solidFill>
              </a:rPr>
              <a:t>5. Immediately evacuate the pt to designated area according to fire escape plan .</a:t>
            </a:r>
            <a:br>
              <a:rPr lang="en-US" sz="1050">
                <a:solidFill>
                  <a:schemeClr val="dk2"/>
                </a:solidFill>
              </a:rPr>
            </a:br>
            <a:r>
              <a:rPr lang="en-US" sz="1050">
                <a:solidFill>
                  <a:schemeClr val="dk2"/>
                </a:solidFill>
              </a:rPr>
              <a:t>5. Ensure safe arrival of pt and all health care professionals.</a:t>
            </a:r>
            <a:endParaRPr sz="105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20210104_145922.jpg"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577225"/>
            <a:ext cx="3964555" cy="3886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210104_145900.jpg"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5729" y="577230"/>
            <a:ext cx="3657600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49a85f67f7_0_3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149a85f67f7_0_38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g149a85f67f7_0_382"/>
          <p:cNvPicPr preferRelativeResize="0"/>
          <p:nvPr/>
        </p:nvPicPr>
        <p:blipFill rotWithShape="1">
          <a:blip r:embed="rId3">
            <a:alphaModFix/>
          </a:blip>
          <a:srcRect b="32962" l="0" r="7944" t="0"/>
          <a:stretch/>
        </p:blipFill>
        <p:spPr>
          <a:xfrm>
            <a:off x="311700" y="0"/>
            <a:ext cx="2819526" cy="227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149a85f67f7_0_382"/>
          <p:cNvPicPr preferRelativeResize="0"/>
          <p:nvPr/>
        </p:nvPicPr>
        <p:blipFill rotWithShape="1">
          <a:blip r:embed="rId4">
            <a:alphaModFix/>
          </a:blip>
          <a:srcRect b="39541" l="0" r="0" t="8722"/>
          <a:stretch/>
        </p:blipFill>
        <p:spPr>
          <a:xfrm>
            <a:off x="311700" y="2482425"/>
            <a:ext cx="2893199" cy="266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149a85f67f7_0_3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1141" y="0"/>
            <a:ext cx="289321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149a85f67f7_0_3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4275" y="141025"/>
            <a:ext cx="2893199" cy="4946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6b054aa941dbf2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g346b054aa941dbf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865731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46b054aa941dbf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0531" y="1170125"/>
            <a:ext cx="2865731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46b054aa941dbf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8663" y="1170125"/>
            <a:ext cx="234759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9a85f67f7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49a85f67f7_0_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g149a85f67f7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425" y="0"/>
            <a:ext cx="53879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9a85f67f7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149a85f67f7_0_1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g149a85f67f7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300" y="0"/>
            <a:ext cx="46169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9a85f67f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49a85f67f7_0_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g149a85f67f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625" y="0"/>
            <a:ext cx="53127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9a85f67f7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149a85f67f7_0_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g149a85f67f7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575" y="0"/>
            <a:ext cx="5397376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9a85f67f7_0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149a85f67f7_0_3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g149a85f67f7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5" y="0"/>
            <a:ext cx="876647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9990d8b5cf6007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159990d8b5cf6007_0"/>
          <p:cNvSpPr txBox="1"/>
          <p:nvPr/>
        </p:nvSpPr>
        <p:spPr>
          <a:xfrm rot="584">
            <a:off x="311689" y="1323790"/>
            <a:ext cx="8832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his video covers basic facility fire safety, including raising the alarm, basic fire fighting procedures and emergency evacuation.&#10;&#10;Copies of this video are available for a bargain basement price. For a little more we can add your logo, change characters and backgrounds to suit your situation. For a little more again, we can completely customize this video or create a completely different video, based on your instructions. For more information and video samples, please visit our website: &#10;custom-animation.com&#10;THE VIDEOS THAT TRAIN AS THEY ENTERTAIN!" id="206" name="Google Shape;206;g159990d8b5cf6007_0" title="Fire Emergency Procedures - Animated Safety Vide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73240"/>
            <a:ext cx="4157147" cy="3117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400"/>
              <a:t>Disaster plan</a:t>
            </a:r>
            <a:endParaRPr sz="2400"/>
          </a:p>
        </p:txBody>
      </p:sp>
      <p:sp>
        <p:nvSpPr>
          <p:cNvPr id="212" name="Google Shape;212;p1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A disaster is defined as    a serious disruption of the functioning of the society,  causing wide spread    human material  or environment loses   which exceed the ability of the    affected  society   to  cope using    its on resources .   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/>
              <a:t>Disasters are unpredictable     and therefore    difficult to prepare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Staffing required during in phdu</a:t>
            </a:r>
            <a:endParaRPr sz="18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One ward nurse, one I/C, one staff nurse for each bed and two helper</a:t>
            </a:r>
            <a:endParaRPr sz="1800"/>
          </a:p>
        </p:txBody>
      </p:sp>
    </p:spTree>
  </p:cSld>
  <p:clrMapOvr>
    <a:masterClrMapping/>
  </p:clrMapOvr>
  <p:transition>
    <p:checker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668294059387ddcd_0"/>
          <p:cNvSpPr txBox="1"/>
          <p:nvPr>
            <p:ph idx="1" type="body"/>
          </p:nvPr>
        </p:nvSpPr>
        <p:spPr>
          <a:xfrm>
            <a:off x="311700" y="382175"/>
            <a:ext cx="8520600" cy="4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g668294059387ddcd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088" y="191088"/>
            <a:ext cx="6839827" cy="456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668294059387ddcd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668294059387ddcd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687" y="616"/>
            <a:ext cx="4727302" cy="514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668294059387ddcd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g668294059387ddcd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189" y="0"/>
            <a:ext cx="45416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68294059387ddcd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g668294059387ddcd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838" y="0"/>
            <a:ext cx="4420324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668294059387ddcd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g668294059387ddcd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000" y="0"/>
            <a:ext cx="4854027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668294059387ddcd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g668294059387ddcd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025" y="65825"/>
            <a:ext cx="4579675" cy="50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68294059387ddcd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g668294059387ddcd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250" y="0"/>
            <a:ext cx="48465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 txBox="1"/>
          <p:nvPr>
            <p:ph type="title"/>
          </p:nvPr>
        </p:nvSpPr>
        <p:spPr>
          <a:xfrm>
            <a:off x="713250" y="539500"/>
            <a:ext cx="3858600" cy="20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US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C:\Users\Samsung\AppData\Local\Microsoft\Windows\INetCache\IE\ITHQ6JFC\beautiful_clouds_cloudy_conifers_countryside_environment_fir_trees_forest-1513223[1].jpg" id="260" name="Google Shape;260;p11"/>
          <p:cNvPicPr preferRelativeResize="0"/>
          <p:nvPr/>
        </p:nvPicPr>
        <p:blipFill rotWithShape="1">
          <a:blip r:embed="rId4">
            <a:alphaModFix/>
          </a:blip>
          <a:srcRect b="1090" l="0" r="0" t="-109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 txBox="1"/>
          <p:nvPr/>
        </p:nvSpPr>
        <p:spPr>
          <a:xfrm>
            <a:off x="4267200" y="4035504"/>
            <a:ext cx="48768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6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1" sz="66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7071150" y="4035500"/>
            <a:ext cx="155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ayfair Display"/>
                <a:ea typeface="Playfair Display"/>
                <a:cs typeface="Playfair Display"/>
                <a:sym typeface="Playfair Display"/>
              </a:rPr>
              <a:t>-Rinsy Joseph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