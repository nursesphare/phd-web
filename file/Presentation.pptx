
<file path=[Content_Types].xml><?xml version="1.0" encoding="utf-8"?>
<Types xmlns="http://schemas.openxmlformats.org/package/2006/content-types">
  <Default ContentType="application/xml" Extension="xml"/>
  <Default ContentType="image/jpeg" Extension="jpeg"/>
  <Default ContentType="application/vnd.openxmlformats-package.relationships+xml" Extension="rels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</p:sldIdLst>
  <p:sldSz cy="6858000" cx="12192000"/>
  <p:notesSz cx="6858000" cy="9144000"/>
  <p:defaultTextStyle>
    <a:defPPr lvl="0">
      <a:defRPr lang="en-US"/>
    </a:defPPr>
    <a:lvl1pPr defTabSz="4572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4572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4572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4572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4572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4572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4572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4572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4572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7.xml"/><Relationship Id="rId11" Type="http://schemas.openxmlformats.org/officeDocument/2006/relationships/slide" Target="slides/slide8.xml"/><Relationship Id="rId22" Type="http://schemas.openxmlformats.org/officeDocument/2006/relationships/slide" Target="slides/slide19.xml"/><Relationship Id="rId10" Type="http://schemas.openxmlformats.org/officeDocument/2006/relationships/slide" Target="slides/slide7.xml"/><Relationship Id="rId21" Type="http://schemas.openxmlformats.org/officeDocument/2006/relationships/slide" Target="slides/slide18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23" Type="http://schemas.openxmlformats.org/officeDocument/2006/relationships/slide" Target="slides/slide20.xml"/><Relationship Id="rId1" Type="http://schemas.openxmlformats.org/officeDocument/2006/relationships/theme" Target="theme/theme1.xml"/><Relationship Id="rId2" Type="http://schemas.openxmlformats.org/officeDocument/2006/relationships/presProps" Target="presProps1.xml"/><Relationship Id="rId3" Type="http://schemas.openxmlformats.org/officeDocument/2006/relationships/slideMaster" Target="slideMasters/slide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5" Type="http://schemas.openxmlformats.org/officeDocument/2006/relationships/slide" Target="slides/slide2.xml"/><Relationship Id="rId19" Type="http://schemas.openxmlformats.org/officeDocument/2006/relationships/slide" Target="slides/slide16.xml"/><Relationship Id="rId6" Type="http://schemas.openxmlformats.org/officeDocument/2006/relationships/slide" Target="slides/slide3.xml"/><Relationship Id="rId18" Type="http://schemas.openxmlformats.org/officeDocument/2006/relationships/slide" Target="slides/slide15.xml"/><Relationship Id="rId7" Type="http://schemas.openxmlformats.org/officeDocument/2006/relationships/slide" Target="slides/slide4.xml"/><Relationship Id="rId8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Master" Target="../slideMasters/slideMaster1.xml" 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Master" Target="../slideMasters/slideMaster1.xml" 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Master" Target="../slideMasters/slideMaster1.xml" 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  <a:pPr/>
              <a:t>3/22/2022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  <a:t>3/22/2022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  <a:t>3/22/2022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  <a:t>3/22/2022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  <a:t>3/22/2022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  <a:t>3/22/2022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  <a:t>3/22/2022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  <a:t>3/22/2022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  <a:t>3/22/2022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  <a:t>3/22/2022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  <a:t>3/22/2022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  <a:t>3/22/2022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  <a:t>3/22/2022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  <a:t>3/22/2022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  <a:t>3/22/2022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dirty="0"/>
              <a:t>3/22/2022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dirty="0"/>
              <a:t>3/22/2022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slideLayout" Target="../slideLayouts/slideLayout13.xml" /><Relationship Id="rId18" Type="http://schemas.openxmlformats.org/officeDocument/2006/relationships/theme" Target="../theme/theme1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slideLayout" Target="../slideLayouts/slideLayout12.xml" /><Relationship Id="rId17" Type="http://schemas.openxmlformats.org/officeDocument/2006/relationships/slideLayout" Target="../slideLayouts/slideLayout17.xml" /><Relationship Id="rId2" Type="http://schemas.openxmlformats.org/officeDocument/2006/relationships/slideLayout" Target="../slideLayouts/slideLayout2.xml" /><Relationship Id="rId16" Type="http://schemas.openxmlformats.org/officeDocument/2006/relationships/slideLayout" Target="../slideLayouts/slideLayout16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5" Type="http://schemas.openxmlformats.org/officeDocument/2006/relationships/slideLayout" Target="../slideLayouts/slideLayout15.xml" /><Relationship Id="rId10" Type="http://schemas.openxmlformats.org/officeDocument/2006/relationships/slideLayout" Target="../slideLayouts/slideLayout10.xml" /><Relationship Id="rId19" Type="http://schemas.openxmlformats.org/officeDocument/2006/relationships/image" Target="../media/image1.jpeg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Relationship Id="rId14" Type="http://schemas.openxmlformats.org/officeDocument/2006/relationships/slideLayout" Target="../slideLayouts/slideLayout14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  <a:t>3/22/2022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72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60769-0F09-7D4B-A2DA-10568F66CD0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Identifying a sick child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5941B0-ED40-EF4C-9C47-68FE0C2CE6D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              </a:t>
            </a:r>
          </a:p>
          <a:p>
            <a:r>
              <a:rPr lang="en-US"/>
              <a:t>                                                           Tintu Jose </a:t>
            </a:r>
          </a:p>
        </p:txBody>
      </p:sp>
    </p:spTree>
    <p:extLst>
      <p:ext uri="{BB962C8B-B14F-4D97-AF65-F5344CB8AC3E}">
        <p14:creationId xmlns:p14="http://schemas.microsoft.com/office/powerpoint/2010/main" val="3135165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1070C-1EFD-CA42-9388-B32CA17A5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Initial Assessment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AFE481-281C-2448-ABBE-02A5981274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/>
              <a:t>                                                                              </a:t>
            </a:r>
          </a:p>
          <a:p>
            <a:pPr marL="0" indent="0">
              <a:buNone/>
            </a:pPr>
            <a:r>
              <a:rPr lang="en-US"/>
              <a:t>                                                                                     </a:t>
            </a:r>
            <a:r>
              <a:rPr lang="en-US" u="sng"/>
              <a:t>work</a:t>
            </a:r>
            <a:r>
              <a:rPr lang="en-US"/>
              <a:t> of </a:t>
            </a:r>
            <a:r>
              <a:rPr lang="en-US" u="sng"/>
              <a:t>breathing</a:t>
            </a:r>
            <a:r>
              <a:rPr lang="en-US"/>
              <a:t>                             </a:t>
            </a:r>
          </a:p>
          <a:p>
            <a:pPr marL="0" indent="0">
              <a:buNone/>
            </a:pPr>
            <a:r>
              <a:rPr lang="en-US"/>
              <a:t>             </a:t>
            </a:r>
          </a:p>
          <a:p>
            <a:pPr marL="0" indent="0">
              <a:buNone/>
            </a:pPr>
            <a:r>
              <a:rPr lang="en-US"/>
              <a:t>                              </a:t>
            </a:r>
            <a:r>
              <a:rPr lang="en-US" u="sng"/>
              <a:t>Appearance</a:t>
            </a:r>
          </a:p>
          <a:p>
            <a:pPr marL="0" indent="0">
              <a:buNone/>
            </a:pPr>
            <a:r>
              <a:rPr lang="en-US"/>
              <a:t>             </a:t>
            </a:r>
          </a:p>
          <a:p>
            <a:pPr marL="0" indent="0">
              <a:buNone/>
            </a:pPr>
            <a:r>
              <a:rPr lang="en-US"/>
              <a:t>              </a:t>
            </a:r>
          </a:p>
          <a:p>
            <a:pPr marL="0" indent="0">
              <a:buNone/>
            </a:pPr>
            <a:r>
              <a:rPr lang="en-US"/>
              <a:t>             </a:t>
            </a:r>
          </a:p>
          <a:p>
            <a:pPr marL="0" indent="0">
              <a:buNone/>
            </a:pPr>
            <a:r>
              <a:rPr lang="en-US"/>
              <a:t>                                                           </a:t>
            </a:r>
            <a:r>
              <a:rPr lang="en-US" u="sng"/>
              <a:t>  Circulation</a:t>
            </a:r>
            <a:endParaRPr lang="en-US"/>
          </a:p>
          <a:p>
            <a:pPr marL="0" indent="0">
              <a:buNone/>
            </a:pPr>
            <a:r>
              <a:rPr lang="en-US"/>
              <a:t>             </a:t>
            </a:r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F132F5BC-822B-BF45-A712-2EDF7BC82011}"/>
              </a:ext>
            </a:extLst>
          </p:cNvPr>
          <p:cNvSpPr/>
          <p:nvPr/>
        </p:nvSpPr>
        <p:spPr>
          <a:xfrm>
            <a:off x="4535234" y="2607469"/>
            <a:ext cx="2121408" cy="182880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1820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13CFF4-A35C-3D49-8B07-47AB0C8D8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Apperance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929363-C499-444D-8E21-F6D04319C2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T: Tone</a:t>
            </a:r>
          </a:p>
          <a:p>
            <a:r>
              <a:rPr lang="en-US"/>
              <a:t>I: Interactiveness</a:t>
            </a:r>
          </a:p>
          <a:p>
            <a:r>
              <a:rPr lang="en-US"/>
              <a:t>C: Consolability</a:t>
            </a:r>
          </a:p>
          <a:p>
            <a:r>
              <a:rPr lang="en-US"/>
              <a:t>L: Look/ gaze</a:t>
            </a:r>
          </a:p>
          <a:p>
            <a:r>
              <a:rPr lang="en-US"/>
              <a:t>S: Speech/cry</a:t>
            </a:r>
          </a:p>
          <a:p>
            <a:endParaRPr lang="en-US"/>
          </a:p>
          <a:p>
            <a:r>
              <a:rPr lang="en-US"/>
              <a:t>         TICLS</a:t>
            </a:r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8485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E287A-F83A-7349-BB98-CA0D1220D1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Work of breathing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FE44D5-14D6-3B4B-B4DD-8EC53A2454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Signs of increased respiratory effort.</a:t>
            </a:r>
          </a:p>
          <a:p>
            <a:r>
              <a:rPr lang="en-US"/>
              <a:t>Abnormal breathing with sounds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2701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68084A-403F-914A-8B09-F30B2820B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Circulation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704DF9-8C89-4946-AC75-80F21AB2FE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Colour of the skin</a:t>
            </a:r>
          </a:p>
          <a:p>
            <a:r>
              <a:rPr lang="en-US"/>
              <a:t>Visible bleeding wounds</a:t>
            </a:r>
          </a:p>
        </p:txBody>
      </p:sp>
    </p:spTree>
    <p:extLst>
      <p:ext uri="{BB962C8B-B14F-4D97-AF65-F5344CB8AC3E}">
        <p14:creationId xmlns:p14="http://schemas.microsoft.com/office/powerpoint/2010/main" val="2649817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BAD42-58B6-2A42-A9F7-CF24574288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Primary Assessment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30C3BB-84BA-BE4C-9937-1C5DEDC043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Airway</a:t>
            </a:r>
          </a:p>
          <a:p>
            <a:r>
              <a:rPr lang="en-US"/>
              <a:t>Breathing</a:t>
            </a:r>
          </a:p>
          <a:p>
            <a:r>
              <a:rPr lang="en-US"/>
              <a:t>Circulation</a:t>
            </a:r>
          </a:p>
          <a:p>
            <a:r>
              <a:rPr lang="en-US"/>
              <a:t>Disability</a:t>
            </a:r>
          </a:p>
          <a:p>
            <a:r>
              <a:rPr lang="en-US"/>
              <a:t>Exposure</a:t>
            </a:r>
          </a:p>
        </p:txBody>
      </p:sp>
    </p:spTree>
    <p:extLst>
      <p:ext uri="{BB962C8B-B14F-4D97-AF65-F5344CB8AC3E}">
        <p14:creationId xmlns:p14="http://schemas.microsoft.com/office/powerpoint/2010/main" val="31568002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945EC-3B60-334C-887D-79D033E92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Airway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28D814-5904-7F47-B94E-A3071356FF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Vocalisation indicates ventilation and some degree of airway patency</a:t>
            </a:r>
          </a:p>
          <a:p>
            <a:pPr marL="0" indent="0">
              <a:buNone/>
            </a:pPr>
            <a:r>
              <a:rPr lang="en-US"/>
              <a:t> example crying/ talking.</a:t>
            </a:r>
          </a:p>
          <a:p>
            <a:pPr marL="0" indent="0">
              <a:buNone/>
            </a:pPr>
            <a:r>
              <a:rPr lang="en-US"/>
              <a:t> Assess patency by</a:t>
            </a:r>
          </a:p>
          <a:p>
            <a:pPr marL="0" indent="0">
              <a:buNone/>
            </a:pPr>
            <a:r>
              <a:rPr lang="en-US"/>
              <a:t>   . Looking for chest and/ or abnormal movements.</a:t>
            </a:r>
          </a:p>
          <a:p>
            <a:pPr marL="0" indent="0">
              <a:buNone/>
            </a:pPr>
            <a:r>
              <a:rPr lang="en-US"/>
              <a:t>   . Listening for breath sounds/ air movements.</a:t>
            </a:r>
          </a:p>
          <a:p>
            <a:pPr marL="0" indent="0">
              <a:buNone/>
            </a:pPr>
            <a:r>
              <a:rPr lang="en-US"/>
              <a:t>   . Feeling for expired air.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1603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ED833-6273-4A44-A92E-4C8F7388C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8B0A75-ECBA-6545-AE95-A61AA411BC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Simple measures to maintain airway</a:t>
            </a:r>
          </a:p>
          <a:p>
            <a:endParaRPr lang="en-US"/>
          </a:p>
          <a:p>
            <a:r>
              <a:rPr lang="en-US"/>
              <a:t> Positioning</a:t>
            </a:r>
          </a:p>
          <a:p>
            <a:r>
              <a:rPr lang="en-US"/>
              <a:t>Suctioning</a:t>
            </a:r>
          </a:p>
        </p:txBody>
      </p:sp>
    </p:spTree>
    <p:extLst>
      <p:ext uri="{BB962C8B-B14F-4D97-AF65-F5344CB8AC3E}">
        <p14:creationId xmlns:p14="http://schemas.microsoft.com/office/powerpoint/2010/main" val="7473578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4C127-B5D1-7C4B-84AC-5C8540E9F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Breathing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028127-FA87-BF42-8D48-E553E761A8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Effort of breathing</a:t>
            </a:r>
          </a:p>
          <a:p>
            <a:endParaRPr lang="en-US"/>
          </a:p>
          <a:p>
            <a:r>
              <a:rPr lang="en-US"/>
              <a:t>Respiratory rate and pattern( less than 20 or more than 60 abnormal)</a:t>
            </a:r>
          </a:p>
          <a:p>
            <a:r>
              <a:rPr lang="en-US"/>
              <a:t>Recession: use of acessory muscles.</a:t>
            </a:r>
          </a:p>
          <a:p>
            <a:r>
              <a:rPr lang="en-US"/>
              <a:t>Inspiratory or expiratory noises like wheezing( predominantly expiratory, indicates lower airway obstruction), stridor (usually inspiratory, indicates larygeal or tracheal obstruction).</a:t>
            </a:r>
          </a:p>
          <a:p>
            <a:r>
              <a:rPr lang="en-US"/>
              <a:t>Flaring of nostrils.</a:t>
            </a:r>
          </a:p>
        </p:txBody>
      </p:sp>
    </p:spTree>
    <p:extLst>
      <p:ext uri="{BB962C8B-B14F-4D97-AF65-F5344CB8AC3E}">
        <p14:creationId xmlns:p14="http://schemas.microsoft.com/office/powerpoint/2010/main" val="27994254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DEE12-F2A7-9F47-8FCF-E58B835B71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C47981-56A9-9C4F-8B4C-FA8C663804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Grunting: sign of severe respiratory distress</a:t>
            </a:r>
          </a:p>
          <a:p>
            <a:r>
              <a:rPr lang="en-US"/>
              <a:t>Gasping: sign of severe hypoxemia</a:t>
            </a:r>
          </a:p>
          <a:p>
            <a:r>
              <a:rPr lang="en-US"/>
              <a:t>Head bobbing</a:t>
            </a:r>
          </a:p>
        </p:txBody>
      </p:sp>
    </p:spTree>
    <p:extLst>
      <p:ext uri="{BB962C8B-B14F-4D97-AF65-F5344CB8AC3E}">
        <p14:creationId xmlns:p14="http://schemas.microsoft.com/office/powerpoint/2010/main" val="12836599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732D09-A2D9-3049-B986-B749394AE3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Efficiency of breathing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EC4550-6150-6045-B0C5-2BB521B7B0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5454" y="2496344"/>
            <a:ext cx="8825659" cy="3416300"/>
          </a:xfrm>
        </p:spPr>
        <p:txBody>
          <a:bodyPr/>
          <a:lstStyle/>
          <a:p>
            <a:r>
              <a:rPr lang="en-US"/>
              <a:t>Breath sounds</a:t>
            </a:r>
          </a:p>
          <a:p>
            <a:r>
              <a:rPr lang="en-US"/>
              <a:t>Chest expansion.</a:t>
            </a:r>
          </a:p>
          <a:p>
            <a:r>
              <a:rPr lang="en-US"/>
              <a:t>Pulse oxymetry</a:t>
            </a:r>
          </a:p>
        </p:txBody>
      </p:sp>
    </p:spTree>
    <p:extLst>
      <p:ext uri="{BB962C8B-B14F-4D97-AF65-F5344CB8AC3E}">
        <p14:creationId xmlns:p14="http://schemas.microsoft.com/office/powerpoint/2010/main" val="31131476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A5822C-9445-E843-992D-621795B5E3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Effects of respiratory failure</a:t>
            </a:r>
            <a:br>
              <a:rPr lang="en-US"/>
            </a:b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B266D9-7CCC-2847-8B09-9F0616B07D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Increased or decreased heart rate.</a:t>
            </a:r>
          </a:p>
          <a:p>
            <a:r>
              <a:rPr lang="en-US"/>
              <a:t>Cyanosis</a:t>
            </a:r>
          </a:p>
          <a:p>
            <a:r>
              <a:rPr lang="en-US"/>
              <a:t>Hypoxic child will be agitated first, then drowsy and then unconscious.</a:t>
            </a:r>
          </a:p>
        </p:txBody>
      </p:sp>
    </p:spTree>
    <p:extLst>
      <p:ext uri="{BB962C8B-B14F-4D97-AF65-F5344CB8AC3E}">
        <p14:creationId xmlns:p14="http://schemas.microsoft.com/office/powerpoint/2010/main" val="22330969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D1163-6C3E-BD49-9A48-FDFBD66A4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Circulation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31532B-28BB-D044-A51C-EA9F2EF0E6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Heart rates.</a:t>
            </a:r>
          </a:p>
          <a:p>
            <a:r>
              <a:rPr lang="en-US"/>
              <a:t>Pulse volume: absent peripheral pulse and reduced central pulse indicate Shock.</a:t>
            </a:r>
          </a:p>
          <a:p>
            <a:r>
              <a:rPr lang="en-US"/>
              <a:t>Capillary refill.</a:t>
            </a:r>
          </a:p>
          <a:p>
            <a:r>
              <a:rPr lang="en-US"/>
              <a:t>BP ( cuff should cover more than 80% of length of upper arm).</a:t>
            </a:r>
          </a:p>
          <a:p>
            <a:r>
              <a:rPr lang="en-US"/>
              <a:t>Hypotension is a late sign of circulatory failure.</a:t>
            </a:r>
          </a:p>
        </p:txBody>
      </p:sp>
    </p:spTree>
    <p:extLst>
      <p:ext uri="{BB962C8B-B14F-4D97-AF65-F5344CB8AC3E}">
        <p14:creationId xmlns:p14="http://schemas.microsoft.com/office/powerpoint/2010/main" val="33239953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AE32D-651D-2C41-8566-69E5ACFB03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1204" y="973668"/>
            <a:ext cx="8761413" cy="706964"/>
          </a:xfrm>
        </p:spPr>
        <p:txBody>
          <a:bodyPr/>
          <a:lstStyle/>
          <a:p>
            <a:r>
              <a:rPr lang="en-US"/>
              <a:t>Effects of circulatory failure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896A88-C901-8540-BE22-7FCE8E8AFE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r>
              <a:rPr lang="en-US"/>
              <a:t>Respiratory system : tachypnea and hyperventilation occurs with acidosis.</a:t>
            </a:r>
          </a:p>
          <a:p>
            <a:r>
              <a:rPr lang="en-US"/>
              <a:t>Skin : pale or mottled skin colour indicates poor perfusion.</a:t>
            </a:r>
          </a:p>
          <a:p>
            <a:r>
              <a:rPr lang="en-US"/>
              <a:t>Mental status: agitation then drowsy leading to unconscious.</a:t>
            </a:r>
          </a:p>
          <a:p>
            <a:r>
              <a:rPr lang="en-US"/>
              <a:t>Urine output less than 1ml/kg/hr indicates less renal perfusion.</a:t>
            </a:r>
          </a:p>
        </p:txBody>
      </p:sp>
    </p:spTree>
    <p:extLst>
      <p:ext uri="{BB962C8B-B14F-4D97-AF65-F5344CB8AC3E}">
        <p14:creationId xmlns:p14="http://schemas.microsoft.com/office/powerpoint/2010/main" val="26173039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AE32D-651D-2C41-8566-69E5ACFB0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Disability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896A88-C901-8540-BE22-7FCE8E8AFE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Assessment of conscious level</a:t>
            </a:r>
          </a:p>
          <a:p>
            <a:r>
              <a:rPr lang="en-US"/>
              <a:t>AVPU ( alert, voice, painful stimuli, unresponsive).</a:t>
            </a:r>
          </a:p>
          <a:p>
            <a:r>
              <a:rPr lang="en-US"/>
              <a:t>Glasgow coma scale.</a:t>
            </a:r>
          </a:p>
          <a:p>
            <a:r>
              <a:rPr lang="en-US"/>
              <a:t>Blood glucose</a:t>
            </a:r>
          </a:p>
          <a:p>
            <a:r>
              <a:rPr lang="en-US"/>
              <a:t>Pupils</a:t>
            </a:r>
          </a:p>
        </p:txBody>
      </p:sp>
    </p:spTree>
    <p:extLst>
      <p:ext uri="{BB962C8B-B14F-4D97-AF65-F5344CB8AC3E}">
        <p14:creationId xmlns:p14="http://schemas.microsoft.com/office/powerpoint/2010/main" val="40512646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120D31-4145-7F42-AF1A-B2FE7B0DBC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/>
          <a:p>
            <a:r>
              <a:rPr lang="en-US"/>
              <a:t>Exposure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D97B87-AC7A-324A-AEAD-C333B2B7DA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4485" y="2532062"/>
            <a:ext cx="8825659" cy="3416300"/>
          </a:xfrm>
        </p:spPr>
        <p:txBody>
          <a:bodyPr/>
          <a:lstStyle/>
          <a:p>
            <a:r>
              <a:rPr lang="en-US"/>
              <a:t>Fever</a:t>
            </a:r>
          </a:p>
          <a:p>
            <a:r>
              <a:rPr lang="en-US"/>
              <a:t>Skin rashes, bruising</a:t>
            </a:r>
          </a:p>
        </p:txBody>
      </p:sp>
    </p:spTree>
    <p:extLst>
      <p:ext uri="{BB962C8B-B14F-4D97-AF65-F5344CB8AC3E}">
        <p14:creationId xmlns:p14="http://schemas.microsoft.com/office/powerpoint/2010/main" val="21814720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2CE19A-DCB0-8D48-BDD7-90E858267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Additional vital informations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CD1CAE-413F-7E45-944C-F4D4585876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Elimination : voiding freely or with foleys catheter</a:t>
            </a:r>
          </a:p>
          <a:p>
            <a:r>
              <a:rPr lang="en-US"/>
              <a:t>  Bowel motion: diarrhoea or constipation</a:t>
            </a:r>
          </a:p>
          <a:p>
            <a:r>
              <a:rPr lang="en-US"/>
              <a:t>Fluids: TFR</a:t>
            </a:r>
          </a:p>
          <a:p>
            <a:r>
              <a:rPr lang="en-US"/>
              <a:t>GIT.     : Child’ s nutrition.</a:t>
            </a:r>
          </a:p>
        </p:txBody>
      </p:sp>
    </p:spTree>
    <p:extLst>
      <p:ext uri="{BB962C8B-B14F-4D97-AF65-F5344CB8AC3E}">
        <p14:creationId xmlns:p14="http://schemas.microsoft.com/office/powerpoint/2010/main" val="17310387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0BC59-A91A-B043-A6B7-7B87C7D1D2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Secondary assessment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528A43-A5AE-A744-A324-DD94EA5F50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History collection: SAMPLE ( signs and symptoms, allergy, medication, past history, last meal, events)</a:t>
            </a:r>
          </a:p>
          <a:p>
            <a:endParaRPr lang="en-US"/>
          </a:p>
          <a:p>
            <a:r>
              <a:rPr lang="en-US"/>
              <a:t>Physical examination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Diagnostic assessment: </a:t>
            </a:r>
          </a:p>
        </p:txBody>
      </p:sp>
    </p:spTree>
    <p:extLst>
      <p:ext uri="{BB962C8B-B14F-4D97-AF65-F5344CB8AC3E}">
        <p14:creationId xmlns:p14="http://schemas.microsoft.com/office/powerpoint/2010/main" val="11390285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900D8-09CA-3F43-8640-F22CDA2009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C3DCF1-9275-FE45-A4BD-8C9C96CCC6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Respiratory distress</a:t>
            </a:r>
          </a:p>
          <a:p>
            <a:r>
              <a:rPr lang="en-US"/>
              <a:t>Lead to respiratory failure</a:t>
            </a:r>
          </a:p>
          <a:p>
            <a:r>
              <a:rPr lang="en-US"/>
              <a:t>Then cardiac arrest…</a:t>
            </a:r>
          </a:p>
          <a:p>
            <a:endParaRPr lang="en-US"/>
          </a:p>
          <a:p>
            <a:r>
              <a:rPr lang="en-US"/>
              <a:t>Early recognition and prevention can reduce the risk of respiratory failure..</a:t>
            </a:r>
          </a:p>
        </p:txBody>
      </p:sp>
    </p:spTree>
    <p:extLst>
      <p:ext uri="{BB962C8B-B14F-4D97-AF65-F5344CB8AC3E}">
        <p14:creationId xmlns:p14="http://schemas.microsoft.com/office/powerpoint/2010/main" val="31132043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ACCA8-E675-4E45-80BC-084AFE1636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CBB242-8757-CB42-9256-C9A7DCF435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            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           💐  THANK YOU 💐</a:t>
            </a:r>
          </a:p>
        </p:txBody>
      </p:sp>
    </p:spTree>
    <p:extLst>
      <p:ext uri="{BB962C8B-B14F-4D97-AF65-F5344CB8AC3E}">
        <p14:creationId xmlns:p14="http://schemas.microsoft.com/office/powerpoint/2010/main" val="143926875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 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10001029" id="{ED3996BA-162B-43C7-B0E2-A5CA4E649741}" vid="{187088E4-27D7-4455-856F-4A44258D82E2}"/>
    </a:ext>
  </a:extLst>
</a:theme>
</file>