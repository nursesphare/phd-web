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</p:sldIdLst>
  <p:sldSz cx="9144000" cy="6858000" type="screen4x3"/>
  <p:notesSz cx="9388475" cy="7102475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7">
          <p15:clr>
            <a:srgbClr val="000000"/>
          </p15:clr>
        </p15:guide>
        <p15:guide id="2" pos="2957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71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237"/>
        <p:guide pos="295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8339" cy="3551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3" y="0"/>
            <a:ext cx="4068339" cy="3551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FE6F8B5C-847A-40F8-A5EE-EEC6341FF81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9413" y="533400"/>
            <a:ext cx="3549650" cy="26622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373676"/>
            <a:ext cx="7510780" cy="3196114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51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51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8B61E322-E305-4F7E-BD26-3EBFDD9E4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4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61E322-E305-4F7E-BD26-3EBFDD9E48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05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3530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302422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16304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730046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38125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4353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6892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21175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109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3029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35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0192D-056C-4EFB-9CF1-F2ACABDDC80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311AE-4E04-443F-8EE1-71417037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64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ransition spd="slow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51" y="104129"/>
            <a:ext cx="9069049" cy="65248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4400" dirty="0">
                <a:latin typeface="Algerian" pitchFamily="82" charset="0"/>
              </a:rPr>
              <a:t>                     </a:t>
            </a:r>
          </a:p>
          <a:p>
            <a:r>
              <a:rPr lang="en-US" sz="4400" dirty="0">
                <a:latin typeface="Algerian" pitchFamily="82" charset="0"/>
              </a:rPr>
              <a:t>                      </a:t>
            </a:r>
            <a:r>
              <a:rPr lang="en-US" sz="6600" dirty="0">
                <a:latin typeface="Algerian" pitchFamily="82" charset="0"/>
              </a:rPr>
              <a:t>R S V</a:t>
            </a:r>
          </a:p>
          <a:p>
            <a:endParaRPr lang="en-US" sz="4400" dirty="0">
              <a:latin typeface="Algerian" pitchFamily="82" charset="0"/>
            </a:endParaRPr>
          </a:p>
          <a:p>
            <a:r>
              <a:rPr lang="en-US" sz="4400" dirty="0">
                <a:latin typeface="Algerian" pitchFamily="82" charset="0"/>
              </a:rPr>
              <a:t>Respiratory Syncytial Virus</a:t>
            </a:r>
          </a:p>
          <a:p>
            <a:endParaRPr lang="en-US" sz="4400" dirty="0">
              <a:latin typeface="Algerian" pitchFamily="82" charset="0"/>
            </a:endParaRPr>
          </a:p>
          <a:p>
            <a:endParaRPr lang="en-US" sz="4400" dirty="0">
              <a:latin typeface="Algerian" pitchFamily="82" charset="0"/>
            </a:endParaRPr>
          </a:p>
          <a:p>
            <a:r>
              <a:rPr lang="en-US" sz="4400" dirty="0">
                <a:latin typeface="Algerian" pitchFamily="82" charset="0"/>
              </a:rPr>
              <a:t> </a:t>
            </a:r>
          </a:p>
          <a:p>
            <a:endParaRPr lang="en-US" sz="4400" dirty="0">
              <a:latin typeface="Algerian" pitchFamily="82" charset="0"/>
            </a:endParaRPr>
          </a:p>
          <a:p>
            <a:endParaRPr lang="en-US" sz="4400" dirty="0"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39212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690563"/>
            <a:ext cx="6372225" cy="51768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723900" y="5574587"/>
            <a:ext cx="769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RSV is the most common cause of upper and lower  Respiratory Tract Infection </a:t>
            </a:r>
          </a:p>
        </p:txBody>
      </p:sp>
    </p:spTree>
    <p:extLst>
      <p:ext uri="{BB962C8B-B14F-4D97-AF65-F5344CB8AC3E}">
        <p14:creationId xmlns:p14="http://schemas.microsoft.com/office/powerpoint/2010/main" val="60251587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38" y="381000"/>
            <a:ext cx="8639175" cy="519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9941" y="5572125"/>
            <a:ext cx="8639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itchFamily="34" charset="0"/>
              </a:rPr>
              <a:t>RSV is the most common cause of LRTI like Bronchiolitis and Pneumonia in Infant and children less than 2 years old. And it commonly  occurs during winter. And hospitalization is higher in premature infants and less than 6 months old babies.</a:t>
            </a:r>
          </a:p>
        </p:txBody>
      </p:sp>
    </p:spTree>
    <p:extLst>
      <p:ext uri="{BB962C8B-B14F-4D97-AF65-F5344CB8AC3E}">
        <p14:creationId xmlns:p14="http://schemas.microsoft.com/office/powerpoint/2010/main" val="259456442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138"/>
            <a:ext cx="9144000" cy="68018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latin typeface="Algerian" pitchFamily="82" charset="0"/>
              </a:rPr>
              <a:t>                Signs &amp; Symptoms  of RSV: </a:t>
            </a:r>
          </a:p>
          <a:p>
            <a:pPr marL="342900" lvl="0" indent="-342900">
              <a:buFont typeface="Wingdings" pitchFamily="2" charset="2"/>
              <a:buChar char="q"/>
            </a:pPr>
            <a:r>
              <a:rPr lang="en-US" sz="2400" dirty="0">
                <a:latin typeface="Arial Rounded MT Bold" pitchFamily="34" charset="0"/>
              </a:rPr>
              <a:t>Most commonly appear about 2-6 days after exposure to the virus. RSV usually causes mild </a:t>
            </a:r>
            <a:r>
              <a:rPr lang="en-US" sz="2400" b="1" dirty="0">
                <a:latin typeface="Arial Black" pitchFamily="34" charset="0"/>
              </a:rPr>
              <a:t>cold-like</a:t>
            </a:r>
            <a:r>
              <a:rPr lang="en-US" sz="2400" dirty="0">
                <a:latin typeface="Arial Rounded MT Bold" pitchFamily="34" charset="0"/>
              </a:rPr>
              <a:t> signs and symptoms. </a:t>
            </a:r>
          </a:p>
          <a:p>
            <a:pPr marL="342900" lvl="0" indent="-342900">
              <a:buFont typeface="Wingdings" pitchFamily="2" charset="2"/>
              <a:buChar char="q"/>
            </a:pPr>
            <a:r>
              <a:rPr lang="en-US" sz="2400" b="1" dirty="0">
                <a:latin typeface="Arial Rounded MT Bold" pitchFamily="34" charset="0"/>
              </a:rPr>
              <a:t>In  infants  --</a:t>
            </a:r>
            <a:r>
              <a:rPr lang="en-US" sz="2400" dirty="0">
                <a:latin typeface="Arial Rounded MT Bold" pitchFamily="34" charset="0"/>
              </a:rPr>
              <a:t>symptoms maybe</a:t>
            </a:r>
          </a:p>
          <a:p>
            <a:pPr marL="342900" lvl="0" indent="-342900">
              <a:buFont typeface="Wingdings" pitchFamily="2" charset="2"/>
              <a:buChar char="ü"/>
            </a:pPr>
            <a:r>
              <a:rPr lang="en-US" sz="2400" dirty="0">
                <a:latin typeface="Arial Rounded MT Bold" pitchFamily="34" charset="0"/>
              </a:rPr>
              <a:t>     cough </a:t>
            </a:r>
          </a:p>
          <a:p>
            <a:pPr marL="342900" lvl="0" indent="-342900">
              <a:buFont typeface="Wingdings" pitchFamily="2" charset="2"/>
              <a:buChar char="ü"/>
            </a:pPr>
            <a:r>
              <a:rPr lang="en-US" sz="2400" dirty="0">
                <a:latin typeface="Arial Rounded MT Bold" pitchFamily="34" charset="0"/>
              </a:rPr>
              <a:t>     colds</a:t>
            </a:r>
          </a:p>
          <a:p>
            <a:pPr marL="342900" lvl="0" indent="-342900">
              <a:buFont typeface="Wingdings" pitchFamily="2" charset="2"/>
              <a:buChar char="ü"/>
            </a:pPr>
            <a:r>
              <a:rPr lang="en-US" sz="2400" dirty="0">
                <a:latin typeface="Arial Rounded MT Bold" pitchFamily="34" charset="0"/>
              </a:rPr>
              <a:t>     irritability</a:t>
            </a:r>
          </a:p>
          <a:p>
            <a:pPr marL="342900" lvl="0" indent="-342900">
              <a:buFont typeface="Wingdings" pitchFamily="2" charset="2"/>
              <a:buChar char="ü"/>
            </a:pPr>
            <a:r>
              <a:rPr lang="en-US" sz="2400" dirty="0">
                <a:latin typeface="Arial Rounded MT Bold" pitchFamily="34" charset="0"/>
              </a:rPr>
              <a:t>     decreased activity</a:t>
            </a:r>
          </a:p>
          <a:p>
            <a:pPr marL="342900" lvl="0" indent="-342900">
              <a:buFont typeface="Wingdings" pitchFamily="2" charset="2"/>
              <a:buChar char="ü"/>
            </a:pPr>
            <a:r>
              <a:rPr lang="en-US" sz="2400" dirty="0">
                <a:latin typeface="Arial Rounded MT Bold" pitchFamily="34" charset="0"/>
              </a:rPr>
              <a:t>     decreased   oral intake, </a:t>
            </a:r>
          </a:p>
          <a:p>
            <a:pPr marL="342900" lvl="0" indent="-342900">
              <a:buFont typeface="Wingdings" pitchFamily="2" charset="2"/>
              <a:buChar char="ü"/>
            </a:pPr>
            <a:r>
              <a:rPr lang="en-US" sz="2400" dirty="0">
                <a:latin typeface="Arial Rounded MT Bold" pitchFamily="34" charset="0"/>
              </a:rPr>
              <a:t>     lethargy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b="1" dirty="0">
                <a:latin typeface="Arial Rounded MT Bold" pitchFamily="34" charset="0"/>
              </a:rPr>
              <a:t>In severe cases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>
                <a:latin typeface="Arial Rounded MT Bold" pitchFamily="34" charset="0"/>
              </a:rPr>
              <a:t>   In some children may have:</a:t>
            </a:r>
          </a:p>
          <a:p>
            <a:pPr marL="342900" lvl="0" indent="-342900">
              <a:buFont typeface="Wingdings" pitchFamily="2" charset="2"/>
              <a:buChar char="ü"/>
            </a:pPr>
            <a:r>
              <a:rPr lang="en-US" sz="2400" dirty="0">
                <a:latin typeface="Arial Rounded MT Bold" pitchFamily="34" charset="0"/>
              </a:rPr>
              <a:t>   Fever</a:t>
            </a:r>
          </a:p>
          <a:p>
            <a:pPr marL="342900" lvl="0" indent="-342900">
              <a:buFont typeface="Wingdings" pitchFamily="2" charset="2"/>
              <a:buChar char="ü"/>
            </a:pPr>
            <a:r>
              <a:rPr lang="en-US" sz="2400" dirty="0">
                <a:latin typeface="Arial Rounded MT Bold" pitchFamily="34" charset="0"/>
              </a:rPr>
              <a:t>   Severe cough</a:t>
            </a:r>
          </a:p>
          <a:p>
            <a:pPr marL="342900" lvl="0" indent="-342900">
              <a:buFont typeface="Wingdings" pitchFamily="2" charset="2"/>
              <a:buChar char="ü"/>
            </a:pPr>
            <a:r>
              <a:rPr lang="en-US" sz="2400" dirty="0">
                <a:latin typeface="Arial Rounded MT Bold" pitchFamily="34" charset="0"/>
              </a:rPr>
              <a:t>   Wheezing</a:t>
            </a:r>
          </a:p>
          <a:p>
            <a:pPr marL="342900" lvl="0" indent="-342900">
              <a:buFont typeface="Wingdings" pitchFamily="2" charset="2"/>
              <a:buChar char="ü"/>
            </a:pPr>
            <a:r>
              <a:rPr lang="en-US" sz="2400" dirty="0">
                <a:latin typeface="Arial Rounded MT Bold" pitchFamily="34" charset="0"/>
              </a:rPr>
              <a:t>   Tachypnea or difficulty of breathing</a:t>
            </a:r>
          </a:p>
          <a:p>
            <a:pPr marL="342900" lvl="0" indent="-342900">
              <a:buFont typeface="Wingdings" pitchFamily="2" charset="2"/>
              <a:buChar char="ü"/>
            </a:pPr>
            <a:r>
              <a:rPr lang="en-US" sz="2400" dirty="0">
                <a:latin typeface="Arial Rounded MT Bold" pitchFamily="34" charset="0"/>
              </a:rPr>
              <a:t>   Cyanosis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088" y="3148013"/>
            <a:ext cx="12382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488" y="3300413"/>
            <a:ext cx="12382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585912"/>
            <a:ext cx="4125351" cy="3595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050467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534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lgerian" pitchFamily="82" charset="0"/>
              </a:rPr>
              <a:t>RSV Transmission:</a:t>
            </a:r>
          </a:p>
          <a:p>
            <a:pPr algn="ctr"/>
            <a:endParaRPr lang="en-US" sz="2400" dirty="0">
              <a:latin typeface="Algerian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" y="914400"/>
            <a:ext cx="8763000" cy="563231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latin typeface="Arial Rounded MT Bold" pitchFamily="34" charset="0"/>
              </a:rPr>
              <a:t>RSV is easily spread by:</a:t>
            </a:r>
          </a:p>
          <a:p>
            <a:r>
              <a:rPr lang="en-US" sz="2800" dirty="0">
                <a:latin typeface="Arial Rounded MT Bold" pitchFamily="34" charset="0"/>
              </a:rPr>
              <a:t> </a:t>
            </a:r>
            <a:r>
              <a:rPr lang="en-US" sz="2800" dirty="0">
                <a:latin typeface="Algerian" pitchFamily="82" charset="0"/>
              </a:rPr>
              <a:t>physical contact</a:t>
            </a:r>
            <a:r>
              <a:rPr lang="en-US" sz="2800" dirty="0">
                <a:latin typeface="Arial Rounded MT Bold" pitchFamily="34" charset="0"/>
              </a:rPr>
              <a:t>. 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800" dirty="0">
                <a:latin typeface="Arial Rounded MT Bold" pitchFamily="34" charset="0"/>
              </a:rPr>
              <a:t>Touching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800" dirty="0">
                <a:latin typeface="Arial Rounded MT Bold" pitchFamily="34" charset="0"/>
              </a:rPr>
              <a:t>Kissing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800" dirty="0">
                <a:latin typeface="Arial Rounded MT Bold" pitchFamily="34" charset="0"/>
              </a:rPr>
              <a:t>shaking hands </a:t>
            </a:r>
          </a:p>
          <a:p>
            <a:pPr marL="342900" lvl="0" indent="-342900">
              <a:buFont typeface="Wingdings" pitchFamily="2" charset="2"/>
              <a:buChar char="q"/>
            </a:pPr>
            <a:r>
              <a:rPr lang="en-US" sz="2800" dirty="0">
                <a:latin typeface="Arial Rounded MT Bold" pitchFamily="34" charset="0"/>
              </a:rPr>
              <a:t> touching  contaminated objects like table, crib</a:t>
            </a:r>
          </a:p>
          <a:p>
            <a:pPr lvl="0"/>
            <a:endParaRPr lang="en-US" sz="2800" dirty="0">
              <a:latin typeface="Arial Rounded MT Bold" pitchFamily="34" charset="0"/>
            </a:endParaRPr>
          </a:p>
          <a:p>
            <a:pPr lvl="0"/>
            <a:r>
              <a:rPr lang="en-US" sz="2800" dirty="0">
                <a:latin typeface="Algerian" pitchFamily="82" charset="0"/>
              </a:rPr>
              <a:t>droplets </a:t>
            </a:r>
            <a:endParaRPr lang="en-US" sz="2800" dirty="0">
              <a:latin typeface="Arial Rounded MT Bold" pitchFamily="34" charset="0"/>
            </a:endParaRPr>
          </a:p>
          <a:p>
            <a:pPr marL="457200" lvl="0" indent="-457200">
              <a:buFont typeface="Wingdings" pitchFamily="2" charset="2"/>
              <a:buChar char="q"/>
            </a:pPr>
            <a:r>
              <a:rPr lang="en-US" sz="2800" dirty="0">
                <a:latin typeface="Arial Rounded MT Bold" pitchFamily="34" charset="0"/>
              </a:rPr>
              <a:t>During coughing or sneezing </a:t>
            </a:r>
          </a:p>
          <a:p>
            <a:pPr marL="457200" lvl="0" indent="-457200">
              <a:buFont typeface="Wingdings" pitchFamily="2" charset="2"/>
              <a:buChar char="q"/>
            </a:pPr>
            <a:r>
              <a:rPr lang="en-US" sz="2800" dirty="0">
                <a:latin typeface="Arial Rounded MT Bold" pitchFamily="34" charset="0"/>
              </a:rPr>
              <a:t>Suctioning of secretions</a:t>
            </a:r>
          </a:p>
          <a:p>
            <a:pPr lvl="0"/>
            <a:r>
              <a:rPr lang="en-US" sz="2800" dirty="0">
                <a:latin typeface="Arial Rounded MT Bold" pitchFamily="34" charset="0"/>
              </a:rPr>
              <a:t> RSV can survive several hours on hands and infected areas</a:t>
            </a:r>
            <a:endParaRPr lang="en-US" sz="2400" dirty="0">
              <a:latin typeface="Arial Rounded MT Bold" pitchFamily="34" charset="0"/>
            </a:endParaRPr>
          </a:p>
          <a:p>
            <a:pPr marL="342900" indent="-342900">
              <a:buFont typeface="Wingdings" pitchFamily="2" charset="2"/>
              <a:buChar char="q"/>
            </a:pPr>
            <a:endParaRPr lang="en-US" sz="2400" dirty="0"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20831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415047"/>
              </p:ext>
            </p:extLst>
          </p:nvPr>
        </p:nvGraphicFramePr>
        <p:xfrm>
          <a:off x="457200" y="1219200"/>
          <a:ext cx="8382000" cy="343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1916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15000"/>
                        </a:lnSpc>
                        <a:buFont typeface="Wingdings" pitchFamily="2" charset="2"/>
                        <a:buChar char="v"/>
                      </a:pPr>
                      <a:endParaRPr lang="en-US" sz="2400" b="1" u="sng" dirty="0">
                        <a:latin typeface="Arial Black" pitchFamily="34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342900" indent="-342900">
                        <a:lnSpc>
                          <a:spcPct val="115000"/>
                        </a:lnSpc>
                        <a:buFont typeface="Wingdings" pitchFamily="2" charset="2"/>
                        <a:buChar char="v"/>
                      </a:pPr>
                      <a:r>
                        <a:rPr lang="en-US" sz="2400" b="1" u="sng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Nasal swab 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15000"/>
                        </a:lnSpc>
                        <a:buFont typeface="Wingdings" pitchFamily="2" charset="2"/>
                        <a:buChar char="q"/>
                      </a:pPr>
                      <a:endParaRPr lang="en-US" sz="2400" b="1" dirty="0">
                        <a:latin typeface="Arial Black" pitchFamily="34" charset="0"/>
                        <a:ea typeface="Calibri"/>
                        <a:cs typeface="DokChampa" pitchFamily="34" charset="-34"/>
                      </a:endParaRPr>
                    </a:p>
                    <a:p>
                      <a:pPr marL="342900" indent="-342900">
                        <a:lnSpc>
                          <a:spcPct val="115000"/>
                        </a:lnSpc>
                        <a:buFont typeface="Wingdings" pitchFamily="2" charset="2"/>
                        <a:buChar char="q"/>
                      </a:pPr>
                      <a:r>
                        <a:rPr lang="en-US" sz="2400" b="1" dirty="0">
                          <a:latin typeface="Arial Black" pitchFamily="34" charset="0"/>
                          <a:ea typeface="Calibri"/>
                          <a:cs typeface="DokChampa" pitchFamily="34" charset="-34"/>
                        </a:rPr>
                        <a:t>Insert the swab into the first nostril next to the nasal septum.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q"/>
                      </a:pPr>
                      <a:r>
                        <a:rPr lang="en-US" sz="2400" b="1" dirty="0">
                          <a:latin typeface="Arial Black" pitchFamily="34" charset="0"/>
                          <a:ea typeface="Calibri"/>
                          <a:cs typeface="DokChampa" pitchFamily="34" charset="-34"/>
                        </a:rPr>
                        <a:t>Rotate the swab against the anterior nasal mucosa for 3-5 seconds. 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q"/>
                      </a:pPr>
                      <a:r>
                        <a:rPr lang="en-US" sz="2400" b="1" dirty="0">
                          <a:latin typeface="Arial Black" pitchFamily="34" charset="0"/>
                          <a:ea typeface="Calibri"/>
                          <a:cs typeface="DokChampa" pitchFamily="34" charset="-34"/>
                        </a:rPr>
                        <a:t>Use  the same swab, repeat it to the other  nostril</a:t>
                      </a:r>
                      <a:r>
                        <a:rPr lang="en-US" sz="2400" b="1" dirty="0">
                          <a:latin typeface="Arial Black" pitchFamily="34" charset="0"/>
                          <a:ea typeface="Calibri"/>
                          <a:cs typeface="Times New Roman" pitchFamily="18" charset="0"/>
                        </a:rPr>
                        <a:t>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q"/>
                      </a:pPr>
                      <a:endParaRPr lang="en-US" sz="2400" b="1" dirty="0">
                        <a:latin typeface="Arial Black" pitchFamily="34" charset="0"/>
                        <a:ea typeface="Calibri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295400" y="685799"/>
            <a:ext cx="6775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 Black" pitchFamily="34" charset="0"/>
              </a:rPr>
              <a:t>HOW IS PCR NASAL SWAB COLLECTED</a:t>
            </a:r>
          </a:p>
        </p:txBody>
      </p:sp>
    </p:spTree>
    <p:extLst>
      <p:ext uri="{BB962C8B-B14F-4D97-AF65-F5344CB8AC3E}">
        <p14:creationId xmlns:p14="http://schemas.microsoft.com/office/powerpoint/2010/main" val="172190255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0"/>
            <a:ext cx="8839200" cy="68018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 Black" pitchFamily="34" charset="0"/>
              </a:rPr>
              <a:t>           Treatment and Management of RSV</a:t>
            </a:r>
            <a:endParaRPr lang="en-US" sz="2400" dirty="0"/>
          </a:p>
          <a:p>
            <a:r>
              <a:rPr lang="en-US" sz="2400" dirty="0"/>
              <a:t> </a:t>
            </a:r>
            <a:r>
              <a:rPr lang="en-US" sz="2000" b="1" dirty="0">
                <a:latin typeface="Arial Rounded MT Bold" pitchFamily="34" charset="0"/>
              </a:rPr>
              <a:t>Depends on  symptoms, age and  severity  of the condition . </a:t>
            </a:r>
            <a:endParaRPr lang="en-US" sz="2400" b="1" dirty="0">
              <a:latin typeface="Arial Rounded MT Bold" pitchFamily="34" charset="0"/>
            </a:endParaRPr>
          </a:p>
          <a:p>
            <a:pPr marL="285750" lvl="0" indent="-285750">
              <a:buFont typeface="Wingdings" pitchFamily="2" charset="2"/>
              <a:buChar char="q"/>
            </a:pPr>
            <a:r>
              <a:rPr lang="en-US" sz="2400" b="1" dirty="0">
                <a:latin typeface="Arial Rounded MT Bold" pitchFamily="34" charset="0"/>
              </a:rPr>
              <a:t>IV  fluid-    </a:t>
            </a:r>
            <a:r>
              <a:rPr lang="en-US" sz="2400" dirty="0">
                <a:latin typeface="Arial Rounded MT Bold" pitchFamily="34" charset="0"/>
              </a:rPr>
              <a:t>for hydration</a:t>
            </a:r>
            <a:endParaRPr lang="en-US" sz="2400" b="1" dirty="0">
              <a:latin typeface="Arial Rounded MT Bold" pitchFamily="34" charset="0"/>
            </a:endParaRPr>
          </a:p>
          <a:p>
            <a:pPr marL="285750" lvl="0" indent="-285750">
              <a:buFont typeface="Wingdings" pitchFamily="2" charset="2"/>
              <a:buChar char="q"/>
            </a:pPr>
            <a:r>
              <a:rPr lang="en-US" sz="2400" b="1" dirty="0">
                <a:latin typeface="Arial Rounded MT Bold" pitchFamily="34" charset="0"/>
              </a:rPr>
              <a:t>Suctioning -  </a:t>
            </a:r>
            <a:r>
              <a:rPr lang="en-US" sz="2400" dirty="0">
                <a:latin typeface="Arial Rounded MT Bold" pitchFamily="34" charset="0"/>
              </a:rPr>
              <a:t>to clear the airway</a:t>
            </a:r>
          </a:p>
          <a:p>
            <a:pPr marL="285750" lvl="0" indent="-285750">
              <a:buFont typeface="Wingdings" pitchFamily="2" charset="2"/>
              <a:buChar char="q"/>
            </a:pPr>
            <a:r>
              <a:rPr lang="en-US" sz="2400" b="1" dirty="0">
                <a:latin typeface="Arial Rounded MT Bold" pitchFamily="34" charset="0"/>
              </a:rPr>
              <a:t>NGT feeding -   </a:t>
            </a:r>
            <a:r>
              <a:rPr lang="en-US" sz="2400" dirty="0">
                <a:latin typeface="Arial Rounded MT Bold" pitchFamily="34" charset="0"/>
              </a:rPr>
              <a:t>if not contraindicated</a:t>
            </a:r>
          </a:p>
          <a:p>
            <a:pPr marL="285750" lvl="0" indent="-285750">
              <a:buFont typeface="Wingdings" pitchFamily="2" charset="2"/>
              <a:buChar char="q"/>
            </a:pPr>
            <a:r>
              <a:rPr lang="en-US" sz="2400" b="1" dirty="0">
                <a:latin typeface="Arial Rounded MT Bold" pitchFamily="34" charset="0"/>
              </a:rPr>
              <a:t>Ventilation   - maybe simple O2 </a:t>
            </a:r>
            <a:r>
              <a:rPr lang="en-US" sz="2400" b="1" dirty="0" err="1">
                <a:latin typeface="Arial Rounded MT Bold" pitchFamily="34" charset="0"/>
              </a:rPr>
              <a:t>nc</a:t>
            </a:r>
            <a:r>
              <a:rPr lang="en-US" sz="2400" b="1" dirty="0">
                <a:latin typeface="Arial Rounded MT Bold" pitchFamily="34" charset="0"/>
              </a:rPr>
              <a:t>,  to </a:t>
            </a:r>
            <a:r>
              <a:rPr lang="en-US" sz="2400" b="1" dirty="0" err="1">
                <a:latin typeface="Arial Rounded MT Bold" pitchFamily="34" charset="0"/>
              </a:rPr>
              <a:t>hfnc</a:t>
            </a:r>
            <a:r>
              <a:rPr lang="en-US" sz="2400" b="1" dirty="0">
                <a:latin typeface="Arial Rounded MT Bold" pitchFamily="34" charset="0"/>
              </a:rPr>
              <a:t>, to NIV -</a:t>
            </a:r>
            <a:r>
              <a:rPr lang="en-US" sz="2400" dirty="0">
                <a:latin typeface="Arial Rounded MT Bold" pitchFamily="34" charset="0"/>
              </a:rPr>
              <a:t>if pt. is very sick and distress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b="1" dirty="0">
                <a:latin typeface="Arial Rounded MT Bold" pitchFamily="34" charset="0"/>
              </a:rPr>
              <a:t>Medication</a:t>
            </a:r>
          </a:p>
          <a:p>
            <a:r>
              <a:rPr lang="en-US" sz="2400" b="1" dirty="0">
                <a:latin typeface="Arial Rounded MT Bold" pitchFamily="34" charset="0"/>
              </a:rPr>
              <a:t>       </a:t>
            </a:r>
            <a:r>
              <a:rPr lang="en-US" sz="2400" dirty="0">
                <a:latin typeface="Arial Rounded MT Bold" pitchFamily="34" charset="0"/>
              </a:rPr>
              <a:t>Nebulization </a:t>
            </a:r>
          </a:p>
          <a:p>
            <a:r>
              <a:rPr lang="en-US" sz="2400" dirty="0">
                <a:latin typeface="Arial Rounded MT Bold" pitchFamily="34" charset="0"/>
              </a:rPr>
              <a:t>       Antipyretic – if with fever </a:t>
            </a:r>
          </a:p>
          <a:p>
            <a:pPr lvl="0"/>
            <a:r>
              <a:rPr lang="en-US" sz="2400" dirty="0">
                <a:latin typeface="Arial Rounded MT Bold" pitchFamily="34" charset="0"/>
              </a:rPr>
              <a:t> </a:t>
            </a:r>
            <a:r>
              <a:rPr lang="en-US" sz="2400" b="1" dirty="0">
                <a:latin typeface="Arial Rounded MT Bold" pitchFamily="34" charset="0"/>
              </a:rPr>
              <a:t>     </a:t>
            </a:r>
          </a:p>
          <a:p>
            <a:pPr lvl="0"/>
            <a:endParaRPr lang="en-US" sz="2400" b="1" dirty="0">
              <a:latin typeface="Arial Rounded MT Bold" pitchFamily="34" charset="0"/>
            </a:endParaRPr>
          </a:p>
          <a:p>
            <a:pPr marL="342900" lvl="0" indent="-342900">
              <a:buFont typeface="Courier New" pitchFamily="49" charset="0"/>
              <a:buChar char="o"/>
            </a:pPr>
            <a:endParaRPr lang="en-US" sz="2400" b="1" dirty="0">
              <a:latin typeface="Arial Rounded MT Bold" pitchFamily="34" charset="0"/>
            </a:endParaRPr>
          </a:p>
          <a:p>
            <a:pPr marL="342900" lvl="0" indent="-342900">
              <a:buFont typeface="Courier New" pitchFamily="49" charset="0"/>
              <a:buChar char="o"/>
            </a:pPr>
            <a:r>
              <a:rPr lang="en-US" sz="2400" dirty="0">
                <a:latin typeface="Arial Rounded MT Bold" pitchFamily="34" charset="0"/>
              </a:rPr>
              <a:t>Antiviral – </a:t>
            </a:r>
            <a:r>
              <a:rPr lang="en-US" sz="2000" dirty="0">
                <a:latin typeface="Arial Rounded MT Bold" pitchFamily="34" charset="0"/>
              </a:rPr>
              <a:t>TAMIFLU </a:t>
            </a:r>
            <a:r>
              <a:rPr lang="en-US" sz="2000" b="1" dirty="0"/>
              <a:t>–  given only after RSV swab collected. </a:t>
            </a:r>
          </a:p>
          <a:p>
            <a:r>
              <a:rPr lang="en-US" sz="2000" b="1" dirty="0"/>
              <a:t>                               -TAMIFLU --  is indicated  for influenza virus. </a:t>
            </a:r>
            <a:endParaRPr lang="en-US" sz="2000" dirty="0">
              <a:latin typeface="Arial Rounded MT Bold" pitchFamily="34" charset="0"/>
            </a:endParaRPr>
          </a:p>
          <a:p>
            <a:pPr lvl="0"/>
            <a:r>
              <a:rPr lang="en-US" sz="2000" b="1" dirty="0"/>
              <a:t>                                                  --  not effective with RSV </a:t>
            </a:r>
          </a:p>
          <a:p>
            <a:pPr lvl="0"/>
            <a:r>
              <a:rPr lang="en-US" sz="2000" b="1" dirty="0"/>
              <a:t>                                                  --  does not treat other  flu-like viral infections like RSV</a:t>
            </a:r>
          </a:p>
          <a:p>
            <a:r>
              <a:rPr lang="en-US" sz="2000" b="1" dirty="0"/>
              <a:t>                                                  --  once RSV result is +, to stop Tamiflu</a:t>
            </a:r>
          </a:p>
          <a:p>
            <a:pPr lvl="0"/>
            <a:endParaRPr lang="en-US" sz="2000" dirty="0"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03082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838199"/>
            <a:ext cx="6857999" cy="47339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6516773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On-screen Show (4:3)</PresentationFormat>
  <Paragraphs>63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Algerian</vt:lpstr>
      <vt:lpstr>Arial</vt:lpstr>
      <vt:lpstr>Arial Black</vt:lpstr>
      <vt:lpstr>Arial Rounded MT Bold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talib masoud</dc:creator>
  <cp:lastModifiedBy>talib masoud</cp:lastModifiedBy>
  <cp:revision>2</cp:revision>
  <dcterms:modified xsi:type="dcterms:W3CDTF">2025-10-31T18:14:09Z</dcterms:modified>
</cp:coreProperties>
</file>