
<file path=[Content_Types].xml><?xml version="1.0" encoding="utf-8"?>
<Types xmlns="http://schemas.openxmlformats.org/package/2006/content-types">
  <Default ContentType="image/jpeg" Extension="jpg"/>
  <Default ContentType="image/vnd.ms-photo" Extension="wdp"/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96E2A5-BC23-49C0-9B11-F2DA3185E80B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B8AA36-0E46-43E5-A772-875862EAA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36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AA36-0E46-43E5-A772-875862EAA39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04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819C-15B3-4898-B82A-62BEE890DEB8}" type="datetimeFigureOut">
              <a:rPr lang="en-US" smtClean="0"/>
              <a:pPr/>
              <a:t>11/13/2022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8BA02E92-6DFC-4B82-8A65-ECEBCAC1562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819C-15B3-4898-B82A-62BEE890DEB8}" type="datetimeFigureOut">
              <a:rPr lang="en-US" smtClean="0"/>
              <a:pPr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02E92-6DFC-4B82-8A65-ECEBCAC1562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819C-15B3-4898-B82A-62BEE890DEB8}" type="datetimeFigureOut">
              <a:rPr lang="en-US" smtClean="0"/>
              <a:pPr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8BA02E92-6DFC-4B82-8A65-ECEBCAC156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819C-15B3-4898-B82A-62BEE890DEB8}" type="datetimeFigureOut">
              <a:rPr lang="en-US" smtClean="0"/>
              <a:pPr/>
              <a:t>11/13/2022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02E92-6DFC-4B82-8A65-ECEBCAC1562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819C-15B3-4898-B82A-62BEE890DEB8}" type="datetimeFigureOut">
              <a:rPr lang="en-US" smtClean="0"/>
              <a:pPr/>
              <a:t>11/13/2022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02E92-6DFC-4B82-8A65-ECEBCAC1562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819C-15B3-4898-B82A-62BEE890DEB8}" type="datetimeFigureOut">
              <a:rPr lang="en-US" smtClean="0"/>
              <a:pPr/>
              <a:t>11/13/2022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02E92-6DFC-4B82-8A65-ECEBCAC156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819C-15B3-4898-B82A-62BEE890DEB8}" type="datetimeFigureOut">
              <a:rPr lang="en-US" smtClean="0"/>
              <a:pPr/>
              <a:t>11/13/2022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02E92-6DFC-4B82-8A65-ECEBCAC156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819C-15B3-4898-B82A-62BEE890DEB8}" type="datetimeFigureOut">
              <a:rPr lang="en-US" smtClean="0"/>
              <a:pPr/>
              <a:t>11/13/2022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02E92-6DFC-4B82-8A65-ECEBCAC1562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819C-15B3-4898-B82A-62BEE890DEB8}" type="datetimeFigureOut">
              <a:rPr lang="en-US" smtClean="0"/>
              <a:pPr/>
              <a:t>11/13/2022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8BA02E92-6DFC-4B82-8A65-ECEBCAC1562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819C-15B3-4898-B82A-62BEE890DEB8}" type="datetimeFigureOut">
              <a:rPr lang="en-US" smtClean="0"/>
              <a:pPr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02E92-6DFC-4B82-8A65-ECEBCAC156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C819C-15B3-4898-B82A-62BEE890DEB8}" type="datetimeFigureOut">
              <a:rPr lang="en-US" smtClean="0"/>
              <a:pPr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02E92-6DFC-4B82-8A65-ECEBCAC156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8AC819C-15B3-4898-B82A-62BEE890DEB8}" type="datetimeFigureOut">
              <a:rPr lang="en-US" smtClean="0"/>
              <a:pPr/>
              <a:t>11/13/2022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8BA02E92-6DFC-4B82-8A65-ECEBCAC1562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microsoft.com/office/2007/relationships/hdphoto" Target="../media/hdphoto2.wdp"/><Relationship Id="rId4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7" Type="http://schemas.openxmlformats.org/officeDocument/2006/relationships/image" Target="../media/image55.jpe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eg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67200"/>
            <a:ext cx="6400800" cy="16002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Prepared by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NHC ACI Champions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905000"/>
            <a:ext cx="8229600" cy="1470025"/>
          </a:xfrm>
        </p:spPr>
        <p:txBody>
          <a:bodyPr>
            <a:normAutofit fontScale="90000"/>
          </a:bodyPr>
          <a:lstStyle/>
          <a:p>
            <a:r>
              <a:rPr>
                <a:latin typeface="Times New Roman" pitchFamily="18" charset="0"/>
                <a:cs typeface="Times New Roman" pitchFamily="18" charset="0"/>
              </a:rPr>
              <a:t>Accreditation Canada International</a:t>
            </a:r>
            <a:br>
              <a:rPr>
                <a:latin typeface="Times New Roman" pitchFamily="18" charset="0"/>
                <a:cs typeface="Times New Roman" pitchFamily="18" charset="0"/>
              </a:rPr>
            </a:br>
            <a:r>
              <a:rPr>
                <a:latin typeface="Times New Roman" pitchFamily="18" charset="0"/>
                <a:cs typeface="Times New Roman" pitchFamily="18" charset="0"/>
              </a:rPr>
              <a:t>(ACI)</a:t>
            </a:r>
            <a:br>
              <a:rPr/>
            </a:br>
            <a:endParaRPr lang="en-US" dirty="0"/>
          </a:p>
        </p:txBody>
      </p:sp>
      <p:sp>
        <p:nvSpPr>
          <p:cNvPr id="84994" name="AutoShape 2" descr="Accreditation Canada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4998" name="AutoShape 6" descr="Accreditation Canada - Home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Content Placeholder 3" descr="ACI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1219200" cy="1219200"/>
          </a:xfrm>
          <a:prstGeom prst="rect">
            <a:avLst/>
          </a:prstGeom>
        </p:spPr>
      </p:pic>
      <p:pic>
        <p:nvPicPr>
          <p:cNvPr id="8" name="Content Placeholder 5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52400"/>
            <a:ext cx="1668921" cy="12571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alibri Light" pitchFamily="34" charset="0"/>
                <a:cs typeface="Arial" pitchFamily="34" charset="0"/>
              </a:rPr>
              <a:t>What is ACI?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>
                <a:latin typeface="Calibri Light" pitchFamily="34" charset="0"/>
              </a:rPr>
              <a:t>    Accreditation Canada is an organization that provides assessment programs for health and social service organizations to improve the quality of health and social services. </a:t>
            </a:r>
          </a:p>
          <a:p>
            <a:pPr>
              <a:buNone/>
            </a:pPr>
            <a:endParaRPr lang="en-US" dirty="0">
              <a:latin typeface="Calibri Light" pitchFamily="34" charset="0"/>
            </a:endParaRPr>
          </a:p>
          <a:p>
            <a:pPr>
              <a:buNone/>
            </a:pPr>
            <a:r>
              <a:rPr lang="en-US" dirty="0">
                <a:latin typeface="Calibri Light" pitchFamily="34" charset="0"/>
              </a:rPr>
              <a:t>    We use ACI standards as tools to ensure that our standard of healthcare delivery is optimum. </a:t>
            </a:r>
          </a:p>
          <a:p>
            <a:pPr>
              <a:buNone/>
            </a:pPr>
            <a:endParaRPr lang="en-US" dirty="0">
              <a:latin typeface="Calibri Light" pitchFamily="34" charset="0"/>
            </a:endParaRPr>
          </a:p>
          <a:p>
            <a:pPr>
              <a:buNone/>
            </a:pPr>
            <a:r>
              <a:rPr lang="en-US" dirty="0">
                <a:latin typeface="Calibri Light" pitchFamily="34" charset="0"/>
              </a:rPr>
              <a:t>    ACI surveys are assessments of our organization’s practices and commitment to quality and patient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alibri Light" pitchFamily="34" charset="0"/>
              </a:rPr>
              <a:t>Where can the standards be found?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447800"/>
            <a:ext cx="6096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720153A0-A946-CA79-BE8A-4A96683B3370}"/>
              </a:ext>
            </a:extLst>
          </p:cNvPr>
          <p:cNvSpPr/>
          <p:nvPr/>
        </p:nvSpPr>
        <p:spPr>
          <a:xfrm>
            <a:off x="1905000" y="5257800"/>
            <a:ext cx="609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0636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44600" y="685800"/>
            <a:ext cx="71120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Arrow: Up 2">
            <a:extLst>
              <a:ext uri="{FF2B5EF4-FFF2-40B4-BE49-F238E27FC236}">
                <a16:creationId xmlns:a16="http://schemas.microsoft.com/office/drawing/2014/main" id="{B87477BE-4DF5-B126-75E1-33AF24B057E5}"/>
              </a:ext>
            </a:extLst>
          </p:cNvPr>
          <p:cNvSpPr/>
          <p:nvPr/>
        </p:nvSpPr>
        <p:spPr>
          <a:xfrm>
            <a:off x="4058307" y="3962400"/>
            <a:ext cx="381000" cy="6096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E893B-61BA-837A-3520-44E276893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List of Department ACI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63545-A8FE-30A6-2DB4-EFD8AD19BDB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6C9254-1795-D743-4089-439E70FE2F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597" r="2200" b="4930"/>
          <a:stretch/>
        </p:blipFill>
        <p:spPr bwMode="auto">
          <a:xfrm>
            <a:off x="914400" y="1453662"/>
            <a:ext cx="7772400" cy="464549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75705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alibri Light" pitchFamily="34" charset="0"/>
              </a:rPr>
              <a:t>Required Organizational Practices (ROPs)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447800"/>
            <a:ext cx="6096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Arrow: Left 4">
            <a:extLst>
              <a:ext uri="{FF2B5EF4-FFF2-40B4-BE49-F238E27FC236}">
                <a16:creationId xmlns:a16="http://schemas.microsoft.com/office/drawing/2014/main" id="{1499A28E-2BF5-A8ED-CCD5-FA2BE7FA5D4D}"/>
              </a:ext>
            </a:extLst>
          </p:cNvPr>
          <p:cNvSpPr/>
          <p:nvPr/>
        </p:nvSpPr>
        <p:spPr>
          <a:xfrm rot="5400000">
            <a:off x="4953000" y="4495800"/>
            <a:ext cx="7620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Required Organizational Practices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85F4F45-696C-01D5-EDA9-234339F9662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 rotWithShape="1">
          <a:blip r:embed="rId2"/>
          <a:srcRect l="24543" t="9071" r="26383" b="5527"/>
          <a:stretch/>
        </p:blipFill>
        <p:spPr bwMode="auto">
          <a:xfrm>
            <a:off x="685800" y="1676400"/>
            <a:ext cx="3502905" cy="4572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2A670A-B677-7D52-014F-24C349086B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414" t="9252" r="16459" b="7609"/>
          <a:stretch/>
        </p:blipFill>
        <p:spPr bwMode="auto">
          <a:xfrm>
            <a:off x="4572000" y="1678075"/>
            <a:ext cx="3787775" cy="44941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94456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libri Light" pitchFamily="34" charset="0"/>
              </a:rPr>
              <a:t>Required Organizational Practices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Calibri Light" pitchFamily="34" charset="0"/>
              </a:rPr>
              <a:t>    Required Organizational Practices (ROPs) are evidence-based practices that  are central to quality and safety.</a:t>
            </a:r>
          </a:p>
          <a:p>
            <a:pPr>
              <a:buNone/>
            </a:pPr>
            <a:endParaRPr lang="en-US" dirty="0">
              <a:latin typeface="Calibri Light" pitchFamily="34" charset="0"/>
            </a:endParaRPr>
          </a:p>
          <a:p>
            <a:pPr>
              <a:buNone/>
            </a:pPr>
            <a:r>
              <a:rPr lang="en-US" dirty="0">
                <a:latin typeface="Calibri Light" pitchFamily="34" charset="0"/>
              </a:rPr>
              <a:t>    They are classified into 6 patient safety areas, each with its own goal.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Patient Safety Area &amp; ROPs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096C8E-075B-C47B-4AB9-4C5A0C3822C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 rotWithShape="1">
          <a:blip r:embed="rId2"/>
          <a:srcRect l="24031" t="9634" r="26518" b="5697"/>
          <a:stretch/>
        </p:blipFill>
        <p:spPr bwMode="auto">
          <a:xfrm>
            <a:off x="2133599" y="1490508"/>
            <a:ext cx="5119193" cy="509285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alibri Light" pitchFamily="34" charset="0"/>
                <a:cs typeface="Times New Roman" pitchFamily="18" charset="0"/>
              </a:rPr>
              <a:t>Area 1- Safety Culture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AC443BD-8F0A-0D08-6B98-60FE1F1F008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 rotWithShape="1">
          <a:blip r:embed="rId2"/>
          <a:srcRect l="19590" t="36434" r="22848" b="49852"/>
          <a:stretch/>
        </p:blipFill>
        <p:spPr bwMode="auto">
          <a:xfrm>
            <a:off x="1066800" y="1905000"/>
            <a:ext cx="7620000" cy="275724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8EF4A-AE1C-60AA-B70C-A616E3877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 Light" pitchFamily="34" charset="0"/>
              </a:rPr>
              <a:t>Patient Safety Incident Management</a:t>
            </a:r>
            <a:endParaRPr lang="en-US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CD273BF-9808-180B-341C-C509ABE1A6A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1676400"/>
            <a:ext cx="7772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45027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 Light" pitchFamily="34" charset="0"/>
              </a:rPr>
              <a:t>Patient Safety Incident Management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769375E7-60FD-FAE1-9177-A7A5618EDFC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447800"/>
            <a:ext cx="7620000" cy="6400800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Calibri Light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>
              <a:solidFill>
                <a:srgbClr val="FF0000"/>
              </a:solidFill>
              <a:latin typeface="Calibri Light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24" r="2967" b="5413"/>
          <a:stretch/>
        </p:blipFill>
        <p:spPr bwMode="auto">
          <a:xfrm>
            <a:off x="838200" y="762000"/>
            <a:ext cx="7689668" cy="4937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alibri Light" pitchFamily="34" charset="0"/>
              </a:rPr>
              <a:t>Patient Safety Quarterly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>
              <a:solidFill>
                <a:srgbClr val="FF0000"/>
              </a:solidFill>
              <a:latin typeface="Calibri Light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" t="9809" r="3267" b="6824"/>
          <a:stretch/>
        </p:blipFill>
        <p:spPr bwMode="auto">
          <a:xfrm>
            <a:off x="901337" y="1397726"/>
            <a:ext cx="7197634" cy="4624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1295400" y="4800600"/>
            <a:ext cx="4572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alibri Light" pitchFamily="34" charset="0"/>
              </a:rPr>
              <a:t>Patient Safety Incident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>
              <a:solidFill>
                <a:srgbClr val="FF0000"/>
              </a:solidFill>
              <a:latin typeface="Calibri Light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6" t="13322" r="1493" b="7484"/>
          <a:stretch/>
        </p:blipFill>
        <p:spPr bwMode="auto">
          <a:xfrm>
            <a:off x="609600" y="1447800"/>
            <a:ext cx="8227423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alibri Light" pitchFamily="34" charset="0"/>
              </a:rPr>
              <a:t>Area 2 - Communication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A9764DE-95D3-8B4B-E08D-82AE89CE63E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 l="20066" t="49686" r="22678" b="23061"/>
          <a:stretch>
            <a:fillRect/>
          </a:stretch>
        </p:blipFill>
        <p:spPr bwMode="auto">
          <a:xfrm>
            <a:off x="1240145" y="2092397"/>
            <a:ext cx="7061302" cy="2520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D5876-0463-EAF6-D983-0889CD289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159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Client Identification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" t="13952" r="2076" b="5492"/>
          <a:stretch/>
        </p:blipFill>
        <p:spPr bwMode="auto">
          <a:xfrm>
            <a:off x="1523438" y="2971800"/>
            <a:ext cx="6097123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7AC550-5C29-49BE-7611-F38A3F4C52B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Policy (Hospital Management System      Hospital Document          QPS          Patient Identification &amp; Verification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7E4532-D2F5-5D0E-4AFD-F8409F8D9946}"/>
              </a:ext>
            </a:extLst>
          </p:cNvPr>
          <p:cNvCxnSpPr/>
          <p:nvPr/>
        </p:nvCxnSpPr>
        <p:spPr>
          <a:xfrm>
            <a:off x="2590800" y="2133600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C7706F-F152-A8BF-FFFE-F16F48EB8CEA}"/>
              </a:ext>
            </a:extLst>
          </p:cNvPr>
          <p:cNvCxnSpPr/>
          <p:nvPr/>
        </p:nvCxnSpPr>
        <p:spPr>
          <a:xfrm>
            <a:off x="4038600" y="2133600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271C8E-C170-76EA-FA0B-51818A00F497}"/>
              </a:ext>
            </a:extLst>
          </p:cNvPr>
          <p:cNvCxnSpPr/>
          <p:nvPr/>
        </p:nvCxnSpPr>
        <p:spPr>
          <a:xfrm>
            <a:off x="6629400" y="175260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912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61D91-4787-F6ED-032A-BCBE28EFA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Client Identification (3 Vs)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F6933C-36FB-75AD-0263-5E195648D2AF}"/>
              </a:ext>
            </a:extLst>
          </p:cNvPr>
          <p:cNvPicPr>
            <a:picLocks noGrp="1"/>
          </p:cNvPicPr>
          <p:nvPr>
            <p:ph sz="quarter" idx="1"/>
          </p:nvPr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321" t="21303" r="14319" b="21889"/>
          <a:stretch/>
        </p:blipFill>
        <p:spPr bwMode="auto">
          <a:xfrm>
            <a:off x="6292938" y="4419601"/>
            <a:ext cx="2398049" cy="18177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B8DABF-1BAD-9511-31D7-154CBF0DF185}"/>
              </a:ext>
            </a:extLst>
          </p:cNvPr>
          <p:cNvPicPr/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495800"/>
            <a:ext cx="2773680" cy="16198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EE1856-308E-B1E1-761D-0B33B583CF23}"/>
              </a:ext>
            </a:extLst>
          </p:cNvPr>
          <p:cNvPicPr/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3566" b="63855"/>
          <a:stretch>
            <a:fillRect/>
          </a:stretch>
        </p:blipFill>
        <p:spPr bwMode="auto">
          <a:xfrm>
            <a:off x="3428999" y="2133600"/>
            <a:ext cx="2324735" cy="1981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223C5C2-5FBA-D130-05F2-791DEC3A5EAB}"/>
              </a:ext>
            </a:extLst>
          </p:cNvPr>
          <p:cNvSpPr/>
          <p:nvPr/>
        </p:nvSpPr>
        <p:spPr>
          <a:xfrm>
            <a:off x="3962400" y="2438400"/>
            <a:ext cx="12192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602083-9FBA-D3D5-85D5-52F4C7F2F429}"/>
              </a:ext>
            </a:extLst>
          </p:cNvPr>
          <p:cNvSpPr/>
          <p:nvPr/>
        </p:nvSpPr>
        <p:spPr>
          <a:xfrm>
            <a:off x="3428999" y="2438400"/>
            <a:ext cx="457201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083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A3DEF-6FE0-7CE9-B5F1-798DEA2F3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Dangerous Abbreviation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9EC4A8-6161-03F3-3798-8E716210D64A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676400"/>
            <a:ext cx="73152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67185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B2369-C819-2A97-5458-87B69DFBB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Medication Reconciliation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5CD9BB-54F6-C49F-F00E-7981D595B71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Policy (Hospital Management System          Hospital Document         PH       Medication Reconciliation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9E79D8-1C70-FA5A-1152-DFA8A45733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1" r="3077" b="9744"/>
          <a:stretch/>
        </p:blipFill>
        <p:spPr bwMode="auto">
          <a:xfrm>
            <a:off x="1691640" y="2895600"/>
            <a:ext cx="5760720" cy="34442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4F39D2B-5C9F-F8B6-76AA-E8FD5520E7CC}"/>
              </a:ext>
            </a:extLst>
          </p:cNvPr>
          <p:cNvCxnSpPr/>
          <p:nvPr/>
        </p:nvCxnSpPr>
        <p:spPr>
          <a:xfrm>
            <a:off x="6248400" y="1752600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423A7A-6878-43C7-628F-35CBD70F7442}"/>
              </a:ext>
            </a:extLst>
          </p:cNvPr>
          <p:cNvCxnSpPr/>
          <p:nvPr/>
        </p:nvCxnSpPr>
        <p:spPr>
          <a:xfrm>
            <a:off x="2514600" y="2093407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C3B878-744B-9E01-2FF2-0BB11935E98F}"/>
              </a:ext>
            </a:extLst>
          </p:cNvPr>
          <p:cNvCxnSpPr>
            <a:cxnSpLocks/>
          </p:cNvCxnSpPr>
          <p:nvPr/>
        </p:nvCxnSpPr>
        <p:spPr>
          <a:xfrm>
            <a:off x="3581400" y="2093407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913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2816-E21D-475F-C654-107D4278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Safe Surgical Checklist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10058-0B5F-8588-2B91-B6B009F6390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3" t="9562" r="8506" b="7238"/>
          <a:stretch/>
        </p:blipFill>
        <p:spPr bwMode="auto">
          <a:xfrm>
            <a:off x="533400" y="1447799"/>
            <a:ext cx="8395063" cy="4754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8937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1" t="10434" r="10880" b="6087"/>
          <a:stretch/>
        </p:blipFill>
        <p:spPr bwMode="auto">
          <a:xfrm>
            <a:off x="914400" y="274638"/>
            <a:ext cx="7696199" cy="5821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1178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D5437-FA23-ECEE-B301-B12FC7E75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Information of Transition of Care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2F5E36-63DF-69B3-54CD-41A29D2BD992}"/>
              </a:ext>
            </a:extLst>
          </p:cNvPr>
          <p:cNvPicPr>
            <a:picLocks noGrp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76400"/>
            <a:ext cx="2651888" cy="19161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01844E-2441-349C-58E6-FA86C47CBA8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637320"/>
            <a:ext cx="2859405" cy="19443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434CA6-20FF-BB1A-6975-7308B9B1EE2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155"/>
          <a:stretch/>
        </p:blipFill>
        <p:spPr bwMode="auto">
          <a:xfrm>
            <a:off x="2895600" y="4073870"/>
            <a:ext cx="3123565" cy="22936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1E1C7BC-555C-EB4E-B1B2-D5A3B8064D34}"/>
              </a:ext>
            </a:extLst>
          </p:cNvPr>
          <p:cNvSpPr/>
          <p:nvPr/>
        </p:nvSpPr>
        <p:spPr>
          <a:xfrm>
            <a:off x="4724400" y="4572000"/>
            <a:ext cx="6858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95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Area 3- Medication Use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98EBA7-C8D9-5BF2-A0F3-7E68A77226C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 l="20243" t="32704" r="22649" b="48428"/>
          <a:stretch>
            <a:fillRect/>
          </a:stretch>
        </p:blipFill>
        <p:spPr bwMode="auto">
          <a:xfrm>
            <a:off x="590602" y="2362200"/>
            <a:ext cx="7962795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CD3E-5EA7-6971-3E82-6F61AD1A8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http://extcontent.covenanthealth.ca/Medication_Management_Diagram_1.jpg">
            <a:extLst>
              <a:ext uri="{FF2B5EF4-FFF2-40B4-BE49-F238E27FC236}">
                <a16:creationId xmlns:a16="http://schemas.microsoft.com/office/drawing/2014/main" id="{E3F5809B-FB6A-693C-D919-53DA2CC97B33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35653"/>
            <a:ext cx="7772400" cy="64309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63110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AAF69-9B87-E5F3-8444-DEEC5D5BB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0000"/>
                </a:solidFill>
              </a:rPr>
              <a:t>High -alert medication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1D3CB-BBD6-13BE-D79C-F43CDD5B6A9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" indent="0" algn="l" rtl="0">
              <a:buNone/>
            </a:pPr>
            <a:r>
              <a:rPr lang="en-US" sz="2400" dirty="0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STANDERD</a:t>
            </a:r>
          </a:p>
          <a:p>
            <a:pPr algn="l" rtl="0"/>
            <a:r>
              <a:rPr lang="en-US" sz="2400" dirty="0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Implements Strategy for management of high alert medication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0413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6F79F-A08E-3051-2CFA-F35FB4FA9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High -alert medication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04B48-491A-8866-799A-AF9FF4E976F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1888" y="1971989"/>
            <a:ext cx="4193512" cy="3819211"/>
          </a:xfrm>
        </p:spPr>
        <p:txBody>
          <a:bodyPr>
            <a:normAutofit lnSpcReduction="10000"/>
          </a:bodyPr>
          <a:lstStyle/>
          <a:p>
            <a:pPr algn="l" rtl="0"/>
            <a:r>
              <a:rPr lang="en-US" sz="3200" dirty="0">
                <a:solidFill>
                  <a:schemeClr val="tx1"/>
                </a:solidFill>
                <a:latin typeface="Andalus" pitchFamily="18" charset="-78"/>
                <a:cs typeface="Andalus" pitchFamily="18" charset="-78"/>
              </a:rPr>
              <a:t>Limiting access to high-alert (under  lock)</a:t>
            </a:r>
          </a:p>
          <a:p>
            <a:pPr algn="l" rtl="0">
              <a:buNone/>
            </a:pPr>
            <a:r>
              <a:rPr lang="en-US" sz="3200" dirty="0">
                <a:solidFill>
                  <a:schemeClr val="tx1"/>
                </a:solidFill>
                <a:latin typeface="Andalus" pitchFamily="18" charset="-78"/>
                <a:cs typeface="Andalus" pitchFamily="18" charset="-78"/>
              </a:rPr>
              <a:t> </a:t>
            </a:r>
          </a:p>
          <a:p>
            <a:pPr algn="l" rtl="0"/>
            <a:r>
              <a:rPr lang="en-US" sz="3200" dirty="0">
                <a:solidFill>
                  <a:schemeClr val="tx1"/>
                </a:solidFill>
                <a:latin typeface="Andalus" pitchFamily="18" charset="-78"/>
                <a:cs typeface="Andalus" pitchFamily="18" charset="-78"/>
              </a:rPr>
              <a:t>Each shift checking medication and documented in the book (Narcotic )  </a:t>
            </a:r>
          </a:p>
          <a:p>
            <a:pPr algn="l" rtl="0"/>
            <a:endParaRPr lang="en-US" sz="2400" dirty="0">
              <a:latin typeface="Andalus" pitchFamily="18" charset="-78"/>
              <a:cs typeface="Andalus" pitchFamily="18" charset="-78"/>
            </a:endParaRPr>
          </a:p>
          <a:p>
            <a:pPr algn="l" rtl="0"/>
            <a:endParaRPr lang="en-US" sz="2400" dirty="0">
              <a:solidFill>
                <a:schemeClr val="tx1"/>
              </a:solidFill>
              <a:latin typeface="Andalus" pitchFamily="18" charset="-78"/>
              <a:cs typeface="Andalus" pitchFamily="18" charset="-78"/>
            </a:endParaRPr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76549D-D76D-565C-93A5-76BA2ADE55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395694"/>
            <a:ext cx="3733800" cy="2971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1889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A81E4-50EC-CBFB-2544-8603AE955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High -alert Medication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C471FE-DAC3-0793-08C7-E9E2F7A7304F}"/>
              </a:ext>
            </a:extLst>
          </p:cNvPr>
          <p:cNvPicPr>
            <a:picLocks noGrp="1"/>
          </p:cNvPicPr>
          <p:nvPr>
            <p:ph sz="quarter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10294"/>
            <a:ext cx="2376747" cy="19230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3A77C2-BC49-F1E6-C764-D78603CAE0FD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3" t="6516" r="12448" b="11898"/>
          <a:stretch/>
        </p:blipFill>
        <p:spPr bwMode="auto">
          <a:xfrm>
            <a:off x="5791200" y="4068762"/>
            <a:ext cx="3048000" cy="25146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8F08FB-B8F7-737A-E6CC-8589E1ABC9B1}"/>
              </a:ext>
            </a:extLst>
          </p:cNvPr>
          <p:cNvSpPr txBox="1"/>
          <p:nvPr/>
        </p:nvSpPr>
        <p:spPr>
          <a:xfrm>
            <a:off x="914400" y="2387023"/>
            <a:ext cx="4648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Font typeface="Arial" pitchFamily="34" charset="0"/>
              <a:buChar char="•"/>
            </a:pPr>
            <a:r>
              <a:rPr lang="en-US" sz="3200" dirty="0">
                <a:latin typeface="Andalus" pitchFamily="18" charset="-78"/>
                <a:cs typeface="Andalus" pitchFamily="18" charset="-78"/>
              </a:rPr>
              <a:t>Applying label </a:t>
            </a:r>
          </a:p>
          <a:p>
            <a:pPr algn="l" rtl="0"/>
            <a:r>
              <a:rPr lang="en-US" sz="3200" dirty="0">
                <a:latin typeface="Andalus" pitchFamily="18" charset="-78"/>
                <a:cs typeface="Andalus" pitchFamily="18" charset="-78"/>
              </a:rPr>
              <a:t>( visible) red label </a:t>
            </a:r>
          </a:p>
          <a:p>
            <a:pPr>
              <a:buFont typeface="Arial" pitchFamily="34" charset="0"/>
              <a:buChar char="•"/>
            </a:pPr>
            <a:endParaRPr lang="en-US" sz="3200" dirty="0">
              <a:latin typeface="Andalus" pitchFamily="18" charset="-78"/>
              <a:cs typeface="Andalus" pitchFamily="18" charset="-78"/>
            </a:endParaRPr>
          </a:p>
          <a:p>
            <a:pPr>
              <a:buFont typeface="Arial" pitchFamily="34" charset="0"/>
              <a:buChar char="•"/>
            </a:pPr>
            <a:r>
              <a:rPr lang="en-US" sz="3200" dirty="0">
                <a:latin typeface="Andalus" pitchFamily="18" charset="-78"/>
                <a:cs typeface="Andalus" pitchFamily="18" charset="-78"/>
              </a:rPr>
              <a:t>List of  high alert medication kept on the unit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766860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99AEA-03C2-EF0E-8B78-EC4508D76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High -alert Medication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3B25A7-79EC-E570-5F50-F813AAA90DD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953000" y="2209800"/>
            <a:ext cx="4114800" cy="3657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D77BD7-DAE2-B339-57FD-9350D2623C55}"/>
              </a:ext>
            </a:extLst>
          </p:cNvPr>
          <p:cNvSpPr txBox="1"/>
          <p:nvPr/>
        </p:nvSpPr>
        <p:spPr>
          <a:xfrm>
            <a:off x="914400" y="2304126"/>
            <a:ext cx="4114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3200" dirty="0">
                <a:latin typeface="Andalus" pitchFamily="18" charset="-78"/>
                <a:cs typeface="Andalus" pitchFamily="18" charset="-78"/>
              </a:rPr>
              <a:t>Pharmacists doing round and audit </a:t>
            </a:r>
          </a:p>
          <a:p>
            <a:pPr algn="l" rtl="0"/>
            <a:endParaRPr lang="en-US" sz="3200" dirty="0">
              <a:latin typeface="Andalus" pitchFamily="18" charset="-78"/>
              <a:cs typeface="Andalus" pitchFamily="18" charset="-78"/>
            </a:endParaRPr>
          </a:p>
          <a:p>
            <a:pPr marL="45720" indent="0" algn="l" rtl="0">
              <a:buNone/>
            </a:pPr>
            <a:r>
              <a:rPr lang="en-US" sz="3200" dirty="0">
                <a:latin typeface="Andalus" pitchFamily="18" charset="-78"/>
                <a:cs typeface="Andalus" pitchFamily="18" charset="-78"/>
              </a:rPr>
              <a:t>( there is a communication book ) </a:t>
            </a:r>
            <a:endParaRPr lang="ar-OM" sz="3200" dirty="0"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439779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Area 4- </a:t>
            </a:r>
            <a:r>
              <a:rPr lang="en-US" b="1" dirty="0" err="1"/>
              <a:t>Worklife</a:t>
            </a:r>
            <a:r>
              <a:rPr lang="en-US" b="1" dirty="0"/>
              <a:t>/ Workforce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DC354BD-4FB5-2844-82AD-4F47C6C8E6F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 l="20243" t="51153" r="22649" b="35639"/>
          <a:stretch>
            <a:fillRect/>
          </a:stretch>
        </p:blipFill>
        <p:spPr bwMode="auto">
          <a:xfrm>
            <a:off x="630251" y="2133600"/>
            <a:ext cx="8056549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51AAC8C-260A-2C0A-CFD6-7847FF673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465144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79276-3A64-3DCA-70DA-01B492085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Workplace Violence Prevention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D551A-5B11-B36A-CD2E-D0F1C724588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Policy (Hospital Management System         Hospital Document         DG       Code White Emergency Aggressive Response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CE45943-8DA5-EB28-83D6-D8DD13C624B3}"/>
              </a:ext>
            </a:extLst>
          </p:cNvPr>
          <p:cNvCxnSpPr/>
          <p:nvPr/>
        </p:nvCxnSpPr>
        <p:spPr>
          <a:xfrm>
            <a:off x="6248400" y="175260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E5EBCF-E3A1-2770-40B1-3E6EAED05C30}"/>
              </a:ext>
            </a:extLst>
          </p:cNvPr>
          <p:cNvCxnSpPr/>
          <p:nvPr/>
        </p:nvCxnSpPr>
        <p:spPr>
          <a:xfrm>
            <a:off x="2514600" y="205740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4F104F-8D24-3F5D-EFD4-D47DEADB1B50}"/>
              </a:ext>
            </a:extLst>
          </p:cNvPr>
          <p:cNvCxnSpPr>
            <a:cxnSpLocks/>
          </p:cNvCxnSpPr>
          <p:nvPr/>
        </p:nvCxnSpPr>
        <p:spPr>
          <a:xfrm>
            <a:off x="3657600" y="205740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22BD1B26-544E-2E91-5A78-6F78F00926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78" r="2307" b="6155"/>
          <a:stretch/>
        </p:blipFill>
        <p:spPr bwMode="auto">
          <a:xfrm>
            <a:off x="1524000" y="2952055"/>
            <a:ext cx="5806440" cy="36271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587003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Area 5- Infection Control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0B50329-BB1A-A4FA-9A8E-B3C216A91F8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 l="19965" t="63732" r="23035" b="24729"/>
          <a:stretch>
            <a:fillRect/>
          </a:stretch>
        </p:blipFill>
        <p:spPr bwMode="auto">
          <a:xfrm>
            <a:off x="807899" y="2362200"/>
            <a:ext cx="7528201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DADC-1BB8-3593-DDA8-E31A96E7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159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Hand Hygiene Compliance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20665F-4676-3431-D987-65E060A4A5A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3962400"/>
            <a:ext cx="2704407" cy="25417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0F3BBA-4836-687B-F680-FD451A2851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86" y="3925556"/>
            <a:ext cx="4100914" cy="25417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859FC8-AF30-B045-188F-448F6E26AFE9}"/>
              </a:ext>
            </a:extLst>
          </p:cNvPr>
          <p:cNvSpPr txBox="1"/>
          <p:nvPr/>
        </p:nvSpPr>
        <p:spPr>
          <a:xfrm>
            <a:off x="471086" y="1752600"/>
            <a:ext cx="82157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Policy (Hospital Management System      Hospital Document          IPC          Hand Hygiene Policy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9ECDA07-6834-2CDE-C1E7-02DAB3633355}"/>
              </a:ext>
            </a:extLst>
          </p:cNvPr>
          <p:cNvCxnSpPr/>
          <p:nvPr/>
        </p:nvCxnSpPr>
        <p:spPr>
          <a:xfrm>
            <a:off x="6629400" y="205740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FFABB8-2602-42A9-E282-F66095CF3672}"/>
              </a:ext>
            </a:extLst>
          </p:cNvPr>
          <p:cNvCxnSpPr/>
          <p:nvPr/>
        </p:nvCxnSpPr>
        <p:spPr>
          <a:xfrm>
            <a:off x="2286000" y="2438400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1406FE-D8CE-4444-C46B-E3D9AC9B22C2}"/>
              </a:ext>
            </a:extLst>
          </p:cNvPr>
          <p:cNvCxnSpPr/>
          <p:nvPr/>
        </p:nvCxnSpPr>
        <p:spPr>
          <a:xfrm>
            <a:off x="3810000" y="2438400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631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AA92A-B746-5E08-BA39-8D0B3AF62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Hand Hygiene Compliance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3482EE-8035-2686-2587-64C09BD98F5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0" t="18628" r="6666" b="16263"/>
          <a:stretch/>
        </p:blipFill>
        <p:spPr bwMode="auto">
          <a:xfrm>
            <a:off x="304800" y="1600200"/>
            <a:ext cx="4166285" cy="226697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E241D2-22CD-40A1-7303-F982EC19DA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5" t="13330" r="5640" b="20707"/>
          <a:stretch/>
        </p:blipFill>
        <p:spPr bwMode="auto">
          <a:xfrm>
            <a:off x="267796" y="4049732"/>
            <a:ext cx="4240291" cy="226697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E41FE8-2037-9E3F-407E-01562C812F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8" t="14526" r="4873" b="19339"/>
          <a:stretch/>
        </p:blipFill>
        <p:spPr bwMode="auto">
          <a:xfrm>
            <a:off x="4800600" y="1600200"/>
            <a:ext cx="4176614" cy="226697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5D6BAF-DB7A-7B1E-5505-52ABF4B68D8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27" b="16606"/>
          <a:stretch/>
        </p:blipFill>
        <p:spPr bwMode="auto">
          <a:xfrm>
            <a:off x="4828989" y="4069829"/>
            <a:ext cx="4189303" cy="233097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891873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52BCE-7554-A08A-1C21-09297986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 Hygiene Education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EE6B5-6EE9-89CF-E42D-ED6494C4B84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Infection Control Course(Royal Hospital/OMSB)</a:t>
            </a:r>
          </a:p>
          <a:p>
            <a:r>
              <a:rPr lang="en-US" dirty="0"/>
              <a:t>Hand Hygiene Awareness Day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A5329F-D4A6-2DC6-E65C-A2EC22CD8B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667000"/>
            <a:ext cx="4876800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BE1BA9-74DA-8E84-1ED5-927B30265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617770"/>
            <a:ext cx="3048000" cy="370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7608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E51F9-5C89-C614-B63F-622302D11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F0107-BFBF-9742-40B7-061E613D5B0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1888" y="1600200"/>
            <a:ext cx="7772400" cy="4572000"/>
          </a:xfrm>
        </p:spPr>
        <p:txBody>
          <a:bodyPr/>
          <a:lstStyle/>
          <a:p>
            <a:pPr marL="45720" indent="0" algn="l">
              <a:buNone/>
            </a:pPr>
            <a:r>
              <a:rPr lang="en-GB" sz="2800" b="1" dirty="0">
                <a:solidFill>
                  <a:srgbClr val="FF0000"/>
                </a:solidFill>
                <a:latin typeface="Andalus" pitchFamily="18" charset="-78"/>
                <a:cs typeface="Andalus" pitchFamily="18" charset="-78"/>
              </a:rPr>
              <a:t>Monitoring of the sterilization process</a:t>
            </a:r>
          </a:p>
          <a:p>
            <a:pPr marL="45720" indent="0">
              <a:buNone/>
            </a:pPr>
            <a:endParaRPr lang="en-US" sz="2800" dirty="0">
              <a:solidFill>
                <a:schemeClr val="tx1"/>
              </a:solidFill>
              <a:latin typeface="Andalus" pitchFamily="18" charset="-78"/>
              <a:cs typeface="Andalus" pitchFamily="18" charset="-78"/>
            </a:endParaRPr>
          </a:p>
          <a:p>
            <a:pPr algn="l"/>
            <a:r>
              <a:rPr lang="en-GB" dirty="0">
                <a:solidFill>
                  <a:schemeClr val="tx1"/>
                </a:solidFill>
                <a:latin typeface="Andalus" pitchFamily="18" charset="-78"/>
                <a:cs typeface="Andalus" pitchFamily="18" charset="-78"/>
              </a:rPr>
              <a:t>Monitoring of sterilization process by observing the gauges or displays on the sterilizer. The external and internal indicators are the key points to assess the sterilization technique.</a:t>
            </a:r>
          </a:p>
          <a:p>
            <a:pPr marL="45720" indent="0" algn="l">
              <a:buNone/>
            </a:pPr>
            <a:endParaRPr lang="en-US" dirty="0">
              <a:solidFill>
                <a:schemeClr val="tx1"/>
              </a:solidFill>
              <a:latin typeface="Andalus" pitchFamily="18" charset="-78"/>
              <a:cs typeface="Andalus" pitchFamily="18" charset="-78"/>
            </a:endParaRPr>
          </a:p>
          <a:p>
            <a:pPr algn="l"/>
            <a:r>
              <a:rPr lang="en-GB" dirty="0">
                <a:solidFill>
                  <a:schemeClr val="tx1"/>
                </a:solidFill>
                <a:latin typeface="Andalus" pitchFamily="18" charset="-78"/>
                <a:cs typeface="Andalus" pitchFamily="18" charset="-78"/>
              </a:rPr>
              <a:t>External indicators are used when the internal indicators cannot be seen from outside the package, such as:</a:t>
            </a:r>
            <a:endParaRPr lang="en-US" dirty="0">
              <a:solidFill>
                <a:schemeClr val="tx1"/>
              </a:solidFill>
              <a:latin typeface="Andalus" pitchFamily="18" charset="-78"/>
              <a:cs typeface="Andalus" pitchFamily="18" charset="-78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672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08EB8-F0B7-9AC1-4E69-FA91BF602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GB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The dark lines indicates that the set is sterilized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522B0-69B3-1BE3-2D5D-C3D9A650D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       Before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16114-3C9D-CFC4-BC0C-1E568DA11319}"/>
              </a:ext>
            </a:extLst>
          </p:cNvPr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US" dirty="0"/>
              <a:t>                After</a:t>
            </a:r>
          </a:p>
        </p:txBody>
      </p:sp>
      <p:pic>
        <p:nvPicPr>
          <p:cNvPr id="7" name="Content Placeholder 6" descr="C:\Users\Loosy\Desktop\ACI\IMG_0403.JPG">
            <a:extLst>
              <a:ext uri="{FF2B5EF4-FFF2-40B4-BE49-F238E27FC236}">
                <a16:creationId xmlns:a16="http://schemas.microsoft.com/office/drawing/2014/main" id="{0B8232C3-9EFC-9500-D356-8F35CE50F875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362200"/>
            <a:ext cx="3039687" cy="304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607BFF1-CF50-125C-97A9-661632D34BBA}"/>
              </a:ext>
            </a:extLst>
          </p:cNvPr>
          <p:cNvPicPr>
            <a:picLocks noGrp="1"/>
          </p:cNvPicPr>
          <p:nvPr>
            <p:ph sz="half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2381458"/>
            <a:ext cx="2985655" cy="30479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61536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Area 6- Risk Assessment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776F99-AB22-4463-9C0A-22AA125D775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/>
          <a:srcRect l="19968" t="37107" r="22947" b="53857"/>
          <a:stretch>
            <a:fillRect/>
          </a:stretch>
        </p:blipFill>
        <p:spPr bwMode="auto">
          <a:xfrm>
            <a:off x="1066800" y="2286000"/>
            <a:ext cx="7239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9AF3D2-5AE4-A3FF-3CDA-215D5C8820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20" t="68763" r="23042" b="20328"/>
          <a:stretch>
            <a:fillRect/>
          </a:stretch>
        </p:blipFill>
        <p:spPr bwMode="auto">
          <a:xfrm>
            <a:off x="1066800" y="3429000"/>
            <a:ext cx="7238999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F16A6-0CFE-111B-9916-1CE9B040E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Fall Prevention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8C3E7-DF81-794F-9B63-CD1FE28BE69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Policy (Hospital Management System      Hospital Document         Nursing       Fall Prevention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6553200" y="1752600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2895600" y="2081684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</p:cNvCxnSpPr>
          <p:nvPr/>
        </p:nvCxnSpPr>
        <p:spPr>
          <a:xfrm>
            <a:off x="4572000" y="2057400"/>
            <a:ext cx="457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9E36A021-D45E-59B5-C7A1-2FEEF905DC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79" r="2051" b="5640"/>
          <a:stretch/>
        </p:blipFill>
        <p:spPr bwMode="auto">
          <a:xfrm>
            <a:off x="1661160" y="2438401"/>
            <a:ext cx="5821680" cy="364998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8417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B322-3C5E-6E95-3C2F-43414E7D3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How to Prevent Fall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9270923-760C-30E8-B5CE-12896DB7A827}"/>
              </a:ext>
            </a:extLst>
          </p:cNvPr>
          <p:cNvPicPr>
            <a:picLocks noGrp="1"/>
          </p:cNvPicPr>
          <p:nvPr>
            <p:ph sz="quarter" idx="1"/>
          </p:nvPr>
        </p:nvPicPr>
        <p:blipFill rotWithShape="1">
          <a:blip r:embed="rId2" cstate="print"/>
          <a:srcRect r="47341" b="42714"/>
          <a:stretch/>
        </p:blipFill>
        <p:spPr bwMode="auto">
          <a:xfrm>
            <a:off x="381000" y="1821963"/>
            <a:ext cx="2514600" cy="1600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Placeholder 11">
            <a:extLst>
              <a:ext uri="{FF2B5EF4-FFF2-40B4-BE49-F238E27FC236}">
                <a16:creationId xmlns:a16="http://schemas.microsoft.com/office/drawing/2014/main" id="{2AE6BD7E-B17C-2648-D32E-26016BB82B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52" b="13352"/>
          <a:stretch>
            <a:fillRect/>
          </a:stretch>
        </p:blipFill>
        <p:spPr>
          <a:xfrm>
            <a:off x="3556235" y="1865633"/>
            <a:ext cx="2434995" cy="1805414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D48F58-9223-0404-582B-477E2252DD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221160"/>
            <a:ext cx="2519361" cy="190499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7" name="Picture 3" descr="C:\Users\user\Downloads\image(6).jpeg">
            <a:extLst>
              <a:ext uri="{FF2B5EF4-FFF2-40B4-BE49-F238E27FC236}">
                <a16:creationId xmlns:a16="http://schemas.microsoft.com/office/drawing/2014/main" id="{B04D7D91-1652-C297-C763-146CDD2F6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912742" y="3876423"/>
            <a:ext cx="1915884" cy="262889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A3D862-5D72-0444-D580-2FF2EBFA898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613" y="1982737"/>
            <a:ext cx="2333631" cy="173264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A279B2-6E39-5DDD-B3D9-A44AF0958AD0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05" t="7685" r="16050" b="41852"/>
          <a:stretch/>
        </p:blipFill>
        <p:spPr bwMode="auto">
          <a:xfrm rot="16200000">
            <a:off x="6828431" y="3916023"/>
            <a:ext cx="1971994" cy="249358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4778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12EB1-61D9-938A-C18A-E9D84FA04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Pressure Ulcer Prevention &amp; Skin and Wound Care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422FA-E818-CAEF-58C6-36D5A7B63D6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677220"/>
            <a:ext cx="7772400" cy="4572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Policy (Hospital Management System      Hospital Document         Nursing       Pressure Ulcer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A3030F-EF06-0D00-56CF-DBE064E53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3276600"/>
            <a:ext cx="4740266" cy="3052065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7FED02-160F-2C43-8BBD-913305695192}"/>
              </a:ext>
            </a:extLst>
          </p:cNvPr>
          <p:cNvCxnSpPr/>
          <p:nvPr/>
        </p:nvCxnSpPr>
        <p:spPr>
          <a:xfrm>
            <a:off x="6248400" y="1919235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E13DB4-4048-B20E-8D39-1320784D797D}"/>
              </a:ext>
            </a:extLst>
          </p:cNvPr>
          <p:cNvCxnSpPr/>
          <p:nvPr/>
        </p:nvCxnSpPr>
        <p:spPr>
          <a:xfrm>
            <a:off x="4343400" y="236220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A3851F-E3F0-FA5D-FE2D-CF3F5F5E3400}"/>
              </a:ext>
            </a:extLst>
          </p:cNvPr>
          <p:cNvCxnSpPr/>
          <p:nvPr/>
        </p:nvCxnSpPr>
        <p:spPr>
          <a:xfrm>
            <a:off x="2590800" y="2362200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5502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B075-2730-4C3F-802B-F64001273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Pressure Ulcer Prevention &amp; Skin and Wound Care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3B92B4-CA8E-A76C-39F2-6E55EB76858B}"/>
              </a:ext>
            </a:extLst>
          </p:cNvPr>
          <p:cNvPicPr>
            <a:picLocks noGrp="1"/>
          </p:cNvPicPr>
          <p:nvPr>
            <p:ph sz="quarter" idx="1"/>
          </p:nvPr>
        </p:nvPicPr>
        <p:blipFill>
          <a:blip r:embed="rId2" cstate="print"/>
          <a:srcRect r="50162" b="48922"/>
          <a:stretch>
            <a:fillRect/>
          </a:stretch>
        </p:blipFill>
        <p:spPr bwMode="auto">
          <a:xfrm>
            <a:off x="307692" y="1828800"/>
            <a:ext cx="3654708" cy="22860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E34036-94B1-3CBE-AEE9-80D9FBF32C0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758" y="1828800"/>
            <a:ext cx="3777496" cy="21336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62124E-8D8E-9C49-E261-738E3AC08135}"/>
              </a:ext>
            </a:extLst>
          </p:cNvPr>
          <p:cNvPicPr/>
          <p:nvPr/>
        </p:nvPicPr>
        <p:blipFill>
          <a:blip r:embed="rId4" cstate="print"/>
          <a:srcRect l="10740" r="45576" b="63790"/>
          <a:stretch>
            <a:fillRect/>
          </a:stretch>
        </p:blipFill>
        <p:spPr bwMode="auto">
          <a:xfrm>
            <a:off x="381000" y="4404247"/>
            <a:ext cx="3352800" cy="22860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50395A-43EE-4029-3692-B68CD179A6F9}"/>
              </a:ext>
            </a:extLst>
          </p:cNvPr>
          <p:cNvPicPr/>
          <p:nvPr/>
        </p:nvPicPr>
        <p:blipFill>
          <a:blip r:embed="rId5" cstate="print"/>
          <a:srcRect r="47619" b="61495"/>
          <a:stretch>
            <a:fillRect/>
          </a:stretch>
        </p:blipFill>
        <p:spPr bwMode="auto">
          <a:xfrm>
            <a:off x="5144758" y="4648200"/>
            <a:ext cx="3849395" cy="193516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91F6272-D096-94C8-00E8-46A70CCD1ACF}"/>
              </a:ext>
            </a:extLst>
          </p:cNvPr>
          <p:cNvSpPr/>
          <p:nvPr/>
        </p:nvSpPr>
        <p:spPr>
          <a:xfrm flipV="1">
            <a:off x="837177" y="2026936"/>
            <a:ext cx="990600" cy="2015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133B17E-8BD4-2B73-30C1-ADD02D96D985}"/>
              </a:ext>
            </a:extLst>
          </p:cNvPr>
          <p:cNvSpPr/>
          <p:nvPr/>
        </p:nvSpPr>
        <p:spPr>
          <a:xfrm>
            <a:off x="646148" y="2398535"/>
            <a:ext cx="2285999" cy="1080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DA41B42-8B90-DE89-65A7-AC614E000C8B}"/>
              </a:ext>
            </a:extLst>
          </p:cNvPr>
          <p:cNvSpPr/>
          <p:nvPr/>
        </p:nvSpPr>
        <p:spPr>
          <a:xfrm>
            <a:off x="469085" y="4827832"/>
            <a:ext cx="2285999" cy="1080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C9493E4-59A5-1E4F-9C6F-18E7CD0C62A6}"/>
              </a:ext>
            </a:extLst>
          </p:cNvPr>
          <p:cNvSpPr/>
          <p:nvPr/>
        </p:nvSpPr>
        <p:spPr>
          <a:xfrm>
            <a:off x="6417548" y="4876800"/>
            <a:ext cx="2285999" cy="1080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20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3FF31-404F-00D6-776E-B5C363E4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Suicide Prevention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C42576-6C68-8844-F66C-95D7207B499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4" t="6759" r="2221" b="45648"/>
          <a:stretch/>
        </p:blipFill>
        <p:spPr bwMode="auto">
          <a:xfrm>
            <a:off x="4997256" y="3413927"/>
            <a:ext cx="3835790" cy="341106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688DFA-290C-AE61-4F83-FCB8017101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78" r="1923" b="6325"/>
          <a:stretch/>
        </p:blipFill>
        <p:spPr bwMode="auto">
          <a:xfrm>
            <a:off x="310954" y="3664560"/>
            <a:ext cx="4686300" cy="290979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BFC182-7D00-6B81-4AD8-8D2B83618ADC}"/>
              </a:ext>
            </a:extLst>
          </p:cNvPr>
          <p:cNvSpPr txBox="1"/>
          <p:nvPr/>
        </p:nvSpPr>
        <p:spPr>
          <a:xfrm>
            <a:off x="609600" y="1769451"/>
            <a:ext cx="82234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Policy (Hospital Management System      Hospital Document         MDP       Suicide Prevention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CE5129-430D-4437-30B1-AAED79C1D5DC}"/>
              </a:ext>
            </a:extLst>
          </p:cNvPr>
          <p:cNvCxnSpPr/>
          <p:nvPr/>
        </p:nvCxnSpPr>
        <p:spPr>
          <a:xfrm>
            <a:off x="6781800" y="205740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82C1DF-AB7D-2FA7-B475-609456323073}"/>
              </a:ext>
            </a:extLst>
          </p:cNvPr>
          <p:cNvCxnSpPr/>
          <p:nvPr/>
        </p:nvCxnSpPr>
        <p:spPr>
          <a:xfrm>
            <a:off x="2438400" y="2514600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198225-F930-862F-2F32-74FF554231EC}"/>
              </a:ext>
            </a:extLst>
          </p:cNvPr>
          <p:cNvCxnSpPr>
            <a:cxnSpLocks/>
          </p:cNvCxnSpPr>
          <p:nvPr/>
        </p:nvCxnSpPr>
        <p:spPr>
          <a:xfrm>
            <a:off x="4038600" y="2514600"/>
            <a:ext cx="493207" cy="7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8944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34FA7-7793-0CE8-2932-69F7B803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Venous Thromboembolism (VTE)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E2FA7D-C2B8-4360-B536-BD08487CDB0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7" b="28147"/>
          <a:stretch/>
        </p:blipFill>
        <p:spPr bwMode="auto">
          <a:xfrm>
            <a:off x="751586" y="1431873"/>
            <a:ext cx="3820414" cy="4572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4B4E04-EDE8-0564-3314-0BA13D5645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9" t="5926" r="9300" b="23333"/>
          <a:stretch/>
        </p:blipFill>
        <p:spPr bwMode="auto">
          <a:xfrm>
            <a:off x="5105400" y="1372288"/>
            <a:ext cx="3601497" cy="46315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374730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610F-2A88-625A-BF0B-7C3488C00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Vision and Mission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9EB7E6-B982-490A-EA1A-30F7C1B7BA0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9" t="10086" r="6666" b="5983"/>
          <a:stretch/>
        </p:blipFill>
        <p:spPr bwMode="auto">
          <a:xfrm>
            <a:off x="762000" y="2011362"/>
            <a:ext cx="7924800" cy="4572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461181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1EF87-BFA1-645B-019E-D82762431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Next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69C1E-BA12-AC06-F84B-CC5E4F3E5F7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Distributing Videos Related to ROPs.</a:t>
            </a:r>
          </a:p>
          <a:p>
            <a:r>
              <a:rPr lang="en-US" dirty="0"/>
              <a:t>Continuing Audit.</a:t>
            </a:r>
          </a:p>
          <a:p>
            <a:r>
              <a:rPr lang="en-US" dirty="0"/>
              <a:t>Rapid Quiz.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2213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