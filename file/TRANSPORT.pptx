
<file path=[Content_Types].xml><?xml version="1.0" encoding="utf-8"?>
<Types xmlns="http://schemas.openxmlformats.org/package/2006/content-types">
  <Default ContentType="application/vnd.openxmlformats-officedocument.vmlDrawing" Extension="vml"/>
  <Default ContentType="image/gif" Extension="gif"/>
  <Default ContentType="application/vnd.openxmlformats-officedocument.oleObject" Extension="bin"/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1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9144000"/>
  <p:notesSz cx="6858000" cy="9144000"/>
  <p:defaultTextStyle>
    <a:defPPr lvl="0">
      <a:defRPr lang="ko-KR"/>
    </a:defPPr>
    <a:lvl1pPr defTabSz="914400" eaLnBrk="1" hangingPunct="1" latinLnBrk="1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1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1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1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1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1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1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1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1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cmpd="sng" w="12700">
              <a:solidFill>
                <a:schemeClr val="lt1"/>
              </a:solidFill>
            </a:ln>
          </a:left>
          <a:right>
            <a:ln cmpd="sng" w="12700">
              <a:solidFill>
                <a:schemeClr val="lt1"/>
              </a:solidFill>
            </a:ln>
          </a:right>
          <a:top>
            <a:ln cmpd="sng" w="12700">
              <a:solidFill>
                <a:schemeClr val="lt1"/>
              </a:solidFill>
            </a:ln>
          </a:top>
          <a:bottom>
            <a:ln cmpd="sng" w="12700">
              <a:solidFill>
                <a:schemeClr val="lt1"/>
              </a:solidFill>
            </a:ln>
          </a:bottom>
          <a:insideH>
            <a:ln cmpd="sng" w="12700">
              <a:solidFill>
                <a:schemeClr val="lt1"/>
              </a:solidFill>
            </a:ln>
          </a:insideH>
          <a:insideV>
            <a:ln cmpd="sng"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cmpd="sng"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cmpd="sng"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tableStyles" Target="tableStyles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545AC5-813F-4ED1-B011-8EA17CB93331}" type="datetimeFigureOut">
              <a:rPr lang="ko-KR" altLang="en-US" smtClean="0"/>
              <a:pPr/>
              <a:t>2022. 3. 16.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04B90-27FD-422C-8CC6-2AADAD122D0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07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04B90-27FD-422C-8CC6-2AADAD122D08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3511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2022. 3. 16.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제목 1"/>
          <p:cNvSpPr>
            <a:spLocks noGrp="1"/>
          </p:cNvSpPr>
          <p:nvPr>
            <p:ph type="ctrTitle" hasCustomPrompt="1"/>
          </p:nvPr>
        </p:nvSpPr>
        <p:spPr>
          <a:xfrm>
            <a:off x="0" y="2845461"/>
            <a:ext cx="9144000" cy="915949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mar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5400" kern="1200" baseline="0" dirty="0">
                <a:gradFill>
                  <a:gsLst>
                    <a:gs pos="8750">
                      <a:srgbClr val="59CAEC"/>
                    </a:gs>
                    <a:gs pos="20417">
                      <a:srgbClr val="59CAEC"/>
                    </a:gs>
                  </a:gsLst>
                  <a:lin ang="5400000" scaled="0"/>
                </a:gradFill>
                <a:effectLst/>
                <a:latin typeface="+mj-lt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입력하시오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2022. 3. 16.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2022. 3. 16.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3528" y="35609"/>
            <a:ext cx="7738614" cy="796908"/>
          </a:xfr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500" b="1" kern="1200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ED3D6733-6F27-4404-AB51-585418F146E5}" type="datetimeFigureOut">
              <a:rPr lang="ko-KR" altLang="en-US" smtClean="0"/>
              <a:pPr/>
              <a:t>2022. 3. 16.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323528" y="1083733"/>
            <a:ext cx="8509606" cy="4954411"/>
          </a:xfrm>
        </p:spPr>
        <p:txBody>
          <a:bodyPr>
            <a:normAutofit/>
          </a:bodyPr>
          <a:lstStyle>
            <a:lvl1pPr algn="l">
              <a:buNone/>
              <a:defRPr sz="1600" i="1" baseline="0">
                <a:solidFill>
                  <a:srgbClr val="292929"/>
                </a:solidFill>
                <a:latin typeface="+mj-lt"/>
                <a:ea typeface="맑은 고딕" pitchFamily="50" charset="-127"/>
              </a:defRPr>
            </a:lvl1pPr>
            <a:lvl2pPr algn="l">
              <a:buNone/>
              <a:defRPr sz="1600" i="1" baseline="0">
                <a:solidFill>
                  <a:srgbClr val="292929"/>
                </a:solidFill>
                <a:latin typeface="+mj-lt"/>
                <a:ea typeface="맑은 고딕" pitchFamily="50" charset="-127"/>
              </a:defRPr>
            </a:lvl2pPr>
            <a:lvl3pPr algn="l">
              <a:buNone/>
              <a:defRPr sz="1600" i="1" baseline="0">
                <a:solidFill>
                  <a:srgbClr val="292929"/>
                </a:solidFill>
                <a:latin typeface="+mj-lt"/>
                <a:ea typeface="맑은 고딕" pitchFamily="50" charset="-127"/>
              </a:defRPr>
            </a:lvl3pPr>
            <a:lvl4pPr algn="l">
              <a:buNone/>
              <a:defRPr sz="1600" i="1" baseline="0">
                <a:solidFill>
                  <a:srgbClr val="292929"/>
                </a:solidFill>
                <a:latin typeface="+mj-lt"/>
                <a:ea typeface="맑은 고딕" pitchFamily="50" charset="-127"/>
              </a:defRPr>
            </a:lvl4pPr>
            <a:lvl5pPr algn="l">
              <a:buNone/>
              <a:defRPr sz="1600" i="1" baseline="0">
                <a:solidFill>
                  <a:srgbClr val="292929"/>
                </a:solidFill>
                <a:latin typeface="+mj-lt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500834"/>
            <a:ext cx="2133600" cy="220641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ED3D6733-6F27-4404-AB51-585418F146E5}" type="datetimeFigureOut">
              <a:rPr lang="ko-KR" altLang="en-US" smtClean="0"/>
              <a:pPr/>
              <a:t>2022. 3. 16.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500834"/>
            <a:ext cx="2895600" cy="220641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500834"/>
            <a:ext cx="2133600" cy="220641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323528" y="35609"/>
            <a:ext cx="7738614" cy="796908"/>
          </a:xfr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500" b="1" kern="1200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323528" y="1083733"/>
            <a:ext cx="8509606" cy="4954411"/>
          </a:xfrm>
        </p:spPr>
        <p:txBody>
          <a:bodyPr>
            <a:normAutofit/>
          </a:bodyPr>
          <a:lstStyle>
            <a:lvl1pPr algn="l">
              <a:buNone/>
              <a:defRPr sz="1600" i="1" baseline="0">
                <a:solidFill>
                  <a:srgbClr val="292929"/>
                </a:solidFill>
                <a:latin typeface="+mj-lt"/>
                <a:ea typeface="맑은 고딕" pitchFamily="50" charset="-127"/>
              </a:defRPr>
            </a:lvl1pPr>
            <a:lvl2pPr algn="l">
              <a:buNone/>
              <a:defRPr sz="1600" i="1" baseline="0">
                <a:solidFill>
                  <a:srgbClr val="292929"/>
                </a:solidFill>
                <a:latin typeface="+mj-lt"/>
                <a:ea typeface="맑은 고딕" pitchFamily="50" charset="-127"/>
              </a:defRPr>
            </a:lvl2pPr>
            <a:lvl3pPr algn="l">
              <a:buNone/>
              <a:defRPr sz="1600" i="1" baseline="0">
                <a:solidFill>
                  <a:srgbClr val="292929"/>
                </a:solidFill>
                <a:latin typeface="+mj-lt"/>
                <a:ea typeface="맑은 고딕" pitchFamily="50" charset="-127"/>
              </a:defRPr>
            </a:lvl3pPr>
            <a:lvl4pPr algn="l">
              <a:buNone/>
              <a:defRPr sz="1600" i="1" baseline="0">
                <a:solidFill>
                  <a:srgbClr val="292929"/>
                </a:solidFill>
                <a:latin typeface="+mj-lt"/>
                <a:ea typeface="맑은 고딕" pitchFamily="50" charset="-127"/>
              </a:defRPr>
            </a:lvl4pPr>
            <a:lvl5pPr algn="l">
              <a:buNone/>
              <a:defRPr sz="1600" i="1" baseline="0">
                <a:solidFill>
                  <a:srgbClr val="292929"/>
                </a:solidFill>
                <a:latin typeface="+mj-lt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2022. 3. 16.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제목 1"/>
          <p:cNvSpPr>
            <a:spLocks noGrp="1"/>
          </p:cNvSpPr>
          <p:nvPr>
            <p:ph type="ctrTitle"/>
          </p:nvPr>
        </p:nvSpPr>
        <p:spPr>
          <a:xfrm>
            <a:off x="467544" y="548680"/>
            <a:ext cx="4752528" cy="227846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7000" kern="1200" baseline="0" dirty="0">
                <a:gradFill>
                  <a:gsLst>
                    <a:gs pos="88333">
                      <a:srgbClr val="485EA8"/>
                    </a:gs>
                    <a:gs pos="81250">
                      <a:srgbClr val="485EA8"/>
                    </a:gs>
                  </a:gsLst>
                  <a:lin ang="5400000" scaled="0"/>
                </a:gradFill>
                <a:effectLst/>
                <a:latin typeface="+mj-lt"/>
                <a:ea typeface="맑은 고딕" pitchFamily="50" charset="-127"/>
                <a:cs typeface="+mj-cs"/>
              </a:defRPr>
            </a:lvl1pPr>
          </a:lstStyle>
          <a:p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9026"/>
            <a:ext cx="8229600" cy="7969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062021"/>
            <a:ext cx="8229600" cy="5286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429396"/>
            <a:ext cx="21336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D6733-6F27-4404-AB51-585418F146E5}" type="datetimeFigureOut">
              <a:rPr lang="ko-KR" altLang="en-US" smtClean="0"/>
              <a:pPr/>
              <a:t>2022. 3. 16.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429396"/>
            <a:ext cx="28956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429396"/>
            <a:ext cx="21336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1" r:id="rId3"/>
    <p:sldLayoutId id="2147483656" r:id="rId4"/>
    <p:sldLayoutId id="2147483650" r:id="rId5"/>
    <p:sldLayoutId id="2147483657" r:id="rId6"/>
  </p:sldLayoutIdLst>
  <p:txStyles>
    <p:titleStyle>
      <a:lvl1pPr algn="l" defTabSz="914400" rtl="0" eaLnBrk="1" latinLnBrk="1" hangingPunct="1">
        <a:spcBef>
          <a:spcPct val="0"/>
        </a:spcBef>
        <a:buNone/>
        <a:defRPr lang="ko-KR" altLang="en-US" sz="3500" kern="1200">
          <a:solidFill>
            <a:sysClr val="windowText" lastClr="000000"/>
          </a:solidFill>
          <a:latin typeface="맑은 고딕" pitchFamily="50" charset="-127"/>
          <a:ea typeface="맑은 고딕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lang="ko-KR" altLang="en-US" sz="25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lang="ko-KR" altLang="en-US" sz="18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lang="ko-KR" altLang="en-US" sz="18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lang="ko-KR" altLang="en-US" sz="18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lang="ko-KR" altLang="en-US" sz="18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0" y="2276872"/>
            <a:ext cx="9144000" cy="915949"/>
          </a:xfrm>
        </p:spPr>
        <p:txBody>
          <a:bodyPr/>
          <a:lstStyle/>
          <a:p>
            <a:r>
              <a:rPr lang="en-US" altLang="ko-KR" sz="6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TRANSPORT TRAINING: </a:t>
            </a:r>
            <a:endParaRPr lang="ko-KR" altLang="en-US" sz="6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9" name="제목 6"/>
          <p:cNvSpPr txBox="1">
            <a:spLocks/>
          </p:cNvSpPr>
          <p:nvPr/>
        </p:nvSpPr>
        <p:spPr>
          <a:xfrm>
            <a:off x="0" y="3573016"/>
            <a:ext cx="9144000" cy="915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굴림체" pitchFamily="49" charset="-127"/>
              <a:buNone/>
              <a:tabLst/>
              <a:defRPr/>
            </a:pPr>
            <a:endParaRPr kumimoji="0" lang="ko-KR" altLang="en-US" sz="5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+mj-lt"/>
              <a:ea typeface="맑은 고딕" pitchFamily="50" charset="-127"/>
              <a:cs typeface="+mj-cs"/>
            </a:endParaRPr>
          </a:p>
        </p:txBody>
      </p:sp>
      <p:sp>
        <p:nvSpPr>
          <p:cNvPr id="30" name="제목 6"/>
          <p:cNvSpPr txBox="1">
            <a:spLocks/>
          </p:cNvSpPr>
          <p:nvPr/>
        </p:nvSpPr>
        <p:spPr>
          <a:xfrm>
            <a:off x="0" y="3356992"/>
            <a:ext cx="9144000" cy="915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굴림체" pitchFamily="49" charset="-127"/>
              <a:buNone/>
              <a:tabLst/>
              <a:defRPr/>
            </a:pPr>
            <a:r>
              <a:rPr lang="en-US" altLang="ko-KR" sz="5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맑은 고딕" pitchFamily="50" charset="-127"/>
                <a:cs typeface="+mj-cs"/>
              </a:rPr>
              <a:t>OXYGEN CALCULATION AND </a:t>
            </a: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굴림체" pitchFamily="49" charset="-127"/>
              <a:buNone/>
              <a:tabLst/>
              <a:defRPr/>
            </a:pPr>
            <a:r>
              <a:rPr kumimoji="0" lang="en-US" altLang="ko-KR" sz="50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ea typeface="맑은 고딕" pitchFamily="50" charset="-127"/>
                <a:cs typeface="+mj-cs"/>
              </a:rPr>
              <a:t>TRANSPORT</a:t>
            </a:r>
            <a:r>
              <a:rPr kumimoji="0" lang="en-US" altLang="ko-KR" sz="5000" b="1" i="0" u="none" strike="noStrike" kern="1200" cap="none" spc="0" normalizeH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ea typeface="맑은 고딕" pitchFamily="50" charset="-127"/>
                <a:cs typeface="+mj-cs"/>
              </a:rPr>
              <a:t> FORMS</a:t>
            </a:r>
            <a:endParaRPr kumimoji="0" lang="ko-KR" altLang="en-US" sz="5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+mj-lt"/>
              <a:ea typeface="맑은 고딕" pitchFamily="50" charset="-127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4283968" y="2442954"/>
            <a:ext cx="23042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srgbClr val="59CAEC"/>
                </a:solidFill>
                <a:latin typeface="+mj-lt"/>
                <a:ea typeface="맑은 고딕" pitchFamily="50" charset="-127"/>
              </a:rPr>
              <a:t>C</a:t>
            </a:r>
            <a:r>
              <a:rPr lang="en-US" altLang="ko-KR" sz="3000" b="1" dirty="0">
                <a:solidFill>
                  <a:schemeClr val="bg1"/>
                </a:solidFill>
                <a:latin typeface="+mj-lt"/>
                <a:ea typeface="맑은 고딕" pitchFamily="50" charset="-127"/>
              </a:rPr>
              <a:t>ON</a:t>
            </a:r>
            <a:r>
              <a:rPr lang="en-US" altLang="ko-KR" sz="3000" b="1" dirty="0">
                <a:solidFill>
                  <a:srgbClr val="59CAEC"/>
                </a:solidFill>
                <a:latin typeface="+mj-lt"/>
                <a:ea typeface="맑은 고딕" pitchFamily="50" charset="-127"/>
              </a:rPr>
              <a:t>T</a:t>
            </a:r>
            <a:r>
              <a:rPr lang="en-US" altLang="ko-KR" sz="3000" b="1" dirty="0">
                <a:solidFill>
                  <a:schemeClr val="bg1"/>
                </a:solidFill>
                <a:latin typeface="+mj-lt"/>
                <a:ea typeface="맑은 고딕" pitchFamily="50" charset="-127"/>
              </a:rPr>
              <a:t>ENT</a:t>
            </a:r>
            <a:r>
              <a:rPr lang="en-US" altLang="ko-KR" sz="3000" b="1" dirty="0">
                <a:solidFill>
                  <a:srgbClr val="59CAEC"/>
                </a:solidFill>
                <a:latin typeface="+mj-lt"/>
                <a:ea typeface="맑은 고딕" pitchFamily="50" charset="-127"/>
              </a:rPr>
              <a:t>S</a:t>
            </a:r>
            <a:endParaRPr lang="ko-KR" altLang="en-US" sz="3000" b="1" dirty="0">
              <a:solidFill>
                <a:srgbClr val="59CAEC"/>
              </a:solidFill>
              <a:latin typeface="+mj-lt"/>
              <a:ea typeface="맑은 고딕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467544" y="1698005"/>
            <a:ext cx="3852292" cy="650905"/>
            <a:chOff x="4860032" y="692696"/>
            <a:chExt cx="3852292" cy="650905"/>
          </a:xfrm>
        </p:grpSpPr>
        <p:grpSp>
          <p:nvGrpSpPr>
            <p:cNvPr id="29" name="그룹 65"/>
            <p:cNvGrpSpPr/>
            <p:nvPr/>
          </p:nvGrpSpPr>
          <p:grpSpPr>
            <a:xfrm>
              <a:off x="4860032" y="692696"/>
              <a:ext cx="3852292" cy="650905"/>
              <a:chOff x="1077516" y="904974"/>
              <a:chExt cx="3852292" cy="650905"/>
            </a:xfrm>
          </p:grpSpPr>
          <p:sp>
            <p:nvSpPr>
              <p:cNvPr id="34" name="Text Box 5"/>
              <p:cNvSpPr txBox="1">
                <a:spLocks noChangeArrowheads="1"/>
              </p:cNvSpPr>
              <p:nvPr/>
            </p:nvSpPr>
            <p:spPr bwMode="auto">
              <a:xfrm>
                <a:off x="1761158" y="904974"/>
                <a:ext cx="2952750" cy="3079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ko-KR" sz="1400" b="1" dirty="0">
                    <a:solidFill>
                      <a:srgbClr val="292929"/>
                    </a:solidFill>
                    <a:latin typeface="+mj-lt"/>
                    <a:ea typeface="맑은 고딕" pitchFamily="50" charset="-127"/>
                  </a:rPr>
                  <a:t>OXYGEN USE</a:t>
                </a:r>
              </a:p>
            </p:txBody>
          </p:sp>
          <p:sp>
            <p:nvSpPr>
              <p:cNvPr id="50" name="Text Box 11"/>
              <p:cNvSpPr txBox="1">
                <a:spLocks noChangeArrowheads="1"/>
              </p:cNvSpPr>
              <p:nvPr/>
            </p:nvSpPr>
            <p:spPr bwMode="auto">
              <a:xfrm>
                <a:off x="1761158" y="1155769"/>
                <a:ext cx="3168650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lnSpc>
                    <a:spcPts val="1200"/>
                  </a:lnSpc>
                  <a:defRPr/>
                </a:pPr>
                <a:r>
                  <a:rPr lang="en-US" altLang="ko-KR" sz="1100" dirty="0">
                    <a:solidFill>
                      <a:srgbClr val="292929"/>
                    </a:solidFill>
                    <a:latin typeface="+mj-lt"/>
                    <a:ea typeface="맑은 고딕" pitchFamily="50" charset="-127"/>
                    <a:cs typeface="굴림" pitchFamily="50" charset="-127"/>
                  </a:rPr>
                  <a:t>Oxygen therapy: Different O2 cylinders, Max. </a:t>
                </a:r>
                <a:r>
                  <a:rPr lang="en-US" altLang="ko-KR" sz="1100" dirty="0" err="1">
                    <a:solidFill>
                      <a:srgbClr val="292929"/>
                    </a:solidFill>
                    <a:latin typeface="+mj-lt"/>
                    <a:ea typeface="맑은 고딕" pitchFamily="50" charset="-127"/>
                    <a:cs typeface="굴림" pitchFamily="50" charset="-127"/>
                  </a:rPr>
                  <a:t>vol</a:t>
                </a:r>
                <a:r>
                  <a:rPr lang="en-US" altLang="ko-KR" sz="1100" dirty="0">
                    <a:solidFill>
                      <a:srgbClr val="292929"/>
                    </a:solidFill>
                    <a:latin typeface="+mj-lt"/>
                    <a:ea typeface="맑은 고딕" pitchFamily="50" charset="-127"/>
                    <a:cs typeface="굴림" pitchFamily="50" charset="-127"/>
                  </a:rPr>
                  <a:t>, max pressure, conversion factor</a:t>
                </a:r>
              </a:p>
            </p:txBody>
          </p:sp>
          <p:sp>
            <p:nvSpPr>
              <p:cNvPr id="51" name="TextBox 13"/>
              <p:cNvSpPr txBox="1">
                <a:spLocks noChangeArrowheads="1"/>
              </p:cNvSpPr>
              <p:nvPr/>
            </p:nvSpPr>
            <p:spPr bwMode="auto">
              <a:xfrm>
                <a:off x="1077516" y="912912"/>
                <a:ext cx="508473" cy="4770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ko-KR" sz="2500" b="1" dirty="0">
                    <a:solidFill>
                      <a:srgbClr val="485EA8"/>
                    </a:solidFill>
                    <a:latin typeface="+mj-lt"/>
                    <a:ea typeface="맑은 고딕" pitchFamily="50" charset="-127"/>
                  </a:rPr>
                  <a:t>01</a:t>
                </a:r>
                <a:endParaRPr lang="ko-KR" altLang="en-US" sz="2500" b="1" dirty="0">
                  <a:solidFill>
                    <a:srgbClr val="485EA8"/>
                  </a:solidFill>
                  <a:latin typeface="+mj-lt"/>
                  <a:ea typeface="맑은 고딕" pitchFamily="50" charset="-127"/>
                </a:endParaRPr>
              </a:p>
            </p:txBody>
          </p:sp>
        </p:grpSp>
        <p:cxnSp>
          <p:nvCxnSpPr>
            <p:cNvPr id="30" name="직선 연결선 2"/>
            <p:cNvCxnSpPr/>
            <p:nvPr/>
          </p:nvCxnSpPr>
          <p:spPr>
            <a:xfrm>
              <a:off x="5543674" y="820986"/>
              <a:ext cx="0" cy="501859"/>
            </a:xfrm>
            <a:prstGeom prst="line">
              <a:avLst/>
            </a:prstGeom>
            <a:ln w="38100">
              <a:solidFill>
                <a:srgbClr val="292929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그룹 51"/>
          <p:cNvGrpSpPr/>
          <p:nvPr/>
        </p:nvGrpSpPr>
        <p:grpSpPr>
          <a:xfrm>
            <a:off x="467544" y="2526097"/>
            <a:ext cx="3852292" cy="717076"/>
            <a:chOff x="1012131" y="1676033"/>
            <a:chExt cx="3852292" cy="717076"/>
          </a:xfrm>
        </p:grpSpPr>
        <p:grpSp>
          <p:nvGrpSpPr>
            <p:cNvPr id="53" name="그룹 66"/>
            <p:cNvGrpSpPr/>
            <p:nvPr/>
          </p:nvGrpSpPr>
          <p:grpSpPr>
            <a:xfrm>
              <a:off x="1012131" y="1676033"/>
              <a:ext cx="3852292" cy="717076"/>
              <a:chOff x="1077516" y="1824255"/>
              <a:chExt cx="3852292" cy="717076"/>
            </a:xfrm>
          </p:grpSpPr>
          <p:sp>
            <p:nvSpPr>
              <p:cNvPr id="55" name="Text Box 5"/>
              <p:cNvSpPr txBox="1">
                <a:spLocks noChangeArrowheads="1"/>
              </p:cNvSpPr>
              <p:nvPr/>
            </p:nvSpPr>
            <p:spPr bwMode="auto">
              <a:xfrm>
                <a:off x="1761158" y="1824255"/>
                <a:ext cx="2952750" cy="523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ko-KR" sz="1400" b="1" dirty="0">
                    <a:solidFill>
                      <a:srgbClr val="292929"/>
                    </a:solidFill>
                    <a:latin typeface="+mj-lt"/>
                    <a:ea typeface="맑은 고딕" pitchFamily="50" charset="-127"/>
                  </a:rPr>
                  <a:t>OXYGEN CALCULATION USING LOW-FLOW </a:t>
                </a:r>
              </a:p>
            </p:txBody>
          </p:sp>
          <p:sp>
            <p:nvSpPr>
              <p:cNvPr id="56" name="Text Box 11"/>
              <p:cNvSpPr txBox="1">
                <a:spLocks noChangeArrowheads="1"/>
              </p:cNvSpPr>
              <p:nvPr/>
            </p:nvSpPr>
            <p:spPr bwMode="auto">
              <a:xfrm>
                <a:off x="1761158" y="2295110"/>
                <a:ext cx="3168650" cy="246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lnSpc>
                    <a:spcPts val="1200"/>
                  </a:lnSpc>
                  <a:defRPr/>
                </a:pPr>
                <a:r>
                  <a:rPr lang="en-US" altLang="ko-KR" sz="1100" dirty="0">
                    <a:solidFill>
                      <a:srgbClr val="292929"/>
                    </a:solidFill>
                    <a:latin typeface="+mj-lt"/>
                    <a:ea typeface="맑은 고딕" pitchFamily="50" charset="-127"/>
                    <a:cs typeface="굴림" pitchFamily="50" charset="-127"/>
                  </a:rPr>
                  <a:t>Sample calculations</a:t>
                </a:r>
              </a:p>
            </p:txBody>
          </p:sp>
          <p:sp>
            <p:nvSpPr>
              <p:cNvPr id="57" name="TextBox 13"/>
              <p:cNvSpPr txBox="1">
                <a:spLocks noChangeArrowheads="1"/>
              </p:cNvSpPr>
              <p:nvPr/>
            </p:nvSpPr>
            <p:spPr bwMode="auto">
              <a:xfrm>
                <a:off x="1077516" y="1832193"/>
                <a:ext cx="508473" cy="4770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ko-KR" sz="2500" b="1" dirty="0">
                    <a:solidFill>
                      <a:srgbClr val="DA4351"/>
                    </a:solidFill>
                    <a:latin typeface="+mj-lt"/>
                    <a:ea typeface="맑은 고딕" pitchFamily="50" charset="-127"/>
                  </a:rPr>
                  <a:t>02</a:t>
                </a:r>
                <a:endParaRPr lang="ko-KR" altLang="en-US" sz="2500" b="1" dirty="0">
                  <a:solidFill>
                    <a:srgbClr val="DA4351"/>
                  </a:solidFill>
                  <a:latin typeface="+mj-lt"/>
                  <a:ea typeface="맑은 고딕" pitchFamily="50" charset="-127"/>
                </a:endParaRPr>
              </a:p>
            </p:txBody>
          </p:sp>
        </p:grpSp>
        <p:cxnSp>
          <p:nvCxnSpPr>
            <p:cNvPr id="54" name="직선 연결선 53"/>
            <p:cNvCxnSpPr/>
            <p:nvPr/>
          </p:nvCxnSpPr>
          <p:spPr>
            <a:xfrm>
              <a:off x="1695773" y="1786825"/>
              <a:ext cx="0" cy="501859"/>
            </a:xfrm>
            <a:prstGeom prst="line">
              <a:avLst/>
            </a:prstGeom>
            <a:ln w="38100">
              <a:solidFill>
                <a:srgbClr val="292929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그룹 57"/>
          <p:cNvGrpSpPr/>
          <p:nvPr/>
        </p:nvGrpSpPr>
        <p:grpSpPr>
          <a:xfrm>
            <a:off x="467544" y="3354189"/>
            <a:ext cx="3852292" cy="722883"/>
            <a:chOff x="1012131" y="2607931"/>
            <a:chExt cx="3852292" cy="722883"/>
          </a:xfrm>
        </p:grpSpPr>
        <p:grpSp>
          <p:nvGrpSpPr>
            <p:cNvPr id="59" name="그룹 67"/>
            <p:cNvGrpSpPr/>
            <p:nvPr/>
          </p:nvGrpSpPr>
          <p:grpSpPr>
            <a:xfrm>
              <a:off x="1012131" y="2607931"/>
              <a:ext cx="3852292" cy="722883"/>
              <a:chOff x="1077516" y="2688351"/>
              <a:chExt cx="3852292" cy="722883"/>
            </a:xfrm>
          </p:grpSpPr>
          <p:sp>
            <p:nvSpPr>
              <p:cNvPr id="61" name="Text Box 5"/>
              <p:cNvSpPr txBox="1">
                <a:spLocks noChangeArrowheads="1"/>
              </p:cNvSpPr>
              <p:nvPr/>
            </p:nvSpPr>
            <p:spPr bwMode="auto">
              <a:xfrm>
                <a:off x="1761158" y="2688351"/>
                <a:ext cx="2952750" cy="523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ko-KR" sz="1400" b="1" dirty="0">
                    <a:solidFill>
                      <a:srgbClr val="292929"/>
                    </a:solidFill>
                    <a:latin typeface="+mj-lt"/>
                    <a:ea typeface="맑은 고딕" pitchFamily="50" charset="-127"/>
                  </a:rPr>
                  <a:t>OXYGEN CALCULATION USING HIGH-FLOW</a:t>
                </a:r>
              </a:p>
            </p:txBody>
          </p:sp>
          <p:sp>
            <p:nvSpPr>
              <p:cNvPr id="62" name="Text Box 11"/>
              <p:cNvSpPr txBox="1">
                <a:spLocks noChangeArrowheads="1"/>
              </p:cNvSpPr>
              <p:nvPr/>
            </p:nvSpPr>
            <p:spPr bwMode="auto">
              <a:xfrm>
                <a:off x="1761158" y="3165013"/>
                <a:ext cx="3168650" cy="246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lnSpc>
                    <a:spcPts val="1200"/>
                  </a:lnSpc>
                  <a:defRPr/>
                </a:pPr>
                <a:r>
                  <a:rPr lang="en-US" altLang="ko-KR" sz="1100" dirty="0">
                    <a:solidFill>
                      <a:srgbClr val="292929"/>
                    </a:solidFill>
                    <a:latin typeface="+mj-lt"/>
                    <a:ea typeface="맑은 고딕" pitchFamily="50" charset="-127"/>
                    <a:cs typeface="굴림" pitchFamily="50" charset="-127"/>
                  </a:rPr>
                  <a:t>Sample calculations</a:t>
                </a:r>
              </a:p>
            </p:txBody>
          </p:sp>
          <p:sp>
            <p:nvSpPr>
              <p:cNvPr id="63" name="TextBox 13"/>
              <p:cNvSpPr txBox="1">
                <a:spLocks noChangeArrowheads="1"/>
              </p:cNvSpPr>
              <p:nvPr/>
            </p:nvSpPr>
            <p:spPr bwMode="auto">
              <a:xfrm>
                <a:off x="1077516" y="2696289"/>
                <a:ext cx="508473" cy="4770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ko-KR" sz="2500" b="1" dirty="0">
                    <a:solidFill>
                      <a:srgbClr val="485EA8"/>
                    </a:solidFill>
                    <a:latin typeface="+mj-lt"/>
                    <a:ea typeface="맑은 고딕" pitchFamily="50" charset="-127"/>
                  </a:rPr>
                  <a:t>03</a:t>
                </a:r>
                <a:endParaRPr lang="ko-KR" altLang="en-US" sz="2500" b="1" dirty="0">
                  <a:solidFill>
                    <a:srgbClr val="485EA8"/>
                  </a:solidFill>
                  <a:latin typeface="+mj-lt"/>
                  <a:ea typeface="맑은 고딕" pitchFamily="50" charset="-127"/>
                </a:endParaRPr>
              </a:p>
            </p:txBody>
          </p:sp>
        </p:grpSp>
        <p:cxnSp>
          <p:nvCxnSpPr>
            <p:cNvPr id="60" name="직선 연결선 59"/>
            <p:cNvCxnSpPr/>
            <p:nvPr/>
          </p:nvCxnSpPr>
          <p:spPr>
            <a:xfrm>
              <a:off x="1695773" y="2681271"/>
              <a:ext cx="0" cy="501859"/>
            </a:xfrm>
            <a:prstGeom prst="line">
              <a:avLst/>
            </a:prstGeom>
            <a:ln w="38100">
              <a:solidFill>
                <a:srgbClr val="292929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그룹 63"/>
          <p:cNvGrpSpPr/>
          <p:nvPr/>
        </p:nvGrpSpPr>
        <p:grpSpPr>
          <a:xfrm>
            <a:off x="467544" y="4182281"/>
            <a:ext cx="3852292" cy="902903"/>
            <a:chOff x="1012131" y="3539829"/>
            <a:chExt cx="3852292" cy="902903"/>
          </a:xfrm>
        </p:grpSpPr>
        <p:grpSp>
          <p:nvGrpSpPr>
            <p:cNvPr id="65" name="그룹 68"/>
            <p:cNvGrpSpPr/>
            <p:nvPr/>
          </p:nvGrpSpPr>
          <p:grpSpPr>
            <a:xfrm>
              <a:off x="1012131" y="3539829"/>
              <a:ext cx="3852292" cy="902903"/>
              <a:chOff x="1077516" y="3624455"/>
              <a:chExt cx="3852292" cy="902903"/>
            </a:xfrm>
          </p:grpSpPr>
          <p:sp>
            <p:nvSpPr>
              <p:cNvPr id="67" name="Text Box 5"/>
              <p:cNvSpPr txBox="1">
                <a:spLocks noChangeArrowheads="1"/>
              </p:cNvSpPr>
              <p:nvPr/>
            </p:nvSpPr>
            <p:spPr bwMode="auto">
              <a:xfrm>
                <a:off x="1761158" y="3624455"/>
                <a:ext cx="2952750" cy="523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ko-KR" sz="1400" b="1" dirty="0">
                    <a:solidFill>
                      <a:srgbClr val="292929"/>
                    </a:solidFill>
                    <a:latin typeface="+mj-lt"/>
                    <a:ea typeface="맑은 고딕" pitchFamily="50" charset="-127"/>
                  </a:rPr>
                  <a:t>ORIENTATION TO THE DIFFERENT TRANSPORT FORMS</a:t>
                </a:r>
              </a:p>
            </p:txBody>
          </p:sp>
          <p:sp>
            <p:nvSpPr>
              <p:cNvPr id="68" name="Text Box 11"/>
              <p:cNvSpPr txBox="1">
                <a:spLocks noChangeArrowheads="1"/>
              </p:cNvSpPr>
              <p:nvPr/>
            </p:nvSpPr>
            <p:spPr bwMode="auto">
              <a:xfrm>
                <a:off x="1761158" y="4127248"/>
                <a:ext cx="3168650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lnSpc>
                    <a:spcPts val="1200"/>
                  </a:lnSpc>
                  <a:defRPr/>
                </a:pPr>
                <a:r>
                  <a:rPr lang="en-US" altLang="ko-KR" sz="1100" dirty="0">
                    <a:solidFill>
                      <a:srgbClr val="292929"/>
                    </a:solidFill>
                    <a:latin typeface="+mj-lt"/>
                    <a:ea typeface="맑은 고딕" pitchFamily="50" charset="-127"/>
                    <a:cs typeface="굴림" pitchFamily="50" charset="-127"/>
                  </a:rPr>
                  <a:t>Ambulance checklist, Equipment Checklist,  Patient Transfer Form</a:t>
                </a:r>
              </a:p>
            </p:txBody>
          </p:sp>
          <p:sp>
            <p:nvSpPr>
              <p:cNvPr id="69" name="TextBox 13"/>
              <p:cNvSpPr txBox="1">
                <a:spLocks noChangeArrowheads="1"/>
              </p:cNvSpPr>
              <p:nvPr/>
            </p:nvSpPr>
            <p:spPr bwMode="auto">
              <a:xfrm>
                <a:off x="1077516" y="3632393"/>
                <a:ext cx="508473" cy="4770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ko-KR" sz="2500" b="1" dirty="0">
                    <a:solidFill>
                      <a:srgbClr val="DA4351"/>
                    </a:solidFill>
                    <a:latin typeface="+mj-lt"/>
                    <a:ea typeface="맑은 고딕" pitchFamily="50" charset="-127"/>
                  </a:rPr>
                  <a:t>04</a:t>
                </a:r>
                <a:endParaRPr lang="ko-KR" altLang="en-US" sz="2500" b="1" dirty="0">
                  <a:solidFill>
                    <a:srgbClr val="DA4351"/>
                  </a:solidFill>
                  <a:latin typeface="+mj-lt"/>
                  <a:ea typeface="맑은 고딕" pitchFamily="50" charset="-127"/>
                </a:endParaRPr>
              </a:p>
            </p:txBody>
          </p:sp>
        </p:grpSp>
        <p:cxnSp>
          <p:nvCxnSpPr>
            <p:cNvPr id="66" name="직선 연결선 65"/>
            <p:cNvCxnSpPr/>
            <p:nvPr/>
          </p:nvCxnSpPr>
          <p:spPr>
            <a:xfrm>
              <a:off x="1695773" y="3628039"/>
              <a:ext cx="0" cy="501859"/>
            </a:xfrm>
            <a:prstGeom prst="line">
              <a:avLst/>
            </a:prstGeom>
            <a:ln w="38100">
              <a:solidFill>
                <a:srgbClr val="292929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그룹 8"/>
          <p:cNvGrpSpPr/>
          <p:nvPr/>
        </p:nvGrpSpPr>
        <p:grpSpPr>
          <a:xfrm>
            <a:off x="467544" y="5010373"/>
            <a:ext cx="3852292" cy="650875"/>
            <a:chOff x="1012131" y="4471728"/>
            <a:chExt cx="3852292" cy="650875"/>
          </a:xfrm>
        </p:grpSpPr>
        <p:grpSp>
          <p:nvGrpSpPr>
            <p:cNvPr id="73" name="그룹 69"/>
            <p:cNvGrpSpPr/>
            <p:nvPr/>
          </p:nvGrpSpPr>
          <p:grpSpPr>
            <a:xfrm>
              <a:off x="1012131" y="4471728"/>
              <a:ext cx="3852292" cy="650875"/>
              <a:chOff x="1077516" y="4632567"/>
              <a:chExt cx="3852292" cy="650875"/>
            </a:xfrm>
          </p:grpSpPr>
          <p:sp>
            <p:nvSpPr>
              <p:cNvPr id="75" name="Text Box 5"/>
              <p:cNvSpPr txBox="1">
                <a:spLocks noChangeArrowheads="1"/>
              </p:cNvSpPr>
              <p:nvPr/>
            </p:nvSpPr>
            <p:spPr bwMode="auto">
              <a:xfrm>
                <a:off x="1761158" y="4632567"/>
                <a:ext cx="2952750" cy="3079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ko-KR" sz="1400" b="1" dirty="0">
                    <a:solidFill>
                      <a:srgbClr val="292929"/>
                    </a:solidFill>
                    <a:latin typeface="+mj-lt"/>
                    <a:ea typeface="맑은 고딕" pitchFamily="50" charset="-127"/>
                  </a:rPr>
                  <a:t>Insert text here</a:t>
                </a:r>
              </a:p>
            </p:txBody>
          </p:sp>
          <p:sp>
            <p:nvSpPr>
              <p:cNvPr id="76" name="Text Box 11"/>
              <p:cNvSpPr txBox="1">
                <a:spLocks noChangeArrowheads="1"/>
              </p:cNvSpPr>
              <p:nvPr/>
            </p:nvSpPr>
            <p:spPr bwMode="auto">
              <a:xfrm>
                <a:off x="1761158" y="4883392"/>
                <a:ext cx="3168650" cy="4000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lnSpc>
                    <a:spcPts val="1200"/>
                  </a:lnSpc>
                  <a:defRPr/>
                </a:pPr>
                <a:r>
                  <a:rPr lang="en-US" altLang="ko-KR" sz="1100" dirty="0">
                    <a:solidFill>
                      <a:srgbClr val="292929"/>
                    </a:solidFill>
                    <a:latin typeface="+mj-lt"/>
                    <a:ea typeface="맑은 고딕" pitchFamily="50" charset="-127"/>
                    <a:cs typeface="굴림" pitchFamily="50" charset="-127"/>
                  </a:rPr>
                  <a:t>Lorem ipsum dolor sit </a:t>
                </a:r>
                <a:r>
                  <a:rPr lang="en-US" altLang="ko-KR" sz="1100" dirty="0" err="1">
                    <a:solidFill>
                      <a:srgbClr val="292929"/>
                    </a:solidFill>
                    <a:latin typeface="+mj-lt"/>
                    <a:ea typeface="맑은 고딕" pitchFamily="50" charset="-127"/>
                    <a:cs typeface="굴림" pitchFamily="50" charset="-127"/>
                  </a:rPr>
                  <a:t>amet</a:t>
                </a:r>
                <a:r>
                  <a:rPr lang="en-US" altLang="ko-KR" sz="1100" dirty="0">
                    <a:solidFill>
                      <a:srgbClr val="292929"/>
                    </a:solidFill>
                    <a:latin typeface="+mj-lt"/>
                    <a:ea typeface="맑은 고딕" pitchFamily="50" charset="-127"/>
                    <a:cs typeface="굴림" pitchFamily="50" charset="-127"/>
                  </a:rPr>
                  <a:t>, </a:t>
                </a:r>
                <a:r>
                  <a:rPr lang="en-US" altLang="ko-KR" sz="1100" dirty="0" err="1">
                    <a:solidFill>
                      <a:srgbClr val="292929"/>
                    </a:solidFill>
                    <a:latin typeface="+mj-lt"/>
                    <a:ea typeface="맑은 고딕" pitchFamily="50" charset="-127"/>
                    <a:cs typeface="굴림" pitchFamily="50" charset="-127"/>
                  </a:rPr>
                  <a:t>simul</a:t>
                </a:r>
                <a:r>
                  <a:rPr lang="en-US" altLang="ko-KR" sz="1100" dirty="0">
                    <a:solidFill>
                      <a:srgbClr val="292929"/>
                    </a:solidFill>
                    <a:latin typeface="+mj-lt"/>
                    <a:ea typeface="맑은 고딕" pitchFamily="50" charset="-127"/>
                    <a:cs typeface="굴림" pitchFamily="50" charset="-127"/>
                  </a:rPr>
                  <a:t> </a:t>
                </a:r>
                <a:r>
                  <a:rPr lang="en-US" altLang="ko-KR" sz="1100" dirty="0" err="1">
                    <a:solidFill>
                      <a:srgbClr val="292929"/>
                    </a:solidFill>
                    <a:latin typeface="+mj-lt"/>
                    <a:ea typeface="맑은 고딕" pitchFamily="50" charset="-127"/>
                    <a:cs typeface="굴림" pitchFamily="50" charset="-127"/>
                  </a:rPr>
                  <a:t>adolescens</a:t>
                </a:r>
                <a:r>
                  <a:rPr lang="en-US" altLang="ko-KR" sz="1100" dirty="0">
                    <a:solidFill>
                      <a:srgbClr val="292929"/>
                    </a:solidFill>
                    <a:latin typeface="+mj-lt"/>
                    <a:ea typeface="맑은 고딕" pitchFamily="50" charset="-127"/>
                    <a:cs typeface="굴림" pitchFamily="50" charset="-127"/>
                  </a:rPr>
                  <a:t> </a:t>
                </a:r>
                <a:r>
                  <a:rPr lang="en-US" altLang="ko-KR" sz="1100" dirty="0" err="1">
                    <a:solidFill>
                      <a:srgbClr val="292929"/>
                    </a:solidFill>
                    <a:latin typeface="+mj-lt"/>
                    <a:ea typeface="맑은 고딕" pitchFamily="50" charset="-127"/>
                    <a:cs typeface="굴림" pitchFamily="50" charset="-127"/>
                  </a:rPr>
                  <a:t>ei</a:t>
                </a:r>
                <a:r>
                  <a:rPr lang="en-US" altLang="ko-KR" sz="1100" dirty="0">
                    <a:solidFill>
                      <a:srgbClr val="292929"/>
                    </a:solidFill>
                    <a:latin typeface="+mj-lt"/>
                    <a:ea typeface="맑은 고딕" pitchFamily="50" charset="-127"/>
                    <a:cs typeface="굴림" pitchFamily="50" charset="-127"/>
                  </a:rPr>
                  <a:t> vis, id </a:t>
                </a:r>
                <a:r>
                  <a:rPr lang="en-US" altLang="ko-KR" sz="1100" dirty="0" err="1">
                    <a:solidFill>
                      <a:srgbClr val="292929"/>
                    </a:solidFill>
                    <a:latin typeface="+mj-lt"/>
                    <a:ea typeface="맑은 고딕" pitchFamily="50" charset="-127"/>
                    <a:cs typeface="굴림" pitchFamily="50" charset="-127"/>
                  </a:rPr>
                  <a:t>nec</a:t>
                </a:r>
                <a:r>
                  <a:rPr lang="en-US" altLang="ko-KR" sz="1100" dirty="0">
                    <a:solidFill>
                      <a:srgbClr val="292929"/>
                    </a:solidFill>
                    <a:latin typeface="+mj-lt"/>
                    <a:ea typeface="맑은 고딕" pitchFamily="50" charset="-127"/>
                    <a:cs typeface="굴림" pitchFamily="50" charset="-127"/>
                  </a:rPr>
                  <a:t> </a:t>
                </a:r>
                <a:r>
                  <a:rPr lang="en-US" altLang="ko-KR" sz="1100" dirty="0" err="1">
                    <a:solidFill>
                      <a:srgbClr val="292929"/>
                    </a:solidFill>
                    <a:latin typeface="+mj-lt"/>
                    <a:ea typeface="맑은 고딕" pitchFamily="50" charset="-127"/>
                    <a:cs typeface="굴림" pitchFamily="50" charset="-127"/>
                  </a:rPr>
                  <a:t>errem</a:t>
                </a:r>
                <a:r>
                  <a:rPr lang="en-US" altLang="ko-KR" sz="1100" dirty="0">
                    <a:solidFill>
                      <a:srgbClr val="292929"/>
                    </a:solidFill>
                    <a:latin typeface="+mj-lt"/>
                    <a:ea typeface="맑은 고딕" pitchFamily="50" charset="-127"/>
                    <a:cs typeface="굴림" pitchFamily="50" charset="-127"/>
                  </a:rPr>
                  <a:t> </a:t>
                </a:r>
                <a:r>
                  <a:rPr lang="en-US" altLang="ko-KR" sz="1100" dirty="0" err="1">
                    <a:solidFill>
                      <a:srgbClr val="292929"/>
                    </a:solidFill>
                    <a:latin typeface="+mj-lt"/>
                    <a:ea typeface="맑은 고딕" pitchFamily="50" charset="-127"/>
                    <a:cs typeface="굴림" pitchFamily="50" charset="-127"/>
                  </a:rPr>
                  <a:t>interesset</a:t>
                </a:r>
                <a:endParaRPr lang="en-US" altLang="ko-KR" sz="1100" dirty="0">
                  <a:solidFill>
                    <a:srgbClr val="292929"/>
                  </a:solidFill>
                  <a:latin typeface="+mj-lt"/>
                  <a:ea typeface="맑은 고딕" pitchFamily="50" charset="-127"/>
                  <a:cs typeface="굴림" pitchFamily="50" charset="-127"/>
                </a:endParaRPr>
              </a:p>
            </p:txBody>
          </p:sp>
          <p:sp>
            <p:nvSpPr>
              <p:cNvPr id="77" name="TextBox 13"/>
              <p:cNvSpPr txBox="1">
                <a:spLocks noChangeArrowheads="1"/>
              </p:cNvSpPr>
              <p:nvPr/>
            </p:nvSpPr>
            <p:spPr bwMode="auto">
              <a:xfrm>
                <a:off x="1077516" y="4640505"/>
                <a:ext cx="508473" cy="4770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ko-KR" sz="2500" b="1" dirty="0">
                    <a:solidFill>
                      <a:srgbClr val="485EA8"/>
                    </a:solidFill>
                    <a:latin typeface="+mj-lt"/>
                    <a:ea typeface="맑은 고딕" pitchFamily="50" charset="-127"/>
                  </a:rPr>
                  <a:t>05</a:t>
                </a:r>
                <a:endParaRPr lang="ko-KR" altLang="en-US" sz="2500" b="1" dirty="0">
                  <a:solidFill>
                    <a:srgbClr val="485EA8"/>
                  </a:solidFill>
                  <a:latin typeface="+mj-lt"/>
                  <a:ea typeface="맑은 고딕" pitchFamily="50" charset="-127"/>
                </a:endParaRPr>
              </a:p>
            </p:txBody>
          </p:sp>
        </p:grpSp>
        <p:cxnSp>
          <p:nvCxnSpPr>
            <p:cNvPr id="74" name="직선 연결선 73"/>
            <p:cNvCxnSpPr/>
            <p:nvPr/>
          </p:nvCxnSpPr>
          <p:spPr>
            <a:xfrm>
              <a:off x="1695773" y="4550532"/>
              <a:ext cx="0" cy="501859"/>
            </a:xfrm>
            <a:prstGeom prst="line">
              <a:avLst/>
            </a:prstGeom>
            <a:ln w="38100">
              <a:solidFill>
                <a:srgbClr val="292929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Box 4"/>
          <p:cNvSpPr txBox="1">
            <a:spLocks noChangeArrowheads="1"/>
          </p:cNvSpPr>
          <p:nvPr/>
        </p:nvSpPr>
        <p:spPr bwMode="auto">
          <a:xfrm>
            <a:off x="3491880" y="3645024"/>
            <a:ext cx="5256584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3200" b="1" dirty="0">
                <a:solidFill>
                  <a:srgbClr val="59CAEC"/>
                </a:solidFill>
                <a:latin typeface="+mj-lt"/>
                <a:ea typeface="맑은 고딕" pitchFamily="50" charset="-127"/>
                <a:cs typeface="굴림" pitchFamily="50" charset="-127"/>
              </a:rPr>
              <a:t> Oxygen Therapy During Transport: How to Calculate Oxygen Needs</a:t>
            </a:r>
            <a:endParaRPr kumimoji="1" lang="ko-KR" altLang="ko-KR" sz="3200" b="1" dirty="0">
              <a:solidFill>
                <a:srgbClr val="59CAEC"/>
              </a:solidFill>
              <a:latin typeface="+mj-lt"/>
              <a:ea typeface="맑은 고딕" pitchFamily="50" charset="-127"/>
              <a:cs typeface="굴림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Commonly used oxygen cylinders</a:t>
            </a:r>
            <a:endParaRPr lang="ko-KR" altLang="en-US" dirty="0"/>
          </a:p>
        </p:txBody>
      </p:sp>
      <p:pic>
        <p:nvPicPr>
          <p:cNvPr id="4" name="Content Placeholder 3" descr="O2-Tanks-300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67544" y="1150011"/>
            <a:ext cx="3528392" cy="1918949"/>
          </a:xfrm>
        </p:spPr>
      </p:pic>
      <p:sp>
        <p:nvSpPr>
          <p:cNvPr id="5" name="TextBox 4"/>
          <p:cNvSpPr txBox="1"/>
          <p:nvPr/>
        </p:nvSpPr>
        <p:spPr>
          <a:xfrm>
            <a:off x="4283968" y="1702549"/>
            <a:ext cx="4320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j-lt"/>
              </a:rPr>
              <a:t>The most commonly used oxygen cylinders in the Royal Hospital are D and E. </a:t>
            </a:r>
          </a:p>
        </p:txBody>
      </p:sp>
      <p:pic>
        <p:nvPicPr>
          <p:cNvPr id="6" name="Picture 5" descr="oxygen regulator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7544" y="3284984"/>
            <a:ext cx="2592288" cy="210502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75856" y="3320988"/>
          <a:ext cx="5688632" cy="2052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21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21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407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Size</a:t>
                      </a:r>
                      <a:r>
                        <a:rPr lang="en-US" baseline="0" dirty="0"/>
                        <a:t> of </a:t>
                      </a:r>
                    </a:p>
                    <a:p>
                      <a:pPr algn="ctr"/>
                      <a:r>
                        <a:rPr lang="en-US" baseline="0" dirty="0"/>
                        <a:t>Cylinder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Maximum </a:t>
                      </a:r>
                    </a:p>
                    <a:p>
                      <a:pPr algn="ctr"/>
                      <a:r>
                        <a:rPr lang="en-US" dirty="0"/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Maximum </a:t>
                      </a:r>
                    </a:p>
                    <a:p>
                      <a:pPr algn="ctr"/>
                      <a:r>
                        <a:rPr lang="en-US" dirty="0"/>
                        <a:t>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Conversion </a:t>
                      </a:r>
                    </a:p>
                    <a:p>
                      <a:pPr algn="ctr"/>
                      <a:r>
                        <a:rPr lang="en-US" dirty="0"/>
                        <a:t>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07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+mj-lt"/>
                        </a:rPr>
                        <a:t>0.16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07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+mj-lt"/>
                        </a:rPr>
                        <a:t>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79512" y="5661248"/>
            <a:ext cx="8820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</a:rPr>
              <a:t>Conversion factor is calculated by dividing the maximum volume by the maximum pressure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Cylinder Duration Chart in Minutes</a:t>
            </a:r>
          </a:p>
        </p:txBody>
      </p:sp>
      <p:pic>
        <p:nvPicPr>
          <p:cNvPr id="4" name="Content Placeholder 3" descr="oxygen duration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75647" y="1513448"/>
            <a:ext cx="7005406" cy="4096216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Oxygen Cylinder Duration Calculation: LOW FLOW </a:t>
            </a:r>
            <a:endParaRPr lang="ko-KR" alt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1800" dirty="0"/>
          </a:p>
          <a:p>
            <a:r>
              <a:rPr lang="en-US" sz="1800" dirty="0"/>
              <a:t>	Low flow oxygen source: </a:t>
            </a:r>
          </a:p>
          <a:p>
            <a:endParaRPr lang="en-US" sz="1800" dirty="0"/>
          </a:p>
          <a:p>
            <a:pPr>
              <a:spcBef>
                <a:spcPts val="0"/>
              </a:spcBef>
            </a:pPr>
            <a:endParaRPr lang="en-US" sz="1800" dirty="0"/>
          </a:p>
          <a:p>
            <a:pPr>
              <a:lnSpc>
                <a:spcPts val="500"/>
              </a:lnSpc>
              <a:spcBef>
                <a:spcPts val="0"/>
              </a:spcBef>
            </a:pPr>
            <a:r>
              <a:rPr lang="en-US" sz="1800" dirty="0"/>
              <a:t>				</a:t>
            </a:r>
            <a:r>
              <a:rPr lang="en-US" dirty="0"/>
              <a:t>cylinder pressure (psi) x cylinder factor </a:t>
            </a:r>
          </a:p>
          <a:p>
            <a:pPr>
              <a:spcBef>
                <a:spcPts val="0"/>
              </a:spcBef>
            </a:pPr>
            <a:r>
              <a:rPr lang="en-US" dirty="0"/>
              <a:t>Duration of flow (minute) = </a:t>
            </a:r>
          </a:p>
          <a:p>
            <a:pPr>
              <a:spcBef>
                <a:spcPts val="0"/>
              </a:spcBef>
            </a:pPr>
            <a:r>
              <a:rPr lang="en-US" dirty="0"/>
              <a:t>				      oxygen flow (Liters/min)</a:t>
            </a:r>
          </a:p>
          <a:p>
            <a:pPr>
              <a:spcBef>
                <a:spcPts val="0"/>
              </a:spcBef>
            </a:pPr>
            <a:endParaRPr lang="en-US" dirty="0"/>
          </a:p>
          <a:p>
            <a:pPr>
              <a:spcBef>
                <a:spcPts val="0"/>
              </a:spcBef>
            </a:pPr>
            <a:r>
              <a:rPr lang="en-US" dirty="0"/>
              <a:t>Example: a 1 year old child on nasal prongs at 2L/min </a:t>
            </a:r>
          </a:p>
          <a:p>
            <a:pPr>
              <a:spcBef>
                <a:spcPts val="0"/>
              </a:spcBef>
            </a:pPr>
            <a:endParaRPr lang="en-US" dirty="0"/>
          </a:p>
          <a:p>
            <a:pPr>
              <a:spcBef>
                <a:spcPts val="0"/>
              </a:spcBef>
            </a:pPr>
            <a:endParaRPr lang="en-US" dirty="0"/>
          </a:p>
          <a:p>
            <a:pPr>
              <a:spcBef>
                <a:spcPts val="0"/>
              </a:spcBef>
            </a:pPr>
            <a:endParaRPr lang="en-US" dirty="0"/>
          </a:p>
          <a:p>
            <a:pPr>
              <a:spcBef>
                <a:spcPts val="0"/>
              </a:spcBef>
            </a:pPr>
            <a:r>
              <a:rPr lang="en-US" dirty="0"/>
              <a:t>					2000 psi x 0.28           280min (to convert to hours)</a:t>
            </a:r>
          </a:p>
          <a:p>
            <a:pPr>
              <a:spcBef>
                <a:spcPts val="0"/>
              </a:spcBef>
            </a:pPr>
            <a:r>
              <a:rPr lang="en-US" dirty="0"/>
              <a:t>					      2L/min</a:t>
            </a:r>
          </a:p>
          <a:p>
            <a:pPr>
              <a:spcBef>
                <a:spcPts val="0"/>
              </a:spcBef>
            </a:pPr>
            <a:r>
              <a:rPr lang="en-US" dirty="0"/>
              <a:t>					</a:t>
            </a:r>
          </a:p>
          <a:p>
            <a:pPr>
              <a:spcBef>
                <a:spcPts val="0"/>
              </a:spcBef>
            </a:pPr>
            <a:r>
              <a:rPr lang="en-US" dirty="0"/>
              <a:t>						 280min/ 60minutes = 4.6 hours </a:t>
            </a:r>
          </a:p>
          <a:p>
            <a:pPr>
              <a:spcBef>
                <a:spcPts val="0"/>
              </a:spcBef>
            </a:pP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3563888" y="1124744"/>
            <a:ext cx="2520280" cy="72008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 Cylinder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Conversion factor: </a:t>
            </a:r>
            <a:r>
              <a:rPr lang="en-US" b="1" dirty="0">
                <a:solidFill>
                  <a:schemeClr val="tx1"/>
                </a:solidFill>
              </a:rPr>
              <a:t>0.28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2843808" y="2564904"/>
            <a:ext cx="38884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Content Placeholder 3" descr="oxygen low flow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1560" y="4259887"/>
            <a:ext cx="2448272" cy="1905417"/>
          </a:xfrm>
          <a:prstGeom prst="rect">
            <a:avLst/>
          </a:prstGeom>
        </p:spPr>
      </p:pic>
      <p:sp>
        <p:nvSpPr>
          <p:cNvPr id="14" name="Bent Arrow 13"/>
          <p:cNvSpPr/>
          <p:nvPr/>
        </p:nvSpPr>
        <p:spPr>
          <a:xfrm>
            <a:off x="2051720" y="4077072"/>
            <a:ext cx="1872208" cy="36004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3995936" y="4365104"/>
            <a:ext cx="13681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508104" y="4293096"/>
            <a:ext cx="720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5508104" y="4365104"/>
            <a:ext cx="720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Calculate Oxygen During Transfer?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83733"/>
            <a:ext cx="9036496" cy="5513619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First Step: </a:t>
            </a:r>
            <a:r>
              <a:rPr lang="en-US" dirty="0"/>
              <a:t>Calculate patient’s oxygen consumption</a:t>
            </a:r>
          </a:p>
          <a:p>
            <a:r>
              <a:rPr lang="en-US" dirty="0"/>
              <a:t>	</a:t>
            </a:r>
            <a:r>
              <a:rPr lang="en-US" b="1" u="sng" dirty="0"/>
              <a:t>&gt; Spontaneously breathing patient on oxygen:</a:t>
            </a:r>
          </a:p>
          <a:p>
            <a:pPr>
              <a:lnSpc>
                <a:spcPts val="1500"/>
              </a:lnSpc>
            </a:pPr>
            <a:r>
              <a:rPr lang="en-US" dirty="0"/>
              <a:t>	    1. Check flow rate </a:t>
            </a:r>
            <a:r>
              <a:rPr lang="en-US" b="1" dirty="0" err="1"/>
              <a:t>e.g</a:t>
            </a:r>
            <a:r>
              <a:rPr lang="en-US" b="1" dirty="0"/>
              <a:t> 2L/min</a:t>
            </a:r>
          </a:p>
          <a:p>
            <a:pPr>
              <a:lnSpc>
                <a:spcPts val="1500"/>
              </a:lnSpc>
            </a:pPr>
            <a:r>
              <a:rPr lang="en-US" dirty="0"/>
              <a:t>	    2. Check total journey including moving from the ward to ambulance, loading time, travel, unloading</a:t>
            </a:r>
          </a:p>
          <a:p>
            <a:pPr>
              <a:lnSpc>
                <a:spcPts val="1500"/>
              </a:lnSpc>
            </a:pPr>
            <a:r>
              <a:rPr lang="en-US" dirty="0"/>
              <a:t>	         and moving from ambulance to the ward </a:t>
            </a:r>
            <a:r>
              <a:rPr lang="en-US" b="1" dirty="0" err="1"/>
              <a:t>e.g</a:t>
            </a:r>
            <a:r>
              <a:rPr lang="en-US" b="1" dirty="0"/>
              <a:t> 60 minutes</a:t>
            </a:r>
          </a:p>
          <a:p>
            <a:pPr>
              <a:lnSpc>
                <a:spcPts val="1500"/>
              </a:lnSpc>
            </a:pPr>
            <a:r>
              <a:rPr lang="en-US" dirty="0"/>
              <a:t>	   3. Calculate oxygen consumption. Multiply oxygen flow rate into total duration of journey in minutes</a:t>
            </a:r>
          </a:p>
          <a:p>
            <a:pPr>
              <a:lnSpc>
                <a:spcPts val="1500"/>
              </a:lnSpc>
            </a:pPr>
            <a:r>
              <a:rPr lang="en-US" dirty="0"/>
              <a:t>	         </a:t>
            </a:r>
            <a:r>
              <a:rPr lang="en-US" b="1" dirty="0" err="1"/>
              <a:t>e.g</a:t>
            </a:r>
            <a:r>
              <a:rPr lang="en-US" b="1" dirty="0"/>
              <a:t>  2L/min x 60 minutes = 120 minutes</a:t>
            </a:r>
          </a:p>
          <a:p>
            <a:pPr>
              <a:lnSpc>
                <a:spcPts val="1500"/>
              </a:lnSpc>
            </a:pPr>
            <a:r>
              <a:rPr lang="en-US" dirty="0"/>
              <a:t>	   4. </a:t>
            </a:r>
            <a:r>
              <a:rPr lang="en-US" b="1" dirty="0"/>
              <a:t>DOUBLE </a:t>
            </a:r>
            <a:r>
              <a:rPr lang="en-US" dirty="0"/>
              <a:t>total oxygen consumption. </a:t>
            </a:r>
            <a:r>
              <a:rPr lang="en-US" b="1" dirty="0" err="1"/>
              <a:t>e.g</a:t>
            </a:r>
            <a:r>
              <a:rPr lang="en-US" dirty="0"/>
              <a:t> </a:t>
            </a:r>
            <a:r>
              <a:rPr lang="en-US" b="1" dirty="0"/>
              <a:t>120 minutes x 2 = 240 minutes</a:t>
            </a:r>
          </a:p>
          <a:p>
            <a:pPr>
              <a:lnSpc>
                <a:spcPts val="1500"/>
              </a:lnSpc>
            </a:pPr>
            <a:r>
              <a:rPr lang="en-US" b="1" dirty="0"/>
              <a:t>          </a:t>
            </a:r>
            <a:r>
              <a:rPr lang="en-US" dirty="0"/>
              <a:t>5. Convert minutes into hours ( 1hour=60minutes)  </a:t>
            </a:r>
          </a:p>
          <a:p>
            <a:pPr>
              <a:lnSpc>
                <a:spcPts val="1500"/>
              </a:lnSpc>
            </a:pPr>
            <a:r>
              <a:rPr lang="en-US" dirty="0"/>
              <a:t>      	       </a:t>
            </a:r>
            <a:r>
              <a:rPr lang="en-US" b="1" dirty="0" err="1"/>
              <a:t>e.g</a:t>
            </a:r>
            <a:r>
              <a:rPr lang="en-US" dirty="0"/>
              <a:t> </a:t>
            </a:r>
            <a:r>
              <a:rPr lang="en-US" b="1" dirty="0"/>
              <a:t>240 minutes/60min = 4 hours. You need oxygen that will last for 4 hours</a:t>
            </a:r>
          </a:p>
          <a:p>
            <a:endParaRPr lang="en-US" b="1" dirty="0"/>
          </a:p>
          <a:p>
            <a:r>
              <a:rPr lang="en-US" b="1" dirty="0"/>
              <a:t>	</a:t>
            </a:r>
            <a:r>
              <a:rPr lang="en-US" b="1" u="sng" dirty="0"/>
              <a:t>&gt; Ventilated patients: (LOW FLOW OXYGEN SOURCE)</a:t>
            </a:r>
          </a:p>
          <a:p>
            <a:pPr>
              <a:lnSpc>
                <a:spcPts val="1500"/>
              </a:lnSpc>
            </a:pPr>
            <a:r>
              <a:rPr lang="en-US" dirty="0"/>
              <a:t>	    1. Use oxygen calculation charts for E and D cylinders to calculate oxygen consumption based on</a:t>
            </a:r>
          </a:p>
          <a:p>
            <a:pPr>
              <a:lnSpc>
                <a:spcPts val="1500"/>
              </a:lnSpc>
            </a:pPr>
            <a:r>
              <a:rPr lang="en-US" dirty="0"/>
              <a:t>	         oxygen flow rate on the ventilator</a:t>
            </a:r>
          </a:p>
          <a:p>
            <a:pPr>
              <a:lnSpc>
                <a:spcPts val="1500"/>
              </a:lnSpc>
            </a:pPr>
            <a:r>
              <a:rPr lang="en-US" dirty="0"/>
              <a:t>	    2. Check oxygen capacity in the cylinder</a:t>
            </a:r>
          </a:p>
          <a:p>
            <a:pPr>
              <a:lnSpc>
                <a:spcPts val="1500"/>
              </a:lnSpc>
            </a:pPr>
            <a:r>
              <a:rPr lang="en-US" dirty="0"/>
              <a:t>	    3. Double oxygen consumption</a:t>
            </a:r>
          </a:p>
          <a:p>
            <a:endParaRPr lang="en-US" dirty="0"/>
          </a:p>
          <a:p>
            <a:r>
              <a:rPr lang="en-US" b="1" dirty="0"/>
              <a:t>Second Step: </a:t>
            </a:r>
          </a:p>
          <a:p>
            <a:r>
              <a:rPr lang="en-US" dirty="0"/>
              <a:t>	1. Check the type of cylinder: either D or E</a:t>
            </a:r>
          </a:p>
          <a:p>
            <a:r>
              <a:rPr lang="en-US" dirty="0"/>
              <a:t>	2. Check the pressure of the cylinder</a:t>
            </a:r>
          </a:p>
          <a:p>
            <a:r>
              <a:rPr lang="en-US" dirty="0"/>
              <a:t>	3. Use oxygen calculation charts for D and E cylinders to check capacity</a:t>
            </a:r>
          </a:p>
        </p:txBody>
      </p:sp>
      <p:pic>
        <p:nvPicPr>
          <p:cNvPr id="4" name="Content Placeholder 3" descr="oxygen low flow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32040" y="948795"/>
            <a:ext cx="1336354" cy="1040045"/>
          </a:xfrm>
          <a:prstGeom prst="rect">
            <a:avLst/>
          </a:prstGeom>
        </p:spPr>
      </p:pic>
      <p:pic>
        <p:nvPicPr>
          <p:cNvPr id="5" name="Picture 4" descr="oxygen mask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72200" y="1124744"/>
            <a:ext cx="2448272" cy="729229"/>
          </a:xfrm>
          <a:prstGeom prst="rect">
            <a:avLst/>
          </a:prstGeom>
        </p:spPr>
      </p:pic>
      <p:pic>
        <p:nvPicPr>
          <p:cNvPr id="6" name="Content Placeholder 3" descr="oxygen low flow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27984" y="4693211"/>
            <a:ext cx="1336354" cy="1040045"/>
          </a:xfrm>
          <a:prstGeom prst="rect">
            <a:avLst/>
          </a:prstGeom>
        </p:spPr>
      </p:pic>
      <p:pic>
        <p:nvPicPr>
          <p:cNvPr id="7" name="Picture 6" descr="https://lh4.googleusercontent.com/OnJy7nhyXMCvU4A5V-nQcid9ON9tXfAhNKUnbRsspJZPPk6Lym138Mx6Yt0nvxrvYSAYAtllR_C6jIST74mFO9jxNTygY6GdLyWnU0g9HHOajS_ZOjoI06b6IMR9X2Qtiwxem70F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00192" y="4509120"/>
            <a:ext cx="2304256" cy="1373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Left Arrow 7"/>
          <p:cNvSpPr/>
          <p:nvPr/>
        </p:nvSpPr>
        <p:spPr>
          <a:xfrm>
            <a:off x="5580112" y="5157192"/>
            <a:ext cx="648072" cy="21602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#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have a 5-year old child who is scheduled for CT. He is on oxygen at 3L/min  via nasal </a:t>
            </a:r>
            <a:r>
              <a:rPr lang="en-US" dirty="0" err="1"/>
              <a:t>cannula</a:t>
            </a:r>
            <a:r>
              <a:rPr lang="en-US" dirty="0"/>
              <a:t>. The entire procedure is expected to last for 30 minutes.</a:t>
            </a:r>
          </a:p>
          <a:p>
            <a:endParaRPr lang="en-US" dirty="0"/>
          </a:p>
          <a:p>
            <a:pPr>
              <a:buAutoNum type="arabicPeriod"/>
            </a:pPr>
            <a:r>
              <a:rPr lang="en-US" dirty="0"/>
              <a:t>Calculate the child’s oxygen consumption throughout the process</a:t>
            </a:r>
          </a:p>
          <a:p>
            <a:pPr>
              <a:buAutoNum type="arabicPeriod"/>
            </a:pPr>
            <a:r>
              <a:rPr lang="en-US" dirty="0"/>
              <a:t>Demonstrate how to check the capacity of the cylinder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#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083733"/>
            <a:ext cx="8640960" cy="4954411"/>
          </a:xfrm>
        </p:spPr>
        <p:txBody>
          <a:bodyPr/>
          <a:lstStyle/>
          <a:p>
            <a:r>
              <a:rPr lang="en-US" dirty="0"/>
              <a:t>You were informed to transfer a patient to Sur Hospital. The patient is on 8L/min of oxygen. How many cylinders of oxygen will you need during the trip.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#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083733"/>
            <a:ext cx="8964488" cy="4954411"/>
          </a:xfrm>
        </p:spPr>
        <p:txBody>
          <a:bodyPr/>
          <a:lstStyle/>
          <a:p>
            <a:r>
              <a:rPr lang="en-US" dirty="0"/>
              <a:t>A 5-month old child is scheduled for ENT assessment to Al </a:t>
            </a:r>
            <a:r>
              <a:rPr lang="en-US" dirty="0" err="1"/>
              <a:t>Nahda</a:t>
            </a:r>
            <a:r>
              <a:rPr lang="en-US" dirty="0"/>
              <a:t>. He is currently on nasal prongs at a rate of 1L/min. On the way back, the child is ventilated on a transport ventilator which uses 1L/min on</a:t>
            </a:r>
          </a:p>
          <a:p>
            <a:r>
              <a:rPr lang="en-US" dirty="0"/>
              <a:t>	following settings: PIP 20 PEEP 7 Rate 30/min</a:t>
            </a:r>
          </a:p>
          <a:p>
            <a:pPr>
              <a:buAutoNum type="arabicPeriod"/>
            </a:pPr>
            <a:r>
              <a:rPr lang="en-US" dirty="0"/>
              <a:t>Calculate the child’s oxygen consumption throughout the trip (considering entire process will be total </a:t>
            </a:r>
          </a:p>
          <a:p>
            <a:r>
              <a:rPr lang="en-US" dirty="0"/>
              <a:t>	of 4 hours)</a:t>
            </a:r>
          </a:p>
          <a:p>
            <a:r>
              <a:rPr lang="en-US" dirty="0"/>
              <a:t>2.	Demonstrate how to check the capacity of the cylinder</a:t>
            </a:r>
          </a:p>
          <a:p>
            <a:pPr>
              <a:buAutoNum type="arabicPeriod"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Calculate Oxygen During Transfer?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16" y="1083733"/>
            <a:ext cx="9180512" cy="4954411"/>
          </a:xfrm>
        </p:spPr>
        <p:txBody>
          <a:bodyPr/>
          <a:lstStyle/>
          <a:p>
            <a:r>
              <a:rPr lang="en-US" b="1" dirty="0"/>
              <a:t>	</a:t>
            </a:r>
          </a:p>
          <a:p>
            <a:r>
              <a:rPr lang="en-US" b="1" u="sng" dirty="0"/>
              <a:t>&gt; Ventilated patients: (HIGH FLOW OXYGEN SOURCE)</a:t>
            </a:r>
          </a:p>
          <a:p>
            <a:pPr>
              <a:lnSpc>
                <a:spcPts val="1500"/>
              </a:lnSpc>
            </a:pPr>
            <a:r>
              <a:rPr lang="en-US" dirty="0"/>
              <a:t>	</a:t>
            </a:r>
          </a:p>
          <a:p>
            <a:pPr>
              <a:lnSpc>
                <a:spcPts val="1500"/>
              </a:lnSpc>
            </a:pPr>
            <a:r>
              <a:rPr lang="en-US" dirty="0"/>
              <a:t>	1. Use  the formula:</a:t>
            </a:r>
          </a:p>
          <a:p>
            <a:pPr>
              <a:lnSpc>
                <a:spcPts val="1500"/>
              </a:lnSpc>
            </a:pPr>
            <a:r>
              <a:rPr lang="en-US" dirty="0"/>
              <a:t>(expiratory minute </a:t>
            </a:r>
            <a:r>
              <a:rPr lang="en-US" dirty="0" err="1"/>
              <a:t>vol</a:t>
            </a:r>
            <a:r>
              <a:rPr lang="en-US" dirty="0"/>
              <a:t> in L + </a:t>
            </a:r>
            <a:r>
              <a:rPr lang="en-US" dirty="0" err="1"/>
              <a:t>baseflow</a:t>
            </a:r>
            <a:r>
              <a:rPr lang="en-US" dirty="0"/>
              <a:t>(3L/min) + minute ventilation leak) X (set FiO2-20.9) / 79.1 x transport</a:t>
            </a:r>
          </a:p>
          <a:p>
            <a:r>
              <a:rPr lang="en-US" b="1" dirty="0"/>
              <a:t>			</a:t>
            </a:r>
            <a:r>
              <a:rPr lang="en-US" dirty="0"/>
              <a:t>duration in minutes</a:t>
            </a:r>
          </a:p>
          <a:p>
            <a:endParaRPr lang="en-US" b="1" dirty="0"/>
          </a:p>
          <a:p>
            <a:r>
              <a:rPr lang="en-US" b="1" dirty="0"/>
              <a:t>	</a:t>
            </a:r>
            <a:r>
              <a:rPr lang="en-US" dirty="0"/>
              <a:t>2. Double the oxygen consumption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Second Step: </a:t>
            </a:r>
          </a:p>
          <a:p>
            <a:r>
              <a:rPr lang="en-US" dirty="0"/>
              <a:t>	1. Check the type of cylinder: either D or E</a:t>
            </a:r>
          </a:p>
          <a:p>
            <a:r>
              <a:rPr lang="en-US" dirty="0"/>
              <a:t>	2. Check the pressure of the cylinder</a:t>
            </a:r>
          </a:p>
          <a:p>
            <a:r>
              <a:rPr lang="en-US" dirty="0"/>
              <a:t>	3. Use oxygen calculation charts for D and E cylinders to check capacity</a:t>
            </a:r>
          </a:p>
          <a:p>
            <a:endParaRPr lang="en-US" dirty="0"/>
          </a:p>
        </p:txBody>
      </p:sp>
      <p:pic>
        <p:nvPicPr>
          <p:cNvPr id="4" name="Picture 3" descr="oxygen high flow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86522" y="2687538"/>
            <a:ext cx="2037606" cy="2037606"/>
          </a:xfrm>
          <a:prstGeom prst="rect">
            <a:avLst/>
          </a:prstGeom>
        </p:spPr>
      </p:pic>
      <p:pic>
        <p:nvPicPr>
          <p:cNvPr id="5" name="Picture 4" descr="https://lh6.googleusercontent.com/5R8MYPvilHuVPnCJVsP_X-unVa1SE9gJ829t3gS812bfw7ZkLVAd_BJ2H52gY9gsDMIM0kxzrfwfA7wH2PmCYqVk2tqFaXEosOgEyybZDMaMdE6lCJsSZSt_EUGehKK7WjS8AixO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2200" y="2852936"/>
            <a:ext cx="2520280" cy="162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Left Arrow 5"/>
          <p:cNvSpPr/>
          <p:nvPr/>
        </p:nvSpPr>
        <p:spPr>
          <a:xfrm>
            <a:off x="5148064" y="4077072"/>
            <a:ext cx="864096" cy="36004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/>
              <a:t>Expiratory minute volume		</a:t>
            </a:r>
            <a:r>
              <a:rPr lang="en-US" b="1" dirty="0">
                <a:solidFill>
                  <a:srgbClr val="FF0000"/>
                </a:solidFill>
              </a:rPr>
              <a:t>5L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Total MV leakage			</a:t>
            </a:r>
            <a:r>
              <a:rPr lang="en-US" b="1" dirty="0">
                <a:solidFill>
                  <a:srgbClr val="FF0000"/>
                </a:solidFill>
              </a:rPr>
              <a:t>1L/min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Base flow			</a:t>
            </a:r>
            <a:r>
              <a:rPr lang="en-US" altLang="en-US" b="1" dirty="0">
                <a:solidFill>
                  <a:srgbClr val="FF0000"/>
                </a:solidFill>
              </a:rPr>
              <a:t>3L/min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Set FiO2 			</a:t>
            </a:r>
            <a:r>
              <a:rPr lang="en-US" b="1" dirty="0">
                <a:solidFill>
                  <a:srgbClr val="FF0000"/>
                </a:solidFill>
              </a:rPr>
              <a:t>50%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Planned duration of transport	</a:t>
            </a:r>
            <a:r>
              <a:rPr lang="en-US" b="1" dirty="0">
                <a:solidFill>
                  <a:srgbClr val="FF0000"/>
                </a:solidFill>
              </a:rPr>
              <a:t>120mins</a:t>
            </a:r>
          </a:p>
          <a:p>
            <a:endParaRPr lang="en-US" dirty="0"/>
          </a:p>
          <a:p>
            <a:r>
              <a:rPr lang="en-US" dirty="0"/>
              <a:t>Formula: (MV + BF + MV leak) X (FiO2-20.9) / 79.1 X transport duration</a:t>
            </a:r>
          </a:p>
          <a:p>
            <a:r>
              <a:rPr lang="en-US" dirty="0"/>
              <a:t>	               (5L + 3L + 1L)     x    (50%-20.9) / 79.1 X 120mins</a:t>
            </a:r>
          </a:p>
          <a:p>
            <a:r>
              <a:rPr lang="en-US" dirty="0"/>
              <a:t>		                   9      x    29.1</a:t>
            </a:r>
          </a:p>
          <a:p>
            <a:r>
              <a:rPr lang="en-US" dirty="0"/>
              <a:t>				      =   3.3L/min X 120mins   =  396 Liters</a:t>
            </a:r>
          </a:p>
          <a:p>
            <a:r>
              <a:rPr lang="en-US" dirty="0"/>
              <a:t>			    79.1 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123728" y="3861048"/>
            <a:ext cx="11521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39552" y="5157192"/>
            <a:ext cx="8136904" cy="12241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The full E cylinder estimated volume is 625 so with above parameters and planned time, this is enough but, it is safer to have an extra cylinder as standby.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1: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are involved in the transfer of a 2-year old child from Royal Hospital A&amp;E to </a:t>
            </a:r>
            <a:r>
              <a:rPr lang="en-US" dirty="0" err="1"/>
              <a:t>Nizwa</a:t>
            </a:r>
            <a:r>
              <a:rPr lang="en-US" dirty="0"/>
              <a:t> Hospital.</a:t>
            </a:r>
          </a:p>
          <a:p>
            <a:r>
              <a:rPr lang="en-US" dirty="0"/>
              <a:t>He is ventilated on a portable ventilator that uses high pressure oxygen source.</a:t>
            </a:r>
          </a:p>
          <a:p>
            <a:r>
              <a:rPr lang="en-US" dirty="0"/>
              <a:t>He is ventilated on Tidal volume 200ml, Rate 25/min FiO2 50%, minute ventilation = 5000ml. There is no leak. Expected trip would last for 3 hours (180minutes)</a:t>
            </a:r>
          </a:p>
          <a:p>
            <a:endParaRPr lang="en-US" dirty="0"/>
          </a:p>
          <a:p>
            <a:r>
              <a:rPr lang="en-US" dirty="0"/>
              <a:t>Calculate oxygen requirement.</a:t>
            </a:r>
          </a:p>
          <a:p>
            <a:r>
              <a:rPr lang="en-US" dirty="0"/>
              <a:t>Formula: (MV + BF + MV leak) X (FiO2-20.9) / 79.1 X transport duration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9552" y="3458031"/>
            <a:ext cx="892899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Expiratory minute volume		</a:t>
            </a:r>
            <a:r>
              <a:rPr lang="en-US" b="1" dirty="0">
                <a:solidFill>
                  <a:srgbClr val="FF0000"/>
                </a:solidFill>
              </a:rPr>
              <a:t>5L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Total MV leakage			</a:t>
            </a:r>
            <a:r>
              <a:rPr lang="en-US" b="1" dirty="0">
                <a:solidFill>
                  <a:srgbClr val="FF0000"/>
                </a:solidFill>
              </a:rPr>
              <a:t>0L/min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Base flow			</a:t>
            </a:r>
            <a:r>
              <a:rPr lang="en-US" altLang="en-US" b="1" dirty="0">
                <a:solidFill>
                  <a:srgbClr val="FF0000"/>
                </a:solidFill>
              </a:rPr>
              <a:t>3L/min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Set FiO2 				</a:t>
            </a:r>
            <a:r>
              <a:rPr lang="en-US" b="1" dirty="0">
                <a:solidFill>
                  <a:srgbClr val="FF0000"/>
                </a:solidFill>
              </a:rPr>
              <a:t>50%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Planned duration of transport	</a:t>
            </a:r>
            <a:r>
              <a:rPr lang="en-US" b="1" dirty="0">
                <a:solidFill>
                  <a:srgbClr val="FF0000"/>
                </a:solidFill>
              </a:rPr>
              <a:t>3 HOURS</a:t>
            </a:r>
          </a:p>
          <a:p>
            <a:endParaRPr lang="en-US" dirty="0"/>
          </a:p>
          <a:p>
            <a:r>
              <a:rPr lang="en-US" dirty="0"/>
              <a:t>Formula: (MV + BF + MV leak) X (FiO2-20.9) / 79.1 X transport duration</a:t>
            </a:r>
          </a:p>
          <a:p>
            <a:r>
              <a:rPr lang="en-US" dirty="0"/>
              <a:t>	               (5L + 3L + 0L)     x    (50%-20.9) / 79.1 X 120mins</a:t>
            </a:r>
          </a:p>
          <a:p>
            <a:r>
              <a:rPr lang="en-US" dirty="0"/>
              <a:t>		                   8      x    29.1</a:t>
            </a:r>
          </a:p>
          <a:p>
            <a:r>
              <a:rPr lang="en-US" dirty="0"/>
              <a:t>				      =   2.9L/min X 180mins   =  </a:t>
            </a:r>
            <a:r>
              <a:rPr lang="en-US" b="1" dirty="0">
                <a:solidFill>
                  <a:srgbClr val="FF0000"/>
                </a:solidFill>
              </a:rPr>
              <a:t>529.75 Liters</a:t>
            </a:r>
          </a:p>
          <a:p>
            <a:r>
              <a:rPr lang="en-US" dirty="0"/>
              <a:t>			    79.1 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987824" y="6093296"/>
            <a:ext cx="11521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707904" y="3933056"/>
            <a:ext cx="496855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4000" b="1" dirty="0">
                <a:solidFill>
                  <a:srgbClr val="59CAEC"/>
                </a:solidFill>
                <a:latin typeface="+mj-lt"/>
                <a:ea typeface="맑은 고딕" pitchFamily="50" charset="-127"/>
                <a:cs typeface="굴림" pitchFamily="50" charset="-127"/>
              </a:rPr>
              <a:t>INTRODUCTION TO TRANSPORT FORMS</a:t>
            </a:r>
            <a:endParaRPr kumimoji="1" lang="ko-KR" altLang="ko-KR" sz="4000" b="1" dirty="0">
              <a:solidFill>
                <a:srgbClr val="59CAEC"/>
              </a:solidFill>
              <a:latin typeface="+mj-lt"/>
              <a:ea typeface="맑은 고딕" pitchFamily="50" charset="-127"/>
              <a:cs typeface="굴림" pitchFamily="50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AMBULANCE CHECKLIST</a:t>
            </a:r>
          </a:p>
        </p:txBody>
      </p:sp>
      <p:graphicFrame>
        <p:nvGraphicFramePr>
          <p:cNvPr id="4" name="Content Placeholder 3"/>
          <p:cNvGraphicFramePr>
            <a:graphicFrameLocks noGrp="1" noChangeAspect="1"/>
          </p:cNvGraphicFramePr>
          <p:nvPr>
            <p:ph idx="1"/>
          </p:nvPr>
        </p:nvGraphicFramePr>
        <p:xfrm>
          <a:off x="2546350" y="1528763"/>
          <a:ext cx="4064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Acrobat Document" r:id="rId3" imgW="9600000" imgH="9600000" progId="AcroExch.Document.7">
                  <p:embed/>
                </p:oleObj>
              </mc:Choice>
              <mc:Fallback>
                <p:oleObj name="Acrobat Document" r:id="rId3" imgW="9600000" imgH="9600000" progId="AcroExch.Document.7">
                  <p:embed/>
                  <p:pic>
                    <p:nvPicPr>
                      <p:cNvPr id="4" name="Content Placeholder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6350" y="1528763"/>
                        <a:ext cx="4064000" cy="406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>
          <a:xfrm>
            <a:off x="2286000" y="3105835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b="1" dirty="0">
                <a:solidFill>
                  <a:srgbClr val="59CAEC"/>
                </a:solidFill>
                <a:ea typeface="맑은 고딕" pitchFamily="50" charset="-127"/>
                <a:cs typeface="굴림" pitchFamily="50" charset="-127"/>
              </a:rPr>
              <a:t> Oxygen Therapy During Transport: How to Calculate Oxygen Needs Oxygen Therapy During Transport: How to Calculate Oxygen Needs</a:t>
            </a:r>
            <a:endParaRPr kumimoji="1" lang="ko-KR" altLang="ko-KR" b="1" dirty="0">
              <a:solidFill>
                <a:srgbClr val="59CAEC"/>
              </a:solidFill>
              <a:ea typeface="맑은 고딕" pitchFamily="50" charset="-127"/>
              <a:cs typeface="굴림" pitchFamily="50" charset="-127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ko-KR" b="1" dirty="0">
              <a:solidFill>
                <a:srgbClr val="59CAEC"/>
              </a:solidFill>
              <a:ea typeface="맑은 고딕" pitchFamily="50" charset="-127"/>
              <a:cs typeface="굴림" pitchFamily="50" charset="-127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55576" y="1025350"/>
            <a:ext cx="7704855" cy="57160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AMBULANCE CHECKLIST (cont.)</a:t>
            </a:r>
          </a:p>
        </p:txBody>
      </p:sp>
      <p:graphicFrame>
        <p:nvGraphicFramePr>
          <p:cNvPr id="4" name="Content Placeholder 3"/>
          <p:cNvGraphicFramePr>
            <a:graphicFrameLocks noGrp="1" noChangeAspect="1"/>
          </p:cNvGraphicFramePr>
          <p:nvPr>
            <p:ph idx="1"/>
          </p:nvPr>
        </p:nvGraphicFramePr>
        <p:xfrm>
          <a:off x="2546350" y="1528763"/>
          <a:ext cx="4064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Acrobat Document" r:id="rId3" imgW="9600000" imgH="9600000" progId="AcroExch.Document.7">
                  <p:embed/>
                </p:oleObj>
              </mc:Choice>
              <mc:Fallback>
                <p:oleObj name="Acrobat Document" r:id="rId3" imgW="9600000" imgH="9600000" progId="AcroExch.Document.7">
                  <p:embed/>
                  <p:pic>
                    <p:nvPicPr>
                      <p:cNvPr id="4" name="Content Placeholder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6350" y="1528763"/>
                        <a:ext cx="4064000" cy="406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9552" y="1025352"/>
            <a:ext cx="8064896" cy="5644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CHECKLIST</a:t>
            </a:r>
          </a:p>
        </p:txBody>
      </p:sp>
      <p:graphicFrame>
        <p:nvGraphicFramePr>
          <p:cNvPr id="4" name="Content Placeholder 3"/>
          <p:cNvGraphicFramePr>
            <a:graphicFrameLocks noGrp="1" noChangeAspect="1"/>
          </p:cNvGraphicFramePr>
          <p:nvPr>
            <p:ph idx="1"/>
          </p:nvPr>
        </p:nvGraphicFramePr>
        <p:xfrm>
          <a:off x="323528" y="980728"/>
          <a:ext cx="8496944" cy="5760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Acrobat Document" r:id="rId3" imgW="5830114" imgH="7542857" progId="AcroExch.Document.7">
                  <p:embed/>
                </p:oleObj>
              </mc:Choice>
              <mc:Fallback>
                <p:oleObj name="Acrobat Document" r:id="rId3" imgW="5830114" imgH="7542857" progId="AcroExch.Document.7">
                  <p:embed/>
                  <p:pic>
                    <p:nvPicPr>
                      <p:cNvPr id="4" name="Content Placeholder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980728"/>
                        <a:ext cx="8496944" cy="57606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CHECKLIST</a:t>
            </a:r>
          </a:p>
        </p:txBody>
      </p:sp>
      <p:pic>
        <p:nvPicPr>
          <p:cNvPr id="276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084263"/>
            <a:ext cx="8496943" cy="5585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PATIENT TRANSFER FORM</a:t>
            </a:r>
          </a:p>
        </p:txBody>
      </p:sp>
      <p:graphicFrame>
        <p:nvGraphicFramePr>
          <p:cNvPr id="4" name="Content Placeholder 3"/>
          <p:cNvGraphicFramePr>
            <a:graphicFrameLocks noGrp="1" noChangeAspect="1"/>
          </p:cNvGraphicFramePr>
          <p:nvPr>
            <p:ph idx="1"/>
          </p:nvPr>
        </p:nvGraphicFramePr>
        <p:xfrm>
          <a:off x="2546350" y="1528763"/>
          <a:ext cx="4064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Acrobat Document" r:id="rId3" imgW="9945488" imgH="9945488" progId="AcroExch.Document.7">
                  <p:embed/>
                </p:oleObj>
              </mc:Choice>
              <mc:Fallback>
                <p:oleObj name="Acrobat Document" r:id="rId3" imgW="9945488" imgH="9945488" progId="AcroExch.Document.7">
                  <p:embed/>
                  <p:pic>
                    <p:nvPicPr>
                      <p:cNvPr id="4" name="Content Placeholder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6350" y="1528763"/>
                        <a:ext cx="4064000" cy="406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5536" y="965794"/>
            <a:ext cx="8280920" cy="5847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PATIENT TRANSFER FORM (cont.)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530350" y="1529556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Acrobat Document" r:id="rId3" imgW="0" imgH="0" progId="AcroExch.Document.7">
                  <p:embed/>
                </p:oleObj>
              </mc:Choice>
              <mc:Fallback>
                <p:oleObj name="Acrobat Document" r:id="rId3" imgW="0" imgH="0" progId="AcroExch.Document.7">
                  <p:embed/>
                  <p:pic>
                    <p:nvPicPr>
                      <p:cNvPr id="4" name="Content Placeholder 3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0350" y="1529556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536" y="980728"/>
            <a:ext cx="8352928" cy="576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67544" y="4293096"/>
            <a:ext cx="16561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haroni" pitchFamily="2" charset="-79"/>
                <a:cs typeface="Aharoni" pitchFamily="2" charset="-79"/>
              </a:rPr>
              <a:t>TO BE FILLED OUT BY THE DOCTOR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763688" y="4941168"/>
            <a:ext cx="360040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1403648" y="836712"/>
            <a:ext cx="4032448" cy="2160240"/>
          </a:xfrm>
        </p:spPr>
        <p:txBody>
          <a:bodyPr/>
          <a:lstStyle/>
          <a:p>
            <a:r>
              <a:rPr lang="en-US" altLang="ko-KR" dirty="0">
                <a:solidFill>
                  <a:srgbClr val="DA4351"/>
                </a:solidFill>
              </a:rPr>
              <a:t>T</a:t>
            </a:r>
            <a:r>
              <a:rPr lang="en-US" altLang="ko-KR" dirty="0"/>
              <a:t>H</a:t>
            </a:r>
            <a:r>
              <a:rPr lang="en-US" altLang="ko-KR" dirty="0">
                <a:solidFill>
                  <a:srgbClr val="F3FAFD"/>
                </a:solidFill>
              </a:rPr>
              <a:t>A</a:t>
            </a:r>
            <a:r>
              <a:rPr lang="en-US" altLang="ko-KR" dirty="0"/>
              <a:t>NK YO</a:t>
            </a:r>
            <a:r>
              <a:rPr lang="en-US" altLang="ko-KR" dirty="0">
                <a:solidFill>
                  <a:srgbClr val="292929"/>
                </a:solidFill>
              </a:rPr>
              <a:t>U</a:t>
            </a:r>
            <a:endParaRPr lang="ko-KR" altLang="en-US" dirty="0">
              <a:solidFill>
                <a:srgbClr val="29292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Calibri"/>
        <a:ea typeface="맑은 고딕"/>
        <a:cs typeface=""/>
      </a:majorFont>
      <a:minorFont>
        <a:latin typeface="Calibri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