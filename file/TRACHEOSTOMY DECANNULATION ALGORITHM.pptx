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2" Type="http://schemas.openxmlformats.org/officeDocument/2006/relationships/slide" Target="slides/slide9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0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3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6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3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3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6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7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0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8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26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6083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80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6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11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7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7879C-9C71-4792-BC73-BE711FE57396}" type="datetimeFigureOut">
              <a:rPr lang="en-US" smtClean="0"/>
              <a:t>08-Feb-22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2173C-ADA0-48E2-9C90-ECCCA8B20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98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2594" y="35878"/>
            <a:ext cx="9505406" cy="2837951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 Black" panose="020B0A04020102020204" pitchFamily="34" charset="0"/>
              </a:rPr>
              <a:t>TRACHEOSTOMY DECANNULATION ALGORITHM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 Black" panose="020B0A04020102020204" pitchFamily="34" charset="0"/>
              </a:rPr>
              <a:t>By: KOCHURANI THOMAS</a:t>
            </a:r>
            <a:endParaRPr lang="en-US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52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638" y="326108"/>
            <a:ext cx="9404723" cy="140053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Arial Black" panose="020B0A04020102020204" pitchFamily="34" charset="0"/>
              </a:rPr>
              <a:t>TRACHEOSTOMY DECANNULATION ALGORITHM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51466"/>
            <a:ext cx="10430023" cy="47508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tracheostomy tube is called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decannulation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INDICATION: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 initial indication for a tracheostomy no longer exists.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For elective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decannulation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patient is considered a candidate for decannulation once the following conditions are met: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is alert and oriented and responsive to commands.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is no longer dependent on a ventilator for assisted breathing.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frequency requirement for tracheal suctioning is less than once a day.</a:t>
            </a: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12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29" y="391914"/>
            <a:ext cx="10765971" cy="169068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TRACHEOSTOMY DECANNULATION ALGORIT</a:t>
            </a:r>
            <a:r>
              <a:rPr lang="en-US" sz="3200" dirty="0" smtClean="0">
                <a:latin typeface="Arial Black" panose="020B0A04020102020204" pitchFamily="34" charset="0"/>
              </a:rPr>
              <a:t>HM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3167743" y="1657171"/>
            <a:ext cx="5394961" cy="83044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child breathing?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Look, listen, feel for air at mouth and over tracheostomy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5708470" y="2599685"/>
            <a:ext cx="313508" cy="33963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57324" y="3016810"/>
            <a:ext cx="2965269" cy="3918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breathing or gasping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54434" y="3580946"/>
            <a:ext cx="2965269" cy="391885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 CPR/ Check for pulse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5672546" y="4104006"/>
            <a:ext cx="385356" cy="36576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74670" y="4547257"/>
            <a:ext cx="5617030" cy="1320234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CPR/ activate arrest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Page PICU (5003), pediatric surgery (5029) and anesthesia  ***anticipate difficult airway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5690507" y="6005593"/>
            <a:ext cx="349432" cy="309472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67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86446" y="535576"/>
            <a:ext cx="6753497" cy="9274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patency of tracheostomy, remove HME and any other attachments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48595" y="1690688"/>
            <a:ext cx="5003074" cy="59531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you able to pass suction catheter?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5878286" y="2467929"/>
            <a:ext cx="365760" cy="366711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76103" y="2996973"/>
            <a:ext cx="9170125" cy="10450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Yes, able to suction. There is chest rise and capnography trace present (partially blocked tube)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addressing ABCDE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5873932" y="4310742"/>
            <a:ext cx="365760" cy="33963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788229" y="4752974"/>
            <a:ext cx="4493622" cy="51135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pass suction catheter?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1681" y="5361349"/>
            <a:ext cx="8046720" cy="6139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Tube visibly out? Or tube dislodged into false tract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655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06287" y="561702"/>
            <a:ext cx="9026434" cy="27040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Deflate the cuff if cuff present, then remove the tube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tube if stoma is mature and you are able to replace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tube with similar size tube/ consider smaller size if unable to pass same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unable to replace the tube, cover stoma site with guaze, hand ventilate using 2 persons, use oropharyngeal airway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5671458" y="3400650"/>
            <a:ext cx="441959" cy="405581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069773" y="3941168"/>
            <a:ext cx="5499462" cy="67432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Attempt oral intubation if able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 ETT beyond stoma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82834" y="4931723"/>
            <a:ext cx="5486401" cy="7184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monitoring ABCDE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31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05349" y="496389"/>
            <a:ext cx="4741817" cy="627017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 breathing?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5826034" y="1319349"/>
            <a:ext cx="378823" cy="371339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27417" y="1821952"/>
            <a:ext cx="4297680" cy="7128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Yes, child breathing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oxygen to face and stoma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5826034" y="2769326"/>
            <a:ext cx="378823" cy="352697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194560" y="3256960"/>
            <a:ext cx="7393577" cy="123666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Attempt to replace tracheostomy if stoma is mature and you able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Wait till help arrives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5826034" y="4650377"/>
            <a:ext cx="378823" cy="36576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27417" y="5251269"/>
            <a:ext cx="4650377" cy="6139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monitoring the child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77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718457"/>
            <a:ext cx="10687594" cy="1567543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Arial Black" panose="020B0A04020102020204" pitchFamily="34" charset="0"/>
              </a:rPr>
              <a:t>Beware of risk factors leading to </a:t>
            </a:r>
            <a:r>
              <a:rPr lang="en-US" sz="3600" dirty="0">
                <a:latin typeface="Arial Black" panose="020B0A04020102020204" pitchFamily="34" charset="0"/>
              </a:rPr>
              <a:t>T</a:t>
            </a:r>
            <a:r>
              <a:rPr lang="en-US" sz="3600" dirty="0" smtClean="0">
                <a:latin typeface="Arial Black" panose="020B0A04020102020204" pitchFamily="34" charset="0"/>
              </a:rPr>
              <a:t>racheostomy </a:t>
            </a:r>
            <a:r>
              <a:rPr lang="en-US" sz="3600" dirty="0">
                <a:latin typeface="Arial Black" panose="020B0A04020102020204" pitchFamily="34" charset="0"/>
              </a:rPr>
              <a:t>D</a:t>
            </a:r>
            <a:r>
              <a:rPr lang="en-US" sz="3600" dirty="0" smtClean="0">
                <a:latin typeface="Arial Black" panose="020B0A04020102020204" pitchFamily="34" charset="0"/>
              </a:rPr>
              <a:t>ecannulation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51759"/>
            <a:ext cx="10515600" cy="352520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Loose tapes/Tie.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 neck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Altered mental status (agitation, inadequate sedation)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tube length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Tension on the tracheostomy tube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9089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7293" y="410515"/>
            <a:ext cx="9404723" cy="1400530"/>
          </a:xfrm>
        </p:spPr>
        <p:txBody>
          <a:bodyPr/>
          <a:lstStyle/>
          <a:p>
            <a:pPr algn="ctr"/>
            <a:r>
              <a:rPr lang="en-US" sz="3600" dirty="0" smtClean="0">
                <a:latin typeface="Arial Black" panose="020B0A04020102020204" pitchFamily="34" charset="0"/>
              </a:rPr>
              <a:t>Items needed for Tracheostomy </a:t>
            </a:r>
            <a:r>
              <a:rPr lang="en-US" sz="3600" dirty="0">
                <a:latin typeface="Arial Black" panose="020B0A04020102020204" pitchFamily="34" charset="0"/>
              </a:rPr>
              <a:t>T</a:t>
            </a:r>
            <a:r>
              <a:rPr lang="en-US" sz="3600" dirty="0" smtClean="0">
                <a:latin typeface="Arial Black" panose="020B0A04020102020204" pitchFamily="34" charset="0"/>
              </a:rPr>
              <a:t>ube </a:t>
            </a:r>
            <a:r>
              <a:rPr lang="en-US" sz="3600" dirty="0">
                <a:latin typeface="Arial Black" panose="020B0A04020102020204" pitchFamily="34" charset="0"/>
              </a:rPr>
              <a:t>D</a:t>
            </a:r>
            <a:r>
              <a:rPr lang="en-US" sz="3600" dirty="0" smtClean="0">
                <a:latin typeface="Arial Black" panose="020B0A04020102020204" pitchFamily="34" charset="0"/>
              </a:rPr>
              <a:t>ecannulation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Spare tracheostomy tubes (same size and smaller tube).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size Ambubag with facemask, connected to O2 delivery tube. 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Tracheal dilator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Suction unit (functioning well)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O2 flow meter (functioning well)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96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494" y="2307102"/>
            <a:ext cx="8946541" cy="43070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 smtClean="0">
                <a:latin typeface="Arial Black" panose="020B0A04020102020204" pitchFamily="34" charset="0"/>
              </a:rPr>
              <a:t>Thank you</a:t>
            </a:r>
            <a:endParaRPr lang="en-US" sz="8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385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