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image/jpeg" Extension="jpeg"/>
  <Default ContentType="application/vnd.openxmlformats-package.relationships+xml" Extension="rels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y="6858000" cx="12192000"/>
  <p:notesSz cx="6858000" cy="9144000"/>
  <p:defaultTextStyle>
    <a:defPPr lvl="0">
      <a:defRPr lang="en-US"/>
    </a:defPPr>
    <a:lvl1pPr defTabSz="4572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4572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4572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4572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4572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4572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4572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4572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4572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slide" Target="slides/slide1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2" Type="http://schemas.openxmlformats.org/officeDocument/2006/relationships/slide" Target="slides/slide9.xml"/><Relationship Id="rId9" Type="http://schemas.openxmlformats.org/officeDocument/2006/relationships/slide" Target="slides/slide6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67854-BE02-4ECC-AC00-5D6688EC0F01}" type="datetimeFigureOut">
              <a:rPr lang="en-AE" smtClean="0"/>
              <a:t>08/10/2022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35BB52E4-9335-4968-8F78-0AF5654CEEA9}" type="slidenum">
              <a:rPr lang="en-AE" smtClean="0"/>
              <a:t>‹#›</a:t>
            </a:fld>
            <a:endParaRPr lang="en-AE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39143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67854-BE02-4ECC-AC00-5D6688EC0F01}" type="datetimeFigureOut">
              <a:rPr lang="en-AE" smtClean="0"/>
              <a:t>08/10/2022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B52E4-9335-4968-8F78-0AF5654CEEA9}" type="slidenum">
              <a:rPr lang="en-AE" smtClean="0"/>
              <a:t>‹#›</a:t>
            </a:fld>
            <a:endParaRPr lang="en-AE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7709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67854-BE02-4ECC-AC00-5D6688EC0F01}" type="datetimeFigureOut">
              <a:rPr lang="en-AE" smtClean="0"/>
              <a:t>08/10/2022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B52E4-9335-4968-8F78-0AF5654CEEA9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433209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67854-BE02-4ECC-AC00-5D6688EC0F01}" type="datetimeFigureOut">
              <a:rPr lang="en-AE" smtClean="0"/>
              <a:t>08/10/2022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B52E4-9335-4968-8F78-0AF5654CEEA9}" type="slidenum">
              <a:rPr lang="en-AE" smtClean="0"/>
              <a:t>‹#›</a:t>
            </a:fld>
            <a:endParaRPr lang="en-AE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8962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67854-BE02-4ECC-AC00-5D6688EC0F01}" type="datetimeFigureOut">
              <a:rPr lang="en-AE" smtClean="0"/>
              <a:t>08/10/2022</a:t>
            </a:fld>
            <a:endParaRPr lang="en-A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B52E4-9335-4968-8F78-0AF5654CEEA9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153117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67854-BE02-4ECC-AC00-5D6688EC0F01}" type="datetimeFigureOut">
              <a:rPr lang="en-AE" smtClean="0"/>
              <a:t>08/10/2022</a:t>
            </a:fld>
            <a:endParaRPr lang="en-A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B52E4-9335-4968-8F78-0AF5654CEEA9}" type="slidenum">
              <a:rPr lang="en-AE" smtClean="0"/>
              <a:t>‹#›</a:t>
            </a:fld>
            <a:endParaRPr lang="en-AE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1775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67854-BE02-4ECC-AC00-5D6688EC0F01}" type="datetimeFigureOut">
              <a:rPr lang="en-AE" smtClean="0"/>
              <a:t>08/10/2022</a:t>
            </a:fld>
            <a:endParaRPr lang="en-A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B52E4-9335-4968-8F78-0AF5654CEEA9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0038373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67854-BE02-4ECC-AC00-5D6688EC0F01}" type="datetimeFigureOut">
              <a:rPr lang="en-AE" smtClean="0"/>
              <a:t>08/10/2022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B52E4-9335-4968-8F78-0AF5654CEEA9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338407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67854-BE02-4ECC-AC00-5D6688EC0F01}" type="datetimeFigureOut">
              <a:rPr lang="en-AE" smtClean="0"/>
              <a:t>08/10/2022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B52E4-9335-4968-8F78-0AF5654CEEA9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315214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67854-BE02-4ECC-AC00-5D6688EC0F01}" type="datetimeFigureOut">
              <a:rPr lang="en-AE" smtClean="0"/>
              <a:t>08/10/2022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B52E4-9335-4968-8F78-0AF5654CEEA9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465869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67854-BE02-4ECC-AC00-5D6688EC0F01}" type="datetimeFigureOut">
              <a:rPr lang="en-AE" smtClean="0"/>
              <a:t>08/10/2022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B52E4-9335-4968-8F78-0AF5654CEEA9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551318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26767854-BE02-4ECC-AC00-5D6688EC0F01}" type="datetimeFigureOut">
              <a:rPr lang="en-AE" smtClean="0"/>
              <a:t>08/10/2022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BB52E4-9335-4968-8F78-0AF5654CEEA9}" type="slidenum">
              <a:rPr lang="en-AE" smtClean="0"/>
              <a:t>‹#›</a:t>
            </a:fld>
            <a:endParaRPr lang="en-AE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8707591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1B941-9412-C675-37AA-2F74B615CD9F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701800" y="2311718"/>
            <a:ext cx="8788400" cy="1884362"/>
          </a:xfrm>
        </p:spPr>
        <p:txBody>
          <a:bodyPr>
            <a:noAutofit/>
          </a:bodyPr>
          <a:lstStyle/>
          <a:p>
            <a:pPr algn="ctr"/>
            <a:r>
              <a:rPr lang="en-US" sz="6600" b="1" dirty="0">
                <a:latin typeface="+mn-lt"/>
              </a:rPr>
              <a:t>INTUBATION AND </a:t>
            </a:r>
            <a:br>
              <a:rPr lang="en-US" sz="6600" b="1" dirty="0">
                <a:latin typeface="+mn-lt"/>
              </a:rPr>
            </a:br>
            <a:r>
              <a:rPr lang="en-US" sz="6600" b="1" dirty="0">
                <a:latin typeface="+mn-lt"/>
              </a:rPr>
              <a:t>INTUBATION DRUGS</a:t>
            </a:r>
            <a:endParaRPr lang="en-AE" sz="6600" b="1" dirty="0"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A0EACB-F15B-AFBA-5E73-928E5E8FB975}"/>
              </a:ext>
            </a:extLst>
          </p:cNvPr>
          <p:cNvSpPr txBox="1"/>
          <p:nvPr/>
        </p:nvSpPr>
        <p:spPr>
          <a:xfrm>
            <a:off x="3268257" y="4592321"/>
            <a:ext cx="66783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Prepared by </a:t>
            </a:r>
            <a:r>
              <a:rPr lang="en-US" sz="3200" dirty="0" err="1"/>
              <a:t>Ligi</a:t>
            </a:r>
            <a:r>
              <a:rPr lang="en-US" sz="3200" dirty="0"/>
              <a:t> Sara Zacharia</a:t>
            </a:r>
            <a:endParaRPr lang="en-AE" sz="3200" dirty="0"/>
          </a:p>
        </p:txBody>
      </p:sp>
    </p:spTree>
    <p:extLst>
      <p:ext uri="{BB962C8B-B14F-4D97-AF65-F5344CB8AC3E}">
        <p14:creationId xmlns:p14="http://schemas.microsoft.com/office/powerpoint/2010/main" val="1979317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D2187-4135-F2D5-0FF4-A014F5C86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809" y="2258263"/>
            <a:ext cx="3095591" cy="522904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/>
              <a:t>Definition</a:t>
            </a:r>
            <a:endParaRPr lang="en-AE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D5E8F6-35D9-E61B-CC70-5B6E6353E2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7529" y="2781167"/>
            <a:ext cx="3737299" cy="364915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Endotracheal Intubation is a common procedure used during resuscitation and stabilization of critically ill children. The most common reason is respiratory distress.</a:t>
            </a:r>
            <a:endParaRPr lang="en-AE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7559C4A-CC01-4E39-9E60-DA5A7359EFA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28" t="8567" r="3797"/>
          <a:stretch/>
        </p:blipFill>
        <p:spPr>
          <a:xfrm>
            <a:off x="1381759" y="444366"/>
            <a:ext cx="4541521" cy="5985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228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369F8-1DFE-7639-BD4E-1257085D2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9562" y="1059817"/>
            <a:ext cx="7805812" cy="555623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/>
              <a:t>Indications</a:t>
            </a:r>
            <a:endParaRPr lang="en-AE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4DF0F-64FA-60AC-A3B7-563C80ADA6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036414" y="2052115"/>
            <a:ext cx="3891960" cy="3997828"/>
          </a:xfrm>
        </p:spPr>
        <p:txBody>
          <a:bodyPr>
            <a:noAutofit/>
          </a:bodyPr>
          <a:lstStyle/>
          <a:p>
            <a:r>
              <a:rPr lang="en-US" dirty="0"/>
              <a:t>Oxygenation and ventilation abnormalities</a:t>
            </a:r>
          </a:p>
          <a:p>
            <a:r>
              <a:rPr lang="en-US" dirty="0"/>
              <a:t>Cyanosis with FiO</a:t>
            </a:r>
            <a:r>
              <a:rPr lang="en-US" sz="1400" dirty="0"/>
              <a:t>2</a:t>
            </a:r>
            <a:r>
              <a:rPr lang="en-US" dirty="0"/>
              <a:t>&gt;0.6</a:t>
            </a:r>
          </a:p>
          <a:p>
            <a:r>
              <a:rPr lang="en-US" dirty="0"/>
              <a:t>PAO</a:t>
            </a:r>
            <a:r>
              <a:rPr lang="en-US" sz="1400" dirty="0"/>
              <a:t>2 </a:t>
            </a:r>
            <a:r>
              <a:rPr lang="en-US" dirty="0"/>
              <a:t>&lt; 52mmHg with </a:t>
            </a:r>
            <a:br>
              <a:rPr lang="en-US" dirty="0"/>
            </a:br>
            <a:r>
              <a:rPr lang="en-US" dirty="0"/>
              <a:t>FiO</a:t>
            </a:r>
            <a:r>
              <a:rPr lang="en-US" sz="1400" dirty="0"/>
              <a:t>2 </a:t>
            </a:r>
            <a:r>
              <a:rPr lang="en-US" dirty="0"/>
              <a:t>&gt; 0.6</a:t>
            </a:r>
          </a:p>
          <a:p>
            <a:r>
              <a:rPr lang="en-US" dirty="0"/>
              <a:t>Failure to non invasively oxygenate</a:t>
            </a:r>
          </a:p>
          <a:p>
            <a:r>
              <a:rPr lang="en-US" dirty="0"/>
              <a:t>Excessive work of breathing</a:t>
            </a:r>
          </a:p>
          <a:p>
            <a:r>
              <a:rPr lang="en-US" dirty="0"/>
              <a:t>Apnea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5682C5-4CC0-0A74-CAC9-4FDD7C0F38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90640" y="2052114"/>
            <a:ext cx="3894222" cy="3997829"/>
          </a:xfrm>
        </p:spPr>
        <p:txBody>
          <a:bodyPr>
            <a:normAutofit/>
          </a:bodyPr>
          <a:lstStyle/>
          <a:p>
            <a:r>
              <a:rPr lang="en-US" dirty="0"/>
              <a:t>GCS&lt;8 to protect the airway</a:t>
            </a:r>
          </a:p>
          <a:p>
            <a:r>
              <a:rPr lang="en-US" sz="2000" dirty="0"/>
              <a:t>Rising Paco</a:t>
            </a:r>
            <a:r>
              <a:rPr lang="en-US" sz="1400" dirty="0"/>
              <a:t>2</a:t>
            </a:r>
            <a:r>
              <a:rPr lang="en-US" sz="2000" dirty="0"/>
              <a:t> and acidosis</a:t>
            </a:r>
          </a:p>
          <a:p>
            <a:r>
              <a:rPr lang="en-US" dirty="0"/>
              <a:t>Neuromuscular diseases</a:t>
            </a:r>
          </a:p>
          <a:p>
            <a:r>
              <a:rPr lang="en-US" dirty="0"/>
              <a:t>Respiratory Muscle dysfunction with respiratory muscle fatigue and chest wall abnormalities</a:t>
            </a:r>
          </a:p>
          <a:p>
            <a:r>
              <a:rPr lang="en-US" dirty="0"/>
              <a:t>Post Arrest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12037640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77B58-8A4B-569C-77E8-A0AE19C16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3678" y="1112857"/>
            <a:ext cx="4192526" cy="654984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Adverse Events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6143E5-91EC-4565-0264-99A5A9478A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1460" y="1980996"/>
            <a:ext cx="3515362" cy="3997828"/>
          </a:xfrm>
        </p:spPr>
        <p:txBody>
          <a:bodyPr>
            <a:noAutofit/>
          </a:bodyPr>
          <a:lstStyle/>
          <a:p>
            <a:r>
              <a:rPr lang="en-US" sz="2200" dirty="0"/>
              <a:t>Esophageal Intubation</a:t>
            </a:r>
          </a:p>
          <a:p>
            <a:r>
              <a:rPr lang="en-US" sz="2200" dirty="0"/>
              <a:t>Severe Desaturation</a:t>
            </a:r>
          </a:p>
          <a:p>
            <a:r>
              <a:rPr lang="en-US" sz="2200" dirty="0"/>
              <a:t>Hypotension</a:t>
            </a:r>
          </a:p>
          <a:p>
            <a:r>
              <a:rPr lang="en-US" sz="2200" dirty="0"/>
              <a:t>Laryngospasm</a:t>
            </a:r>
          </a:p>
          <a:p>
            <a:r>
              <a:rPr lang="en-US" sz="2200" dirty="0"/>
              <a:t>Air Leak</a:t>
            </a:r>
          </a:p>
          <a:p>
            <a:r>
              <a:rPr lang="en-US" sz="2200" dirty="0"/>
              <a:t>Cardiac Arrest</a:t>
            </a:r>
          </a:p>
          <a:p>
            <a:r>
              <a:rPr lang="en-US" sz="2200" dirty="0"/>
              <a:t>Mortality</a:t>
            </a:r>
            <a:endParaRPr lang="en-AE" sz="2200" dirty="0"/>
          </a:p>
        </p:txBody>
      </p:sp>
      <p:pic>
        <p:nvPicPr>
          <p:cNvPr id="3074" name="Picture 2" descr="Do You Know The Difference Between Heart Failure &amp; Cardiac Arrest?">
            <a:extLst>
              <a:ext uri="{FF2B5EF4-FFF2-40B4-BE49-F238E27FC236}">
                <a16:creationId xmlns:a16="http://schemas.microsoft.com/office/drawing/2014/main" id="{8C5767F0-8F0D-BDCA-77A8-00EED98EB1C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33" r="25278"/>
          <a:stretch/>
        </p:blipFill>
        <p:spPr bwMode="auto">
          <a:xfrm>
            <a:off x="6390640" y="543897"/>
            <a:ext cx="4348482" cy="5790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02080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67450-B41A-935D-8665-8467A2837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889" y="1021417"/>
            <a:ext cx="6003872" cy="553384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/>
              <a:t>Risk Factors</a:t>
            </a:r>
            <a:endParaRPr lang="en-AE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B996BE-7341-D1C0-7DFF-6AE2BA93A3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75759" y="1980996"/>
            <a:ext cx="7796540" cy="3997828"/>
          </a:xfrm>
        </p:spPr>
        <p:txBody>
          <a:bodyPr>
            <a:noAutofit/>
          </a:bodyPr>
          <a:lstStyle/>
          <a:p>
            <a:r>
              <a:rPr lang="en-US" sz="2400" dirty="0"/>
              <a:t>Respiratory Disease</a:t>
            </a:r>
          </a:p>
          <a:p>
            <a:r>
              <a:rPr lang="en-US" sz="2400" dirty="0"/>
              <a:t>Severity of illness and hemodynamic instability</a:t>
            </a:r>
          </a:p>
          <a:p>
            <a:r>
              <a:rPr lang="en-US" sz="2400" dirty="0"/>
              <a:t>History of difficult airway</a:t>
            </a:r>
          </a:p>
          <a:p>
            <a:r>
              <a:rPr lang="en-US" sz="2400" dirty="0"/>
              <a:t>Experience of the </a:t>
            </a:r>
            <a:r>
              <a:rPr lang="en-US" sz="2400" dirty="0" err="1"/>
              <a:t>Intubator</a:t>
            </a:r>
            <a:r>
              <a:rPr lang="en-US" sz="2400" dirty="0"/>
              <a:t>.</a:t>
            </a:r>
          </a:p>
          <a:p>
            <a:r>
              <a:rPr lang="en-US" sz="2400" dirty="0"/>
              <a:t>Lack of safety equipment (Capnography and alternative airway)</a:t>
            </a:r>
          </a:p>
          <a:p>
            <a:r>
              <a:rPr lang="en-US" sz="2400" dirty="0"/>
              <a:t>Lack of planning of the process</a:t>
            </a:r>
            <a:endParaRPr lang="en-AE" sz="2400" dirty="0"/>
          </a:p>
        </p:txBody>
      </p:sp>
    </p:spTree>
    <p:extLst>
      <p:ext uri="{BB962C8B-B14F-4D97-AF65-F5344CB8AC3E}">
        <p14:creationId xmlns:p14="http://schemas.microsoft.com/office/powerpoint/2010/main" val="38837511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0617B969-5463-A1A8-F87A-05D524EE45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8400" y="1349247"/>
            <a:ext cx="9948674" cy="5285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31F938E-DC30-2061-9A81-67DC6179D7AC}"/>
              </a:ext>
            </a:extLst>
          </p:cNvPr>
          <p:cNvSpPr txBox="1"/>
          <p:nvPr/>
        </p:nvSpPr>
        <p:spPr>
          <a:xfrm>
            <a:off x="2223946" y="381461"/>
            <a:ext cx="774410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EMERGENCY TRACHEAL INTUBATION CHECKLIST</a:t>
            </a:r>
          </a:p>
          <a:p>
            <a:pPr algn="ctr"/>
            <a:r>
              <a:rPr lang="en-US" dirty="0"/>
              <a:t>For team leader use prior to every Emergency Intubation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9950702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685FE-1160-D9F2-7CC1-D2FC8FB363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C28D71-1127-C897-CD97-15F7E1025B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E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A8922B-EB2B-CD5D-C280-99299EBB46F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59" b="66963"/>
          <a:stretch/>
        </p:blipFill>
        <p:spPr>
          <a:xfrm>
            <a:off x="1448097" y="473987"/>
            <a:ext cx="10284229" cy="5743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4605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F5F98-2109-01C6-1FDC-01CB9D0F2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E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E3E384E-5AC3-A428-B426-1D6B69A3E62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088" y="165648"/>
            <a:ext cx="9576752" cy="6526704"/>
          </a:xfrm>
        </p:spPr>
      </p:pic>
    </p:spTree>
    <p:extLst>
      <p:ext uri="{BB962C8B-B14F-4D97-AF65-F5344CB8AC3E}">
        <p14:creationId xmlns:p14="http://schemas.microsoft.com/office/powerpoint/2010/main" val="21248408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2923356-90F2-23D1-CD24-CDB571563F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1886" y="121430"/>
            <a:ext cx="7868227" cy="6615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55001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