
<file path=[Content_Types].xml><?xml version="1.0" encoding="utf-8"?>
<Types xmlns="http://schemas.openxmlformats.org/package/2006/content-types">
  <Default ContentType="image/gif" Extension="gif"/>
  <Default ContentType="image/svg+xml" Extension="svg"/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drawingml.diagramData+xml" PartName="/ppt/diagrams/data2.xml"/>
  <Override ContentType="application/vnd.openxmlformats-officedocument.drawingml.diagramData+xml" PartName="/ppt/diagrams/data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drawingml.diagramLayout+xml" PartName="/ppt/diagrams/layout2.xml"/>
  <Override ContentType="application/vnd.openxmlformats-officedocument.drawingml.diagramLayout+xml" PartName="/ppt/diagrams/layout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drawingml.diagramStyle+xml" PartName="/ppt/diagrams/quickStyle2.xml"/>
  <Override ContentType="application/vnd.openxmlformats-officedocument.drawingml.diagramStyle+xml" PartName="/ppt/diagrams/quickStyle1.xml"/>
  <Override ContentType="application/vnd.openxmlformats-officedocument.presentationml.presentation.main+xml" PartName="/ppt/presentation.xml"/>
  <Override ContentType="application/vnd.ms-office.drawingml.diagramDrawing+xml" PartName="/ppt/diagrams/drawing2.xml"/>
  <Override ContentType="application/vnd.ms-office.drawingml.diagramDrawing+xml" PartName="/ppt/diagrams/drawing1.xml"/>
  <Override ContentType="application/vnd.openxmlformats-officedocument.presentationml.presProps+xml" PartName="/ppt/presProps1.xml"/>
  <Override ContentType="application/vnd.openxmlformats-officedocument.drawingml.diagramColors+xml" PartName="/ppt/diagrams/colors2.xml"/>
  <Override ContentType="application/vnd.openxmlformats-officedocument.drawingml.diagramColors+xml" PartName="/ppt/diagrams/color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729E35-BE59-4FDB-B03E-1BE4E42813FF}" type="doc">
      <dgm:prSet loTypeId="urn:microsoft.com/office/officeart/2005/8/layout/default#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D0DF39-A4F4-4C11-B2B3-62208267D661}">
      <dgm:prSet phldr="0"/>
      <dgm:spPr/>
      <dgm:t>
        <a:bodyPr/>
        <a:lstStyle/>
        <a:p>
          <a:pPr algn="l" rtl="0"/>
          <a:r>
            <a:rPr lang="en-US" b="1" dirty="0">
              <a:solidFill>
                <a:srgbClr val="FF0000"/>
              </a:solidFill>
            </a:rPr>
            <a:t>Excessive thirst</a:t>
          </a:r>
          <a:r>
            <a:rPr lang="en-US" b="1" dirty="0">
              <a:solidFill>
                <a:srgbClr val="FF0000"/>
              </a:solidFill>
              <a:latin typeface="Arial" panose="020B0604020202020204"/>
            </a:rPr>
            <a:t>(POLYDIPSIA)</a:t>
          </a:r>
        </a:p>
      </dgm:t>
    </dgm:pt>
    <dgm:pt modelId="{5608DF7C-5494-4937-96FD-806E7E8B009D}" type="parTrans" cxnId="{B948D796-4904-40E1-B633-B16D8EAE029E}">
      <dgm:prSet/>
      <dgm:spPr/>
    </dgm:pt>
    <dgm:pt modelId="{E07F8115-99E0-4355-BD1D-A0F611A2ECDA}" type="sibTrans" cxnId="{B948D796-4904-40E1-B633-B16D8EAE029E}">
      <dgm:prSet/>
      <dgm:spPr/>
    </dgm:pt>
    <dgm:pt modelId="{3458B56D-D7DF-4685-A606-93955F7E32D1}">
      <dgm:prSet phldr="0"/>
      <dgm:spPr/>
      <dgm:t>
        <a:bodyPr/>
        <a:lstStyle/>
        <a:p>
          <a:pPr algn="l"/>
          <a:r>
            <a:rPr lang="en-US" b="1" dirty="0">
              <a:solidFill>
                <a:srgbClr val="FF0000"/>
              </a:solidFill>
            </a:rPr>
            <a:t>Frequent urination</a:t>
          </a:r>
          <a:r>
            <a:rPr lang="en-US" b="1" dirty="0">
              <a:solidFill>
                <a:srgbClr val="FF0000"/>
              </a:solidFill>
              <a:latin typeface="Arial" panose="020B0604020202020204"/>
            </a:rPr>
            <a:t>(POLYURIA)</a:t>
          </a:r>
          <a:endParaRPr lang="en-US" b="1" dirty="0">
            <a:solidFill>
              <a:srgbClr val="FF0000"/>
            </a:solidFill>
          </a:endParaRPr>
        </a:p>
      </dgm:t>
    </dgm:pt>
    <dgm:pt modelId="{D9201998-3FC2-4FD9-BFD4-B81B1B7ABFD2}" type="parTrans" cxnId="{E13FAED9-0A91-42D4-A0D1-F0B5A4FF1777}">
      <dgm:prSet/>
      <dgm:spPr/>
    </dgm:pt>
    <dgm:pt modelId="{5868B44C-5448-4799-B16C-3CEF74BD51E0}" type="sibTrans" cxnId="{E13FAED9-0A91-42D4-A0D1-F0B5A4FF1777}">
      <dgm:prSet/>
      <dgm:spPr/>
    </dgm:pt>
    <dgm:pt modelId="{16172B94-16FF-42CA-8AC8-C91D4434197D}">
      <dgm:prSet phldr="0"/>
      <dgm:spPr/>
      <dgm:t>
        <a:bodyPr/>
        <a:lstStyle/>
        <a:p>
          <a:pPr algn="l" rtl="0"/>
          <a:r>
            <a:rPr lang="en-US" b="1" dirty="0">
              <a:solidFill>
                <a:srgbClr val="FF0000"/>
              </a:solidFill>
            </a:rPr>
            <a:t>Nausea and vomiting</a:t>
          </a:r>
          <a:r>
            <a:rPr lang="en-US" b="1" dirty="0">
              <a:solidFill>
                <a:srgbClr val="FF0000"/>
              </a:solidFill>
              <a:latin typeface="Arial" panose="020B0604020202020204"/>
            </a:rPr>
            <a:t> (dehydration)</a:t>
          </a:r>
          <a:endParaRPr lang="en-US" b="1" dirty="0">
            <a:solidFill>
              <a:srgbClr val="FF0000"/>
            </a:solidFill>
          </a:endParaRPr>
        </a:p>
      </dgm:t>
    </dgm:pt>
    <dgm:pt modelId="{D5E738FC-2D82-4750-ADF0-EFD4DB5F67E2}" type="parTrans" cxnId="{5855F918-D3FB-4ED2-BA33-98983D7C959D}">
      <dgm:prSet/>
      <dgm:spPr/>
    </dgm:pt>
    <dgm:pt modelId="{FC8A105E-460C-404C-B875-320E9D1C1646}" type="sibTrans" cxnId="{5855F918-D3FB-4ED2-BA33-98983D7C959D}">
      <dgm:prSet/>
      <dgm:spPr/>
    </dgm:pt>
    <dgm:pt modelId="{EFE60BA5-15A2-4D31-9FEF-AE8E55CA4DD6}">
      <dgm:prSet phldr="0"/>
      <dgm:spPr/>
      <dgm:t>
        <a:bodyPr/>
        <a:lstStyle/>
        <a:p>
          <a:pPr algn="l"/>
          <a:r>
            <a:rPr lang="en-US" b="1" dirty="0">
              <a:solidFill>
                <a:srgbClr val="FF0000"/>
              </a:solidFill>
            </a:rPr>
            <a:t>Stomach pain</a:t>
          </a:r>
        </a:p>
      </dgm:t>
    </dgm:pt>
    <dgm:pt modelId="{C090AA31-5E8C-423C-9F0D-ED80BA9DF416}" type="parTrans" cxnId="{E8A2B3BC-E165-4BBB-AC68-D50CB00938D2}">
      <dgm:prSet/>
      <dgm:spPr/>
    </dgm:pt>
    <dgm:pt modelId="{62809BCD-B24F-46D4-A9F3-1893D4E08019}" type="sibTrans" cxnId="{E8A2B3BC-E165-4BBB-AC68-D50CB00938D2}">
      <dgm:prSet/>
      <dgm:spPr/>
    </dgm:pt>
    <dgm:pt modelId="{95DFE9C3-B9EA-4685-BFB2-73E780AD6FB8}">
      <dgm:prSet phldr="0"/>
      <dgm:spPr/>
      <dgm:t>
        <a:bodyPr/>
        <a:lstStyle/>
        <a:p>
          <a:pPr algn="l"/>
          <a:r>
            <a:rPr lang="en-US" b="1" dirty="0">
              <a:solidFill>
                <a:srgbClr val="FF0000"/>
              </a:solidFill>
            </a:rPr>
            <a:t>Weakness or fatigue</a:t>
          </a:r>
        </a:p>
      </dgm:t>
    </dgm:pt>
    <dgm:pt modelId="{C4C64923-A76A-49E4-91B7-645B09229AB9}" type="parTrans" cxnId="{A578F1FF-2B3F-4B2C-B158-27FC9B894E2F}">
      <dgm:prSet/>
      <dgm:spPr/>
    </dgm:pt>
    <dgm:pt modelId="{DB65D57E-C2A1-40C0-A8AB-149C66FFD52F}" type="sibTrans" cxnId="{A578F1FF-2B3F-4B2C-B158-27FC9B894E2F}">
      <dgm:prSet/>
      <dgm:spPr/>
    </dgm:pt>
    <dgm:pt modelId="{9C1F6E1B-A92B-4CE5-B19F-CBA711F06911}">
      <dgm:prSet phldr="0"/>
      <dgm:spPr/>
      <dgm:t>
        <a:bodyPr/>
        <a:lstStyle/>
        <a:p>
          <a:pPr algn="l"/>
          <a:r>
            <a:rPr lang="en-US" b="1" dirty="0">
              <a:solidFill>
                <a:srgbClr val="FF0000"/>
              </a:solidFill>
            </a:rPr>
            <a:t>Shortness of breath</a:t>
          </a:r>
        </a:p>
      </dgm:t>
    </dgm:pt>
    <dgm:pt modelId="{8793FFF6-A36F-4293-ACC8-4EE74ABE6BC5}" type="parTrans" cxnId="{D175FDD1-6BF8-4B1A-B25C-F0C8EDDC7D16}">
      <dgm:prSet/>
      <dgm:spPr/>
    </dgm:pt>
    <dgm:pt modelId="{88400B4D-9BC6-42A6-97B6-147C286C214E}" type="sibTrans" cxnId="{D175FDD1-6BF8-4B1A-B25C-F0C8EDDC7D16}">
      <dgm:prSet/>
      <dgm:spPr/>
    </dgm:pt>
    <dgm:pt modelId="{EBF85155-2821-4444-B40A-425C9F683940}">
      <dgm:prSet phldr="0"/>
      <dgm:spPr/>
      <dgm:t>
        <a:bodyPr/>
        <a:lstStyle/>
        <a:p>
          <a:pPr algn="l" rtl="0"/>
          <a:r>
            <a:rPr lang="en-US" b="1" dirty="0">
              <a:solidFill>
                <a:srgbClr val="FF0000"/>
              </a:solidFill>
              <a:latin typeface="Arial" panose="020B0604020202020204"/>
            </a:rPr>
            <a:t>Acetone smell breath</a:t>
          </a:r>
          <a:endParaRPr lang="en-US" b="1" dirty="0">
            <a:solidFill>
              <a:srgbClr val="FF0000"/>
            </a:solidFill>
          </a:endParaRPr>
        </a:p>
      </dgm:t>
    </dgm:pt>
    <dgm:pt modelId="{2133E18D-B5A7-4F29-8362-F85938EC244C}" type="parTrans" cxnId="{90612AAB-40C3-43A6-BA79-519557AC0CC7}">
      <dgm:prSet/>
      <dgm:spPr/>
    </dgm:pt>
    <dgm:pt modelId="{A80764D5-D6E0-4C9D-B0C0-EF7E0B56A85D}" type="sibTrans" cxnId="{90612AAB-40C3-43A6-BA79-519557AC0CC7}">
      <dgm:prSet/>
      <dgm:spPr/>
    </dgm:pt>
    <dgm:pt modelId="{4DB89863-6871-4C21-8856-AAA603CAB252}">
      <dgm:prSet phldr="0"/>
      <dgm:spPr/>
      <dgm:t>
        <a:bodyPr/>
        <a:lstStyle/>
        <a:p>
          <a:pPr algn="l"/>
          <a:r>
            <a:rPr lang="en-US" b="1" dirty="0">
              <a:solidFill>
                <a:srgbClr val="FF0000"/>
              </a:solidFill>
            </a:rPr>
            <a:t>Confusion</a:t>
          </a:r>
        </a:p>
      </dgm:t>
    </dgm:pt>
    <dgm:pt modelId="{B1220A19-E989-4EC3-8C57-FE637046BF81}" type="parTrans" cxnId="{39CF8596-093C-4446-9EC3-BB308585E904}">
      <dgm:prSet/>
      <dgm:spPr/>
    </dgm:pt>
    <dgm:pt modelId="{EAD4A929-756B-475A-8C0C-7E36972768E3}" type="sibTrans" cxnId="{39CF8596-093C-4446-9EC3-BB308585E904}">
      <dgm:prSet/>
      <dgm:spPr/>
    </dgm:pt>
    <dgm:pt modelId="{2E8F99C0-8CD0-42E2-8FB9-FD7197301403}">
      <dgm:prSet phldr="0"/>
      <dgm:spPr/>
      <dgm:t>
        <a:bodyPr/>
        <a:lstStyle/>
        <a:p>
          <a:pPr algn="l" rtl="0"/>
          <a:r>
            <a:rPr lang="en-US" b="1" dirty="0">
              <a:solidFill>
                <a:srgbClr val="FF0000"/>
              </a:solidFill>
            </a:rPr>
            <a:t>High blood sugar level</a:t>
          </a:r>
          <a:endParaRPr lang="en-US" b="1" dirty="0">
            <a:solidFill>
              <a:srgbClr val="FF0000"/>
            </a:solidFill>
            <a:latin typeface="Arial" panose="020B0604020202020204"/>
          </a:endParaRPr>
        </a:p>
      </dgm:t>
    </dgm:pt>
    <dgm:pt modelId="{57D5FD1A-7A19-430D-8EFA-027D90994AD8}" type="parTrans" cxnId="{42BCAF9B-4FF0-458D-AEF9-8E990EA9474B}">
      <dgm:prSet/>
      <dgm:spPr/>
    </dgm:pt>
    <dgm:pt modelId="{B63770D2-AC05-4B09-A8DD-5CA08514E3D9}" type="sibTrans" cxnId="{42BCAF9B-4FF0-458D-AEF9-8E990EA9474B}">
      <dgm:prSet/>
      <dgm:spPr/>
    </dgm:pt>
    <dgm:pt modelId="{3F3A2017-876C-4E86-8EDF-AC968942EBBE}">
      <dgm:prSet phldr="0"/>
      <dgm:spPr/>
      <dgm:t>
        <a:bodyPr/>
        <a:lstStyle/>
        <a:p>
          <a:pPr algn="l"/>
          <a:r>
            <a:rPr lang="en-US" b="1" dirty="0">
              <a:solidFill>
                <a:srgbClr val="FF0000"/>
              </a:solidFill>
            </a:rPr>
            <a:t>High ketone levels in your urine</a:t>
          </a:r>
        </a:p>
      </dgm:t>
    </dgm:pt>
    <dgm:pt modelId="{2598D250-8718-4705-8000-0F91FAFDCDDB}" type="parTrans" cxnId="{293A3165-83D3-403C-9099-DFC05A03D158}">
      <dgm:prSet/>
      <dgm:spPr/>
    </dgm:pt>
    <dgm:pt modelId="{E930218D-6D04-4506-8A36-A35C2C8559AE}" type="sibTrans" cxnId="{293A3165-83D3-403C-9099-DFC05A03D158}">
      <dgm:prSet/>
      <dgm:spPr/>
    </dgm:pt>
    <dgm:pt modelId="{F00DBED6-0D08-4CED-8A13-507CA2A18800}" type="pres">
      <dgm:prSet presAssocID="{1A729E35-BE59-4FDB-B03E-1BE4E42813F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8B83632-B749-4441-A485-3953D6443BAF}" type="pres">
      <dgm:prSet presAssocID="{57D0DF39-A4F4-4C11-B2B3-62208267D661}" presName="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C18568-5C9E-4D11-BD73-582EA02C9C1E}" type="pres">
      <dgm:prSet presAssocID="{E07F8115-99E0-4355-BD1D-A0F611A2ECDA}" presName="sibTrans" presStyleCnt="0"/>
      <dgm:spPr/>
    </dgm:pt>
    <dgm:pt modelId="{DD878897-802A-4245-AE1A-EF283C2EE79A}" type="pres">
      <dgm:prSet presAssocID="{3458B56D-D7DF-4685-A606-93955F7E32D1}" presName="node" presStyleLbl="node1" presStyleIdx="1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3E2FB7-32CB-4D4A-A9A9-56A89CBFCF0E}" type="pres">
      <dgm:prSet presAssocID="{5868B44C-5448-4799-B16C-3CEF74BD51E0}" presName="sibTrans" presStyleCnt="0"/>
      <dgm:spPr/>
    </dgm:pt>
    <dgm:pt modelId="{B4F7DC95-7AFA-408F-9AE7-05F8D4656B16}" type="pres">
      <dgm:prSet presAssocID="{16172B94-16FF-42CA-8AC8-C91D4434197D}" presName="node" presStyleLbl="node1" presStyleIdx="2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892FF6-F1E4-48E2-93D7-BE3FA29C6054}" type="pres">
      <dgm:prSet presAssocID="{FC8A105E-460C-404C-B875-320E9D1C1646}" presName="sibTrans" presStyleCnt="0"/>
      <dgm:spPr/>
    </dgm:pt>
    <dgm:pt modelId="{2AF17ABA-FBB8-47AC-A932-F12BDC520AE8}" type="pres">
      <dgm:prSet presAssocID="{EFE60BA5-15A2-4D31-9FEF-AE8E55CA4DD6}" presName="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FB8DEF-8E3B-4B5E-A0AE-14652BFC9504}" type="pres">
      <dgm:prSet presAssocID="{62809BCD-B24F-46D4-A9F3-1893D4E08019}" presName="sibTrans" presStyleCnt="0"/>
      <dgm:spPr/>
    </dgm:pt>
    <dgm:pt modelId="{5B7F19AE-DF4F-4CC9-BBDC-143B8DC0E6FD}" type="pres">
      <dgm:prSet presAssocID="{95DFE9C3-B9EA-4685-BFB2-73E780AD6FB8}" presName="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807F8F-A178-4406-A4D8-237B32B419FB}" type="pres">
      <dgm:prSet presAssocID="{DB65D57E-C2A1-40C0-A8AB-149C66FFD52F}" presName="sibTrans" presStyleCnt="0"/>
      <dgm:spPr/>
    </dgm:pt>
    <dgm:pt modelId="{B774BAD0-755E-46E8-AD89-EBC123E98F34}" type="pres">
      <dgm:prSet presAssocID="{9C1F6E1B-A92B-4CE5-B19F-CBA711F06911}" presName="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44402D-9CDF-4D0C-851C-42DE553B1316}" type="pres">
      <dgm:prSet presAssocID="{88400B4D-9BC6-42A6-97B6-147C286C214E}" presName="sibTrans" presStyleCnt="0"/>
      <dgm:spPr/>
    </dgm:pt>
    <dgm:pt modelId="{0B79C7E6-9074-4897-B10D-1C4B798FFDF3}" type="pres">
      <dgm:prSet presAssocID="{EBF85155-2821-4444-B40A-425C9F683940}" presName="node" presStyleLbl="node1" presStyleIdx="6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A2EE0F-2325-46C8-8DE7-5A74C7EECABA}" type="pres">
      <dgm:prSet presAssocID="{A80764D5-D6E0-4C9D-B0C0-EF7E0B56A85D}" presName="sibTrans" presStyleCnt="0"/>
      <dgm:spPr/>
    </dgm:pt>
    <dgm:pt modelId="{D0FDCAFD-2433-4BEC-B5D5-A4D5EA904AA9}" type="pres">
      <dgm:prSet presAssocID="{4DB89863-6871-4C21-8856-AAA603CAB252}" presName="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5E07FD-3272-4939-91F8-1BDD654377B1}" type="pres">
      <dgm:prSet presAssocID="{EAD4A929-756B-475A-8C0C-7E36972768E3}" presName="sibTrans" presStyleCnt="0"/>
      <dgm:spPr/>
    </dgm:pt>
    <dgm:pt modelId="{ADEF236B-48F4-4AC4-A04F-19EF31E8C68A}" type="pres">
      <dgm:prSet presAssocID="{2E8F99C0-8CD0-42E2-8FB9-FD7197301403}" presName="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CBA5B0-56E6-4B3D-9801-0AD41975B170}" type="pres">
      <dgm:prSet presAssocID="{B63770D2-AC05-4B09-A8DD-5CA08514E3D9}" presName="sibTrans" presStyleCnt="0"/>
      <dgm:spPr/>
    </dgm:pt>
    <dgm:pt modelId="{413B9CAF-527B-42AA-9CAE-118214113008}" type="pres">
      <dgm:prSet presAssocID="{3F3A2017-876C-4E86-8EDF-AC968942EBBE}" presName="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A306751-4038-4EFF-B615-DC6BE121963E}" type="presOf" srcId="{3458B56D-D7DF-4685-A606-93955F7E32D1}" destId="{DD878897-802A-4245-AE1A-EF283C2EE79A}" srcOrd="0" destOrd="0" presId="urn:microsoft.com/office/officeart/2005/8/layout/default#7"/>
    <dgm:cxn modelId="{A578F1FF-2B3F-4B2C-B158-27FC9B894E2F}" srcId="{1A729E35-BE59-4FDB-B03E-1BE4E42813FF}" destId="{95DFE9C3-B9EA-4685-BFB2-73E780AD6FB8}" srcOrd="4" destOrd="0" parTransId="{C4C64923-A76A-49E4-91B7-645B09229AB9}" sibTransId="{DB65D57E-C2A1-40C0-A8AB-149C66FFD52F}"/>
    <dgm:cxn modelId="{373EC939-E5A9-47A7-B671-D61F22441A36}" type="presOf" srcId="{95DFE9C3-B9EA-4685-BFB2-73E780AD6FB8}" destId="{5B7F19AE-DF4F-4CC9-BBDC-143B8DC0E6FD}" srcOrd="0" destOrd="0" presId="urn:microsoft.com/office/officeart/2005/8/layout/default#7"/>
    <dgm:cxn modelId="{30358426-BDB7-486B-84D1-ACB40FF971E4}" type="presOf" srcId="{EFE60BA5-15A2-4D31-9FEF-AE8E55CA4DD6}" destId="{2AF17ABA-FBB8-47AC-A932-F12BDC520AE8}" srcOrd="0" destOrd="0" presId="urn:microsoft.com/office/officeart/2005/8/layout/default#7"/>
    <dgm:cxn modelId="{504C1D8F-FDF9-44B1-B917-DC398926D06D}" type="presOf" srcId="{1A729E35-BE59-4FDB-B03E-1BE4E42813FF}" destId="{F00DBED6-0D08-4CED-8A13-507CA2A18800}" srcOrd="0" destOrd="0" presId="urn:microsoft.com/office/officeart/2005/8/layout/default#7"/>
    <dgm:cxn modelId="{E13FAED9-0A91-42D4-A0D1-F0B5A4FF1777}" srcId="{1A729E35-BE59-4FDB-B03E-1BE4E42813FF}" destId="{3458B56D-D7DF-4685-A606-93955F7E32D1}" srcOrd="1" destOrd="0" parTransId="{D9201998-3FC2-4FD9-BFD4-B81B1B7ABFD2}" sibTransId="{5868B44C-5448-4799-B16C-3CEF74BD51E0}"/>
    <dgm:cxn modelId="{90612AAB-40C3-43A6-BA79-519557AC0CC7}" srcId="{1A729E35-BE59-4FDB-B03E-1BE4E42813FF}" destId="{EBF85155-2821-4444-B40A-425C9F683940}" srcOrd="6" destOrd="0" parTransId="{2133E18D-B5A7-4F29-8362-F85938EC244C}" sibTransId="{A80764D5-D6E0-4C9D-B0C0-EF7E0B56A85D}"/>
    <dgm:cxn modelId="{39CF8596-093C-4446-9EC3-BB308585E904}" srcId="{1A729E35-BE59-4FDB-B03E-1BE4E42813FF}" destId="{4DB89863-6871-4C21-8856-AAA603CAB252}" srcOrd="7" destOrd="0" parTransId="{B1220A19-E989-4EC3-8C57-FE637046BF81}" sibTransId="{EAD4A929-756B-475A-8C0C-7E36972768E3}"/>
    <dgm:cxn modelId="{2121D086-CEBF-4B05-8F88-C2D1E08D5EA8}" type="presOf" srcId="{4DB89863-6871-4C21-8856-AAA603CAB252}" destId="{D0FDCAFD-2433-4BEC-B5D5-A4D5EA904AA9}" srcOrd="0" destOrd="0" presId="urn:microsoft.com/office/officeart/2005/8/layout/default#7"/>
    <dgm:cxn modelId="{CAC2E053-036A-448D-90C6-B215CDA6AE95}" type="presOf" srcId="{9C1F6E1B-A92B-4CE5-B19F-CBA711F06911}" destId="{B774BAD0-755E-46E8-AD89-EBC123E98F34}" srcOrd="0" destOrd="0" presId="urn:microsoft.com/office/officeart/2005/8/layout/default#7"/>
    <dgm:cxn modelId="{D175FDD1-6BF8-4B1A-B25C-F0C8EDDC7D16}" srcId="{1A729E35-BE59-4FDB-B03E-1BE4E42813FF}" destId="{9C1F6E1B-A92B-4CE5-B19F-CBA711F06911}" srcOrd="5" destOrd="0" parTransId="{8793FFF6-A36F-4293-ACC8-4EE74ABE6BC5}" sibTransId="{88400B4D-9BC6-42A6-97B6-147C286C214E}"/>
    <dgm:cxn modelId="{7D81A88A-C94A-4872-BAF0-F7842E8F703E}" type="presOf" srcId="{2E8F99C0-8CD0-42E2-8FB9-FD7197301403}" destId="{ADEF236B-48F4-4AC4-A04F-19EF31E8C68A}" srcOrd="0" destOrd="0" presId="urn:microsoft.com/office/officeart/2005/8/layout/default#7"/>
    <dgm:cxn modelId="{42BCAF9B-4FF0-458D-AEF9-8E990EA9474B}" srcId="{1A729E35-BE59-4FDB-B03E-1BE4E42813FF}" destId="{2E8F99C0-8CD0-42E2-8FB9-FD7197301403}" srcOrd="8" destOrd="0" parTransId="{57D5FD1A-7A19-430D-8EFA-027D90994AD8}" sibTransId="{B63770D2-AC05-4B09-A8DD-5CA08514E3D9}"/>
    <dgm:cxn modelId="{C5A81F6A-4E00-4B68-9C55-E78693E25395}" type="presOf" srcId="{EBF85155-2821-4444-B40A-425C9F683940}" destId="{0B79C7E6-9074-4897-B10D-1C4B798FFDF3}" srcOrd="0" destOrd="0" presId="urn:microsoft.com/office/officeart/2005/8/layout/default#7"/>
    <dgm:cxn modelId="{CBAA5EF9-8AE2-4922-98F7-F50902E9B846}" type="presOf" srcId="{3F3A2017-876C-4E86-8EDF-AC968942EBBE}" destId="{413B9CAF-527B-42AA-9CAE-118214113008}" srcOrd="0" destOrd="0" presId="urn:microsoft.com/office/officeart/2005/8/layout/default#7"/>
    <dgm:cxn modelId="{293A3165-83D3-403C-9099-DFC05A03D158}" srcId="{1A729E35-BE59-4FDB-B03E-1BE4E42813FF}" destId="{3F3A2017-876C-4E86-8EDF-AC968942EBBE}" srcOrd="9" destOrd="0" parTransId="{2598D250-8718-4705-8000-0F91FAFDCDDB}" sibTransId="{E930218D-6D04-4506-8A36-A35C2C8559AE}"/>
    <dgm:cxn modelId="{800C3FD9-4E44-491D-8708-2B70F4384207}" type="presOf" srcId="{57D0DF39-A4F4-4C11-B2B3-62208267D661}" destId="{78B83632-B749-4441-A485-3953D6443BAF}" srcOrd="0" destOrd="0" presId="urn:microsoft.com/office/officeart/2005/8/layout/default#7"/>
    <dgm:cxn modelId="{E8A2B3BC-E165-4BBB-AC68-D50CB00938D2}" srcId="{1A729E35-BE59-4FDB-B03E-1BE4E42813FF}" destId="{EFE60BA5-15A2-4D31-9FEF-AE8E55CA4DD6}" srcOrd="3" destOrd="0" parTransId="{C090AA31-5E8C-423C-9F0D-ED80BA9DF416}" sibTransId="{62809BCD-B24F-46D4-A9F3-1893D4E08019}"/>
    <dgm:cxn modelId="{B948D796-4904-40E1-B633-B16D8EAE029E}" srcId="{1A729E35-BE59-4FDB-B03E-1BE4E42813FF}" destId="{57D0DF39-A4F4-4C11-B2B3-62208267D661}" srcOrd="0" destOrd="0" parTransId="{5608DF7C-5494-4937-96FD-806E7E8B009D}" sibTransId="{E07F8115-99E0-4355-BD1D-A0F611A2ECDA}"/>
    <dgm:cxn modelId="{5653C14B-1806-4F7D-A0CC-F54E6F0D1741}" type="presOf" srcId="{16172B94-16FF-42CA-8AC8-C91D4434197D}" destId="{B4F7DC95-7AFA-408F-9AE7-05F8D4656B16}" srcOrd="0" destOrd="0" presId="urn:microsoft.com/office/officeart/2005/8/layout/default#7"/>
    <dgm:cxn modelId="{5855F918-D3FB-4ED2-BA33-98983D7C959D}" srcId="{1A729E35-BE59-4FDB-B03E-1BE4E42813FF}" destId="{16172B94-16FF-42CA-8AC8-C91D4434197D}" srcOrd="2" destOrd="0" parTransId="{D5E738FC-2D82-4750-ADF0-EFD4DB5F67E2}" sibTransId="{FC8A105E-460C-404C-B875-320E9D1C1646}"/>
    <dgm:cxn modelId="{2A362E15-95D4-4D08-A45B-AA70BEE75B5D}" type="presParOf" srcId="{F00DBED6-0D08-4CED-8A13-507CA2A18800}" destId="{78B83632-B749-4441-A485-3953D6443BAF}" srcOrd="0" destOrd="0" presId="urn:microsoft.com/office/officeart/2005/8/layout/default#7"/>
    <dgm:cxn modelId="{30F25D56-BC85-45B0-9E04-E97E46C89E7D}" type="presParOf" srcId="{F00DBED6-0D08-4CED-8A13-507CA2A18800}" destId="{51C18568-5C9E-4D11-BD73-582EA02C9C1E}" srcOrd="1" destOrd="0" presId="urn:microsoft.com/office/officeart/2005/8/layout/default#7"/>
    <dgm:cxn modelId="{D5138728-CAF3-4928-AB6A-03C3149DB368}" type="presParOf" srcId="{F00DBED6-0D08-4CED-8A13-507CA2A18800}" destId="{DD878897-802A-4245-AE1A-EF283C2EE79A}" srcOrd="2" destOrd="0" presId="urn:microsoft.com/office/officeart/2005/8/layout/default#7"/>
    <dgm:cxn modelId="{FE32A84C-7E9A-4714-8528-6D0107D5D207}" type="presParOf" srcId="{F00DBED6-0D08-4CED-8A13-507CA2A18800}" destId="{E13E2FB7-32CB-4D4A-A9A9-56A89CBFCF0E}" srcOrd="3" destOrd="0" presId="urn:microsoft.com/office/officeart/2005/8/layout/default#7"/>
    <dgm:cxn modelId="{729A2763-789F-4B29-8C8F-6A316B1E77EC}" type="presParOf" srcId="{F00DBED6-0D08-4CED-8A13-507CA2A18800}" destId="{B4F7DC95-7AFA-408F-9AE7-05F8D4656B16}" srcOrd="4" destOrd="0" presId="urn:microsoft.com/office/officeart/2005/8/layout/default#7"/>
    <dgm:cxn modelId="{16F63DD0-A812-4C79-85C6-7B29DBD84430}" type="presParOf" srcId="{F00DBED6-0D08-4CED-8A13-507CA2A18800}" destId="{A6892FF6-F1E4-48E2-93D7-BE3FA29C6054}" srcOrd="5" destOrd="0" presId="urn:microsoft.com/office/officeart/2005/8/layout/default#7"/>
    <dgm:cxn modelId="{7E8DB9B0-D3DB-4F96-974E-36A6F25DA566}" type="presParOf" srcId="{F00DBED6-0D08-4CED-8A13-507CA2A18800}" destId="{2AF17ABA-FBB8-47AC-A932-F12BDC520AE8}" srcOrd="6" destOrd="0" presId="urn:microsoft.com/office/officeart/2005/8/layout/default#7"/>
    <dgm:cxn modelId="{0EED2BCB-1C57-4ACB-BB65-0650362679D2}" type="presParOf" srcId="{F00DBED6-0D08-4CED-8A13-507CA2A18800}" destId="{E6FB8DEF-8E3B-4B5E-A0AE-14652BFC9504}" srcOrd="7" destOrd="0" presId="urn:microsoft.com/office/officeart/2005/8/layout/default#7"/>
    <dgm:cxn modelId="{AB20C0C3-1E3C-442D-9DBA-B4F9096920CA}" type="presParOf" srcId="{F00DBED6-0D08-4CED-8A13-507CA2A18800}" destId="{5B7F19AE-DF4F-4CC9-BBDC-143B8DC0E6FD}" srcOrd="8" destOrd="0" presId="urn:microsoft.com/office/officeart/2005/8/layout/default#7"/>
    <dgm:cxn modelId="{2C0C7412-7049-41FD-A762-50D00B24E572}" type="presParOf" srcId="{F00DBED6-0D08-4CED-8A13-507CA2A18800}" destId="{46807F8F-A178-4406-A4D8-237B32B419FB}" srcOrd="9" destOrd="0" presId="urn:microsoft.com/office/officeart/2005/8/layout/default#7"/>
    <dgm:cxn modelId="{FE919A4E-2589-4F8E-9C46-78645F9CA6D7}" type="presParOf" srcId="{F00DBED6-0D08-4CED-8A13-507CA2A18800}" destId="{B774BAD0-755E-46E8-AD89-EBC123E98F34}" srcOrd="10" destOrd="0" presId="urn:microsoft.com/office/officeart/2005/8/layout/default#7"/>
    <dgm:cxn modelId="{16037990-1003-4B2D-89CB-5C3C037C25A8}" type="presParOf" srcId="{F00DBED6-0D08-4CED-8A13-507CA2A18800}" destId="{A644402D-9CDF-4D0C-851C-42DE553B1316}" srcOrd="11" destOrd="0" presId="urn:microsoft.com/office/officeart/2005/8/layout/default#7"/>
    <dgm:cxn modelId="{579CD0E0-A9D7-44AF-8B8F-47C74DD4BF6B}" type="presParOf" srcId="{F00DBED6-0D08-4CED-8A13-507CA2A18800}" destId="{0B79C7E6-9074-4897-B10D-1C4B798FFDF3}" srcOrd="12" destOrd="0" presId="urn:microsoft.com/office/officeart/2005/8/layout/default#7"/>
    <dgm:cxn modelId="{D67D807F-2789-445F-8689-401B9BE1E8CB}" type="presParOf" srcId="{F00DBED6-0D08-4CED-8A13-507CA2A18800}" destId="{DAA2EE0F-2325-46C8-8DE7-5A74C7EECABA}" srcOrd="13" destOrd="0" presId="urn:microsoft.com/office/officeart/2005/8/layout/default#7"/>
    <dgm:cxn modelId="{4D1EF45F-87CD-44A6-A601-8A01578CF3F7}" type="presParOf" srcId="{F00DBED6-0D08-4CED-8A13-507CA2A18800}" destId="{D0FDCAFD-2433-4BEC-B5D5-A4D5EA904AA9}" srcOrd="14" destOrd="0" presId="urn:microsoft.com/office/officeart/2005/8/layout/default#7"/>
    <dgm:cxn modelId="{5FEB6BD2-8A95-48CC-9946-6B9FA5075A5A}" type="presParOf" srcId="{F00DBED6-0D08-4CED-8A13-507CA2A18800}" destId="{D65E07FD-3272-4939-91F8-1BDD654377B1}" srcOrd="15" destOrd="0" presId="urn:microsoft.com/office/officeart/2005/8/layout/default#7"/>
    <dgm:cxn modelId="{EA8FD5DF-FF55-4539-B191-6EC4C161B7FA}" type="presParOf" srcId="{F00DBED6-0D08-4CED-8A13-507CA2A18800}" destId="{ADEF236B-48F4-4AC4-A04F-19EF31E8C68A}" srcOrd="16" destOrd="0" presId="urn:microsoft.com/office/officeart/2005/8/layout/default#7"/>
    <dgm:cxn modelId="{4BBA28E2-1FDA-488D-B466-843C05E49E74}" type="presParOf" srcId="{F00DBED6-0D08-4CED-8A13-507CA2A18800}" destId="{EACBA5B0-56E6-4B3D-9801-0AD41975B170}" srcOrd="17" destOrd="0" presId="urn:microsoft.com/office/officeart/2005/8/layout/default#7"/>
    <dgm:cxn modelId="{257202E5-F0F6-409A-9854-8F4025976CC3}" type="presParOf" srcId="{F00DBED6-0D08-4CED-8A13-507CA2A18800}" destId="{413B9CAF-527B-42AA-9CAE-118214113008}" srcOrd="18" destOrd="0" presId="urn:microsoft.com/office/officeart/2005/8/layout/default#7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729E35-BE59-4FDB-B03E-1BE4E42813FF}" type="doc">
      <dgm:prSet loTypeId="urn:microsoft.com/office/officeart/2005/8/layout/default#8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204923-EAF2-4695-AF2F-6A4432741CC0}">
      <dgm:prSet phldr="0"/>
      <dgm:spPr/>
      <dgm:t>
        <a:bodyPr/>
        <a:lstStyle/>
        <a:p>
          <a:pPr algn="l"/>
          <a:r>
            <a:rPr lang="en-US" dirty="0">
              <a:solidFill>
                <a:srgbClr val="FF0000"/>
              </a:solidFill>
              <a:latin typeface="Cambria"/>
              <a:ea typeface="Cambria"/>
            </a:rPr>
            <a:t>Pregnancy</a:t>
          </a:r>
        </a:p>
      </dgm:t>
    </dgm:pt>
    <dgm:pt modelId="{ECA61DFF-8268-4D5A-869B-6EA0D7B77A7F}" type="parTrans" cxnId="{3DDFC919-E562-48DD-94C8-6EF4ED6B4D9D}">
      <dgm:prSet/>
      <dgm:spPr/>
    </dgm:pt>
    <dgm:pt modelId="{9B2E9B78-1A36-4D03-A087-1D32A7D8444C}" type="sibTrans" cxnId="{3DDFC919-E562-48DD-94C8-6EF4ED6B4D9D}">
      <dgm:prSet/>
      <dgm:spPr/>
    </dgm:pt>
    <dgm:pt modelId="{7E6B244E-17A5-40D8-A232-971EC6ABA382}">
      <dgm:prSet phldr="0"/>
      <dgm:spPr/>
      <dgm:t>
        <a:bodyPr/>
        <a:lstStyle/>
        <a:p>
          <a:pPr algn="l"/>
          <a:r>
            <a:rPr lang="en-US" dirty="0">
              <a:solidFill>
                <a:srgbClr val="FF0000"/>
              </a:solidFill>
              <a:latin typeface="Cambria"/>
              <a:ea typeface="Cambria"/>
            </a:rPr>
            <a:t>Alcohol or drug abuse, particularly cocaine</a:t>
          </a:r>
        </a:p>
      </dgm:t>
    </dgm:pt>
    <dgm:pt modelId="{83117D4A-F920-42FB-B31A-EE093BEE7277}" type="parTrans" cxnId="{42983975-4799-4BF6-8412-3065E1C5D2D9}">
      <dgm:prSet/>
      <dgm:spPr/>
    </dgm:pt>
    <dgm:pt modelId="{E722D494-1991-448C-9AC4-0D9BBE279860}" type="sibTrans" cxnId="{42983975-4799-4BF6-8412-3065E1C5D2D9}">
      <dgm:prSet/>
      <dgm:spPr/>
    </dgm:pt>
    <dgm:pt modelId="{8B5F62CF-BC2C-44D7-98E5-FA3C267FF8B8}">
      <dgm:prSet phldr="0"/>
      <dgm:spPr/>
      <dgm:t>
        <a:bodyPr/>
        <a:lstStyle/>
        <a:p>
          <a:pPr algn="l"/>
          <a:r>
            <a:rPr lang="en-US" dirty="0">
              <a:solidFill>
                <a:srgbClr val="FF0000"/>
              </a:solidFill>
              <a:latin typeface="Cambria"/>
              <a:ea typeface="Cambria"/>
            </a:rPr>
            <a:t>Certain medications, such as corticosteroids and some diuretics</a:t>
          </a:r>
        </a:p>
      </dgm:t>
    </dgm:pt>
    <dgm:pt modelId="{C5F2D1FF-264A-491B-A96E-E178679532DF}" type="parTrans" cxnId="{CBC8EA7A-4C52-4FE5-A51F-38B1580F0770}">
      <dgm:prSet/>
      <dgm:spPr/>
    </dgm:pt>
    <dgm:pt modelId="{D5991884-5C0F-46BB-9338-0D497FAE33EA}" type="sibTrans" cxnId="{CBC8EA7A-4C52-4FE5-A51F-38B1580F0770}">
      <dgm:prSet/>
      <dgm:spPr/>
    </dgm:pt>
    <dgm:pt modelId="{244FB5D1-8C71-4597-B6E3-8AB523505AC8}">
      <dgm:prSet phldr="0"/>
      <dgm:spPr/>
      <dgm:t>
        <a:bodyPr/>
        <a:lstStyle/>
        <a:p>
          <a:pPr algn="l" rtl="0"/>
          <a:r>
            <a:rPr lang="en-US" dirty="0">
              <a:solidFill>
                <a:srgbClr val="FF0000"/>
              </a:solidFill>
              <a:latin typeface="Cambria"/>
              <a:ea typeface="Cambria"/>
            </a:rPr>
            <a:t>ILLNESS (PANCREATITIS/ STROKE)</a:t>
          </a:r>
        </a:p>
      </dgm:t>
    </dgm:pt>
    <dgm:pt modelId="{0D7FED99-6B6C-4995-84C2-5684D2B0A23D}" type="parTrans" cxnId="{0D222731-B08D-4C51-BC1B-38577E530380}">
      <dgm:prSet/>
      <dgm:spPr/>
    </dgm:pt>
    <dgm:pt modelId="{3138C4F0-8368-4BC0-8C20-2A227C1820CD}" type="sibTrans" cxnId="{0D222731-B08D-4C51-BC1B-38577E530380}">
      <dgm:prSet/>
      <dgm:spPr/>
    </dgm:pt>
    <dgm:pt modelId="{0F90E040-ACE5-4D7D-89B6-3155722AEB73}">
      <dgm:prSet phldr="0"/>
      <dgm:spPr/>
      <dgm:t>
        <a:bodyPr/>
        <a:lstStyle/>
        <a:p>
          <a:pPr algn="l" rtl="0"/>
          <a:r>
            <a:rPr lang="en-US" dirty="0">
              <a:solidFill>
                <a:srgbClr val="FF0000"/>
              </a:solidFill>
              <a:latin typeface="Cambria"/>
              <a:ea typeface="Cambria"/>
            </a:rPr>
            <a:t>PROBLEM WITH INSULIN</a:t>
          </a:r>
        </a:p>
      </dgm:t>
    </dgm:pt>
    <dgm:pt modelId="{34DA8B67-D537-4DCA-98AE-BDDC062E3582}" type="parTrans" cxnId="{162AF030-4090-4E8E-9A2D-785CE3D41ACA}">
      <dgm:prSet/>
      <dgm:spPr/>
    </dgm:pt>
    <dgm:pt modelId="{A3F145F7-F5ED-4D34-9FD8-B6BBEE7009CD}" type="sibTrans" cxnId="{162AF030-4090-4E8E-9A2D-785CE3D41ACA}">
      <dgm:prSet/>
      <dgm:spPr/>
    </dgm:pt>
    <dgm:pt modelId="{E138D8C9-7D75-4AB6-99B0-875D0EA698BA}">
      <dgm:prSet phldr="0"/>
      <dgm:spPr/>
      <dgm:t>
        <a:bodyPr/>
        <a:lstStyle/>
        <a:p>
          <a:pPr algn="l" rtl="0"/>
          <a:r>
            <a:rPr lang="en-US" dirty="0">
              <a:solidFill>
                <a:srgbClr val="FF0000"/>
              </a:solidFill>
              <a:latin typeface="Cambria"/>
              <a:ea typeface="Cambria"/>
            </a:rPr>
            <a:t>SURGERY OR PHYSICAL EMOTIONAL TRAUMA</a:t>
          </a:r>
        </a:p>
      </dgm:t>
    </dgm:pt>
    <dgm:pt modelId="{54C58454-D1C5-422D-9479-EBC560C64D84}" type="parTrans" cxnId="{E71FFE77-F292-49D3-8DE5-2F91CBE0AF30}">
      <dgm:prSet/>
      <dgm:spPr/>
    </dgm:pt>
    <dgm:pt modelId="{3DC7B84F-3DB1-423D-9D8F-D7BA6037A841}" type="sibTrans" cxnId="{E71FFE77-F292-49D3-8DE5-2F91CBE0AF30}">
      <dgm:prSet/>
      <dgm:spPr/>
    </dgm:pt>
    <dgm:pt modelId="{F00DBED6-0D08-4CED-8A13-507CA2A18800}" type="pres">
      <dgm:prSet presAssocID="{1A729E35-BE59-4FDB-B03E-1BE4E42813F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583F677-B2EE-46A6-8DD2-37FE04CB51E7}" type="pres">
      <dgm:prSet presAssocID="{244FB5D1-8C71-4597-B6E3-8AB523505AC8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C769B5-DC1F-4C5D-B9E6-7406CF180E0D}" type="pres">
      <dgm:prSet presAssocID="{3138C4F0-8368-4BC0-8C20-2A227C1820CD}" presName="sibTrans" presStyleCnt="0"/>
      <dgm:spPr/>
    </dgm:pt>
    <dgm:pt modelId="{E6203A56-D973-486C-BF7D-AE16E673CD9E}" type="pres">
      <dgm:prSet presAssocID="{0F90E040-ACE5-4D7D-89B6-3155722AEB73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A3EB77-4256-483A-9EDB-8BD1CF3743D1}" type="pres">
      <dgm:prSet presAssocID="{A3F145F7-F5ED-4D34-9FD8-B6BBEE7009CD}" presName="sibTrans" presStyleCnt="0"/>
      <dgm:spPr/>
    </dgm:pt>
    <dgm:pt modelId="{7356DAC8-9362-48DC-A250-60EB05752842}" type="pres">
      <dgm:prSet presAssocID="{E138D8C9-7D75-4AB6-99B0-875D0EA698BA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54DBB6-2316-46E7-82E4-1971B06D56F9}" type="pres">
      <dgm:prSet presAssocID="{3DC7B84F-3DB1-423D-9D8F-D7BA6037A841}" presName="sibTrans" presStyleCnt="0"/>
      <dgm:spPr/>
    </dgm:pt>
    <dgm:pt modelId="{003E3D84-128F-4A51-A211-D998AF6E690C}" type="pres">
      <dgm:prSet presAssocID="{E4204923-EAF2-4695-AF2F-6A4432741CC0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A459AA-EAB8-472C-AB0C-5BEFD76E668A}" type="pres">
      <dgm:prSet presAssocID="{9B2E9B78-1A36-4D03-A087-1D32A7D8444C}" presName="sibTrans" presStyleCnt="0"/>
      <dgm:spPr/>
    </dgm:pt>
    <dgm:pt modelId="{A936D771-3C2F-4182-98D9-5B529BE25839}" type="pres">
      <dgm:prSet presAssocID="{7E6B244E-17A5-40D8-A232-971EC6ABA382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15AC86-BAD8-411D-9D87-C339FA88F26C}" type="pres">
      <dgm:prSet presAssocID="{E722D494-1991-448C-9AC4-0D9BBE279860}" presName="sibTrans" presStyleCnt="0"/>
      <dgm:spPr/>
    </dgm:pt>
    <dgm:pt modelId="{C599707D-328F-4BB7-A5DF-DF24FC55A8DB}" type="pres">
      <dgm:prSet presAssocID="{8B5F62CF-BC2C-44D7-98E5-FA3C267FF8B8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DDFC919-E562-48DD-94C8-6EF4ED6B4D9D}" srcId="{1A729E35-BE59-4FDB-B03E-1BE4E42813FF}" destId="{E4204923-EAF2-4695-AF2F-6A4432741CC0}" srcOrd="3" destOrd="0" parTransId="{ECA61DFF-8268-4D5A-869B-6EA0D7B77A7F}" sibTransId="{9B2E9B78-1A36-4D03-A087-1D32A7D8444C}"/>
    <dgm:cxn modelId="{7A01E5E0-2C85-45ED-98BF-A3C9DBCE28FC}" type="presOf" srcId="{0F90E040-ACE5-4D7D-89B6-3155722AEB73}" destId="{E6203A56-D973-486C-BF7D-AE16E673CD9E}" srcOrd="0" destOrd="0" presId="urn:microsoft.com/office/officeart/2005/8/layout/default#8"/>
    <dgm:cxn modelId="{CBC8EA7A-4C52-4FE5-A51F-38B1580F0770}" srcId="{1A729E35-BE59-4FDB-B03E-1BE4E42813FF}" destId="{8B5F62CF-BC2C-44D7-98E5-FA3C267FF8B8}" srcOrd="5" destOrd="0" parTransId="{C5F2D1FF-264A-491B-A96E-E178679532DF}" sibTransId="{D5991884-5C0F-46BB-9338-0D497FAE33EA}"/>
    <dgm:cxn modelId="{42983975-4799-4BF6-8412-3065E1C5D2D9}" srcId="{1A729E35-BE59-4FDB-B03E-1BE4E42813FF}" destId="{7E6B244E-17A5-40D8-A232-971EC6ABA382}" srcOrd="4" destOrd="0" parTransId="{83117D4A-F920-42FB-B31A-EE093BEE7277}" sibTransId="{E722D494-1991-448C-9AC4-0D9BBE279860}"/>
    <dgm:cxn modelId="{E71FFE77-F292-49D3-8DE5-2F91CBE0AF30}" srcId="{1A729E35-BE59-4FDB-B03E-1BE4E42813FF}" destId="{E138D8C9-7D75-4AB6-99B0-875D0EA698BA}" srcOrd="2" destOrd="0" parTransId="{54C58454-D1C5-422D-9479-EBC560C64D84}" sibTransId="{3DC7B84F-3DB1-423D-9D8F-D7BA6037A841}"/>
    <dgm:cxn modelId="{219D8CBC-EA4D-4F60-A203-600FA0A18D5D}" type="presOf" srcId="{8B5F62CF-BC2C-44D7-98E5-FA3C267FF8B8}" destId="{C599707D-328F-4BB7-A5DF-DF24FC55A8DB}" srcOrd="0" destOrd="0" presId="urn:microsoft.com/office/officeart/2005/8/layout/default#8"/>
    <dgm:cxn modelId="{162AF030-4090-4E8E-9A2D-785CE3D41ACA}" srcId="{1A729E35-BE59-4FDB-B03E-1BE4E42813FF}" destId="{0F90E040-ACE5-4D7D-89B6-3155722AEB73}" srcOrd="1" destOrd="0" parTransId="{34DA8B67-D537-4DCA-98AE-BDDC062E3582}" sibTransId="{A3F145F7-F5ED-4D34-9FD8-B6BBEE7009CD}"/>
    <dgm:cxn modelId="{504C1D8F-FDF9-44B1-B917-DC398926D06D}" type="presOf" srcId="{1A729E35-BE59-4FDB-B03E-1BE4E42813FF}" destId="{F00DBED6-0D08-4CED-8A13-507CA2A18800}" srcOrd="0" destOrd="0" presId="urn:microsoft.com/office/officeart/2005/8/layout/default#8"/>
    <dgm:cxn modelId="{15E8CA2B-67F6-4397-A4FC-7E840F07853B}" type="presOf" srcId="{E4204923-EAF2-4695-AF2F-6A4432741CC0}" destId="{003E3D84-128F-4A51-A211-D998AF6E690C}" srcOrd="0" destOrd="0" presId="urn:microsoft.com/office/officeart/2005/8/layout/default#8"/>
    <dgm:cxn modelId="{95166643-E46E-4492-A7D5-87F19BE81A76}" type="presOf" srcId="{E138D8C9-7D75-4AB6-99B0-875D0EA698BA}" destId="{7356DAC8-9362-48DC-A250-60EB05752842}" srcOrd="0" destOrd="0" presId="urn:microsoft.com/office/officeart/2005/8/layout/default#8"/>
    <dgm:cxn modelId="{0D222731-B08D-4C51-BC1B-38577E530380}" srcId="{1A729E35-BE59-4FDB-B03E-1BE4E42813FF}" destId="{244FB5D1-8C71-4597-B6E3-8AB523505AC8}" srcOrd="0" destOrd="0" parTransId="{0D7FED99-6B6C-4995-84C2-5684D2B0A23D}" sibTransId="{3138C4F0-8368-4BC0-8C20-2A227C1820CD}"/>
    <dgm:cxn modelId="{A1904101-4A96-4276-B852-0F4710C0637D}" type="presOf" srcId="{244FB5D1-8C71-4597-B6E3-8AB523505AC8}" destId="{B583F677-B2EE-46A6-8DD2-37FE04CB51E7}" srcOrd="0" destOrd="0" presId="urn:microsoft.com/office/officeart/2005/8/layout/default#8"/>
    <dgm:cxn modelId="{85BF2773-131B-4A33-8682-B9714AFEF4DC}" type="presOf" srcId="{7E6B244E-17A5-40D8-A232-971EC6ABA382}" destId="{A936D771-3C2F-4182-98D9-5B529BE25839}" srcOrd="0" destOrd="0" presId="urn:microsoft.com/office/officeart/2005/8/layout/default#8"/>
    <dgm:cxn modelId="{243B0829-972A-4A43-860F-85BD1B2F458A}" type="presParOf" srcId="{F00DBED6-0D08-4CED-8A13-507CA2A18800}" destId="{B583F677-B2EE-46A6-8DD2-37FE04CB51E7}" srcOrd="0" destOrd="0" presId="urn:microsoft.com/office/officeart/2005/8/layout/default#8"/>
    <dgm:cxn modelId="{4AA0780B-8D98-4F86-91EE-35C08D81A5BF}" type="presParOf" srcId="{F00DBED6-0D08-4CED-8A13-507CA2A18800}" destId="{F3C769B5-DC1F-4C5D-B9E6-7406CF180E0D}" srcOrd="1" destOrd="0" presId="urn:microsoft.com/office/officeart/2005/8/layout/default#8"/>
    <dgm:cxn modelId="{76BA637B-AB7C-453E-A3FF-CB9CE1DAF76A}" type="presParOf" srcId="{F00DBED6-0D08-4CED-8A13-507CA2A18800}" destId="{E6203A56-D973-486C-BF7D-AE16E673CD9E}" srcOrd="2" destOrd="0" presId="urn:microsoft.com/office/officeart/2005/8/layout/default#8"/>
    <dgm:cxn modelId="{30F833B9-876F-46E9-8EC2-C3C2A6D4FCBA}" type="presParOf" srcId="{F00DBED6-0D08-4CED-8A13-507CA2A18800}" destId="{4BA3EB77-4256-483A-9EDB-8BD1CF3743D1}" srcOrd="3" destOrd="0" presId="urn:microsoft.com/office/officeart/2005/8/layout/default#8"/>
    <dgm:cxn modelId="{2ED453F5-0B80-48C1-A426-B9D558E72A34}" type="presParOf" srcId="{F00DBED6-0D08-4CED-8A13-507CA2A18800}" destId="{7356DAC8-9362-48DC-A250-60EB05752842}" srcOrd="4" destOrd="0" presId="urn:microsoft.com/office/officeart/2005/8/layout/default#8"/>
    <dgm:cxn modelId="{E0C8B567-ABB9-4573-8428-5FC1D4A21C81}" type="presParOf" srcId="{F00DBED6-0D08-4CED-8A13-507CA2A18800}" destId="{4054DBB6-2316-46E7-82E4-1971B06D56F9}" srcOrd="5" destOrd="0" presId="urn:microsoft.com/office/officeart/2005/8/layout/default#8"/>
    <dgm:cxn modelId="{C5013B84-A754-42CA-A34F-C36EC2F68C6A}" type="presParOf" srcId="{F00DBED6-0D08-4CED-8A13-507CA2A18800}" destId="{003E3D84-128F-4A51-A211-D998AF6E690C}" srcOrd="6" destOrd="0" presId="urn:microsoft.com/office/officeart/2005/8/layout/default#8"/>
    <dgm:cxn modelId="{F1583BAF-FC7B-4D1D-B366-C4B8530B4CD0}" type="presParOf" srcId="{F00DBED6-0D08-4CED-8A13-507CA2A18800}" destId="{01A459AA-EAB8-472C-AB0C-5BEFD76E668A}" srcOrd="7" destOrd="0" presId="urn:microsoft.com/office/officeart/2005/8/layout/default#8"/>
    <dgm:cxn modelId="{A1F2E209-967B-484E-B7A4-E0E254C30F39}" type="presParOf" srcId="{F00DBED6-0D08-4CED-8A13-507CA2A18800}" destId="{A936D771-3C2F-4182-98D9-5B529BE25839}" srcOrd="8" destOrd="0" presId="urn:microsoft.com/office/officeart/2005/8/layout/default#8"/>
    <dgm:cxn modelId="{7FBC0658-3E4D-4BCC-B2D7-167B7BE69EA9}" type="presParOf" srcId="{F00DBED6-0D08-4CED-8A13-507CA2A18800}" destId="{1F15AC86-BAD8-411D-9D87-C339FA88F26C}" srcOrd="9" destOrd="0" presId="urn:microsoft.com/office/officeart/2005/8/layout/default#8"/>
    <dgm:cxn modelId="{C71BDCFB-C5E1-48E2-8F83-6177D012C2A3}" type="presParOf" srcId="{F00DBED6-0D08-4CED-8A13-507CA2A18800}" destId="{C599707D-328F-4BB7-A5DF-DF24FC55A8DB}" srcOrd="10" destOrd="0" presId="urn:microsoft.com/office/officeart/2005/8/layout/default#8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B83632-B749-4441-A485-3953D6443BAF}">
      <dsp:nvSpPr>
        <dsp:cNvPr id="0" name=""/>
        <dsp:cNvSpPr/>
      </dsp:nvSpPr>
      <dsp:spPr>
        <a:xfrm>
          <a:off x="1066273" y="862"/>
          <a:ext cx="2358467" cy="1415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0000"/>
              </a:solidFill>
            </a:rPr>
            <a:t>Excessive thirst</a:t>
          </a:r>
          <a:r>
            <a:rPr lang="en-US" sz="1700" b="1" kern="1200" dirty="0">
              <a:solidFill>
                <a:srgbClr val="FF0000"/>
              </a:solidFill>
              <a:latin typeface="Arial" panose="020B0604020202020204"/>
            </a:rPr>
            <a:t>(POLYDIPSIA)</a:t>
          </a:r>
        </a:p>
      </dsp:txBody>
      <dsp:txXfrm>
        <a:off x="1066273" y="862"/>
        <a:ext cx="2358467" cy="1415080"/>
      </dsp:txXfrm>
    </dsp:sp>
    <dsp:sp modelId="{DD878897-802A-4245-AE1A-EF283C2EE79A}">
      <dsp:nvSpPr>
        <dsp:cNvPr id="0" name=""/>
        <dsp:cNvSpPr/>
      </dsp:nvSpPr>
      <dsp:spPr>
        <a:xfrm>
          <a:off x="3660587" y="862"/>
          <a:ext cx="2358467" cy="1415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0000"/>
              </a:solidFill>
            </a:rPr>
            <a:t>Frequent urination</a:t>
          </a:r>
          <a:r>
            <a:rPr lang="en-US" sz="1700" b="1" kern="1200" dirty="0">
              <a:solidFill>
                <a:srgbClr val="FF0000"/>
              </a:solidFill>
              <a:latin typeface="Arial" panose="020B0604020202020204"/>
            </a:rPr>
            <a:t>(POLYURIA)</a:t>
          </a:r>
          <a:endParaRPr lang="en-US" sz="1700" b="1" kern="1200" dirty="0">
            <a:solidFill>
              <a:srgbClr val="FF0000"/>
            </a:solidFill>
          </a:endParaRPr>
        </a:p>
      </dsp:txBody>
      <dsp:txXfrm>
        <a:off x="3660587" y="862"/>
        <a:ext cx="2358467" cy="1415080"/>
      </dsp:txXfrm>
    </dsp:sp>
    <dsp:sp modelId="{B4F7DC95-7AFA-408F-9AE7-05F8D4656B16}">
      <dsp:nvSpPr>
        <dsp:cNvPr id="0" name=""/>
        <dsp:cNvSpPr/>
      </dsp:nvSpPr>
      <dsp:spPr>
        <a:xfrm>
          <a:off x="6254901" y="862"/>
          <a:ext cx="2358467" cy="1415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0000"/>
              </a:solidFill>
            </a:rPr>
            <a:t>Nausea and vomiting</a:t>
          </a:r>
          <a:r>
            <a:rPr lang="en-US" sz="1700" b="1" kern="1200" dirty="0">
              <a:solidFill>
                <a:srgbClr val="FF0000"/>
              </a:solidFill>
              <a:latin typeface="Arial" panose="020B0604020202020204"/>
            </a:rPr>
            <a:t> (dehydration)</a:t>
          </a:r>
          <a:endParaRPr lang="en-US" sz="1700" b="1" kern="1200" dirty="0">
            <a:solidFill>
              <a:srgbClr val="FF0000"/>
            </a:solidFill>
          </a:endParaRPr>
        </a:p>
      </dsp:txBody>
      <dsp:txXfrm>
        <a:off x="6254901" y="862"/>
        <a:ext cx="2358467" cy="1415080"/>
      </dsp:txXfrm>
    </dsp:sp>
    <dsp:sp modelId="{2AF17ABA-FBB8-47AC-A932-F12BDC520AE8}">
      <dsp:nvSpPr>
        <dsp:cNvPr id="0" name=""/>
        <dsp:cNvSpPr/>
      </dsp:nvSpPr>
      <dsp:spPr>
        <a:xfrm>
          <a:off x="1066273" y="1651790"/>
          <a:ext cx="2358467" cy="1415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0000"/>
              </a:solidFill>
            </a:rPr>
            <a:t>Stomach pain</a:t>
          </a:r>
        </a:p>
      </dsp:txBody>
      <dsp:txXfrm>
        <a:off x="1066273" y="1651790"/>
        <a:ext cx="2358467" cy="1415080"/>
      </dsp:txXfrm>
    </dsp:sp>
    <dsp:sp modelId="{5B7F19AE-DF4F-4CC9-BBDC-143B8DC0E6FD}">
      <dsp:nvSpPr>
        <dsp:cNvPr id="0" name=""/>
        <dsp:cNvSpPr/>
      </dsp:nvSpPr>
      <dsp:spPr>
        <a:xfrm>
          <a:off x="3660587" y="1651790"/>
          <a:ext cx="2358467" cy="1415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0000"/>
              </a:solidFill>
            </a:rPr>
            <a:t>Weakness or fatigue</a:t>
          </a:r>
        </a:p>
      </dsp:txBody>
      <dsp:txXfrm>
        <a:off x="3660587" y="1651790"/>
        <a:ext cx="2358467" cy="1415080"/>
      </dsp:txXfrm>
    </dsp:sp>
    <dsp:sp modelId="{B774BAD0-755E-46E8-AD89-EBC123E98F34}">
      <dsp:nvSpPr>
        <dsp:cNvPr id="0" name=""/>
        <dsp:cNvSpPr/>
      </dsp:nvSpPr>
      <dsp:spPr>
        <a:xfrm>
          <a:off x="6254901" y="1651790"/>
          <a:ext cx="2358467" cy="1415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0000"/>
              </a:solidFill>
            </a:rPr>
            <a:t>Shortness of breath</a:t>
          </a:r>
        </a:p>
      </dsp:txBody>
      <dsp:txXfrm>
        <a:off x="6254901" y="1651790"/>
        <a:ext cx="2358467" cy="1415080"/>
      </dsp:txXfrm>
    </dsp:sp>
    <dsp:sp modelId="{0B79C7E6-9074-4897-B10D-1C4B798FFDF3}">
      <dsp:nvSpPr>
        <dsp:cNvPr id="0" name=""/>
        <dsp:cNvSpPr/>
      </dsp:nvSpPr>
      <dsp:spPr>
        <a:xfrm>
          <a:off x="1066273" y="3302717"/>
          <a:ext cx="2358467" cy="1415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0000"/>
              </a:solidFill>
              <a:latin typeface="Arial" panose="020B0604020202020204"/>
            </a:rPr>
            <a:t>Acetone smell breath</a:t>
          </a:r>
          <a:endParaRPr lang="en-US" sz="1700" b="1" kern="1200" dirty="0">
            <a:solidFill>
              <a:srgbClr val="FF0000"/>
            </a:solidFill>
          </a:endParaRPr>
        </a:p>
      </dsp:txBody>
      <dsp:txXfrm>
        <a:off x="1066273" y="3302717"/>
        <a:ext cx="2358467" cy="1415080"/>
      </dsp:txXfrm>
    </dsp:sp>
    <dsp:sp modelId="{D0FDCAFD-2433-4BEC-B5D5-A4D5EA904AA9}">
      <dsp:nvSpPr>
        <dsp:cNvPr id="0" name=""/>
        <dsp:cNvSpPr/>
      </dsp:nvSpPr>
      <dsp:spPr>
        <a:xfrm>
          <a:off x="3660587" y="3302717"/>
          <a:ext cx="2358467" cy="1415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0000"/>
              </a:solidFill>
            </a:rPr>
            <a:t>Confusion</a:t>
          </a:r>
        </a:p>
      </dsp:txBody>
      <dsp:txXfrm>
        <a:off x="3660587" y="3302717"/>
        <a:ext cx="2358467" cy="1415080"/>
      </dsp:txXfrm>
    </dsp:sp>
    <dsp:sp modelId="{ADEF236B-48F4-4AC4-A04F-19EF31E8C68A}">
      <dsp:nvSpPr>
        <dsp:cNvPr id="0" name=""/>
        <dsp:cNvSpPr/>
      </dsp:nvSpPr>
      <dsp:spPr>
        <a:xfrm>
          <a:off x="6254901" y="3302717"/>
          <a:ext cx="2358467" cy="1415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0000"/>
              </a:solidFill>
            </a:rPr>
            <a:t>High blood sugar level</a:t>
          </a:r>
          <a:endParaRPr lang="en-US" sz="1700" b="1" kern="1200" dirty="0">
            <a:solidFill>
              <a:srgbClr val="FF0000"/>
            </a:solidFill>
            <a:latin typeface="Arial" panose="020B0604020202020204"/>
          </a:endParaRPr>
        </a:p>
      </dsp:txBody>
      <dsp:txXfrm>
        <a:off x="6254901" y="3302717"/>
        <a:ext cx="2358467" cy="1415080"/>
      </dsp:txXfrm>
    </dsp:sp>
    <dsp:sp modelId="{413B9CAF-527B-42AA-9CAE-118214113008}">
      <dsp:nvSpPr>
        <dsp:cNvPr id="0" name=""/>
        <dsp:cNvSpPr/>
      </dsp:nvSpPr>
      <dsp:spPr>
        <a:xfrm>
          <a:off x="3660587" y="4953644"/>
          <a:ext cx="2358467" cy="1415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rgbClr val="FF0000"/>
              </a:solidFill>
            </a:rPr>
            <a:t>High ketone levels in your urine</a:t>
          </a:r>
        </a:p>
      </dsp:txBody>
      <dsp:txXfrm>
        <a:off x="3660587" y="4953644"/>
        <a:ext cx="2358467" cy="14150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83F677-B2EE-46A6-8DD2-37FE04CB51E7}">
      <dsp:nvSpPr>
        <dsp:cNvPr id="0" name=""/>
        <dsp:cNvSpPr/>
      </dsp:nvSpPr>
      <dsp:spPr>
        <a:xfrm>
          <a:off x="853828" y="1016"/>
          <a:ext cx="2529607" cy="15177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FF0000"/>
              </a:solidFill>
              <a:latin typeface="Cambria"/>
              <a:ea typeface="Cambria"/>
            </a:rPr>
            <a:t>ILLNESS (PANCREATITIS/ STROKE)</a:t>
          </a:r>
        </a:p>
      </dsp:txBody>
      <dsp:txXfrm>
        <a:off x="853828" y="1016"/>
        <a:ext cx="2529607" cy="1517764"/>
      </dsp:txXfrm>
    </dsp:sp>
    <dsp:sp modelId="{E6203A56-D973-486C-BF7D-AE16E673CD9E}">
      <dsp:nvSpPr>
        <dsp:cNvPr id="0" name=""/>
        <dsp:cNvSpPr/>
      </dsp:nvSpPr>
      <dsp:spPr>
        <a:xfrm>
          <a:off x="3636396" y="1016"/>
          <a:ext cx="2529607" cy="15177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FF0000"/>
              </a:solidFill>
              <a:latin typeface="Cambria"/>
              <a:ea typeface="Cambria"/>
            </a:rPr>
            <a:t>PROBLEM WITH INSULIN</a:t>
          </a:r>
        </a:p>
      </dsp:txBody>
      <dsp:txXfrm>
        <a:off x="3636396" y="1016"/>
        <a:ext cx="2529607" cy="1517764"/>
      </dsp:txXfrm>
    </dsp:sp>
    <dsp:sp modelId="{7356DAC8-9362-48DC-A250-60EB05752842}">
      <dsp:nvSpPr>
        <dsp:cNvPr id="0" name=""/>
        <dsp:cNvSpPr/>
      </dsp:nvSpPr>
      <dsp:spPr>
        <a:xfrm>
          <a:off x="853828" y="1771742"/>
          <a:ext cx="2529607" cy="15177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FF0000"/>
              </a:solidFill>
              <a:latin typeface="Cambria"/>
              <a:ea typeface="Cambria"/>
            </a:rPr>
            <a:t>SURGERY OR PHYSICAL EMOTIONAL TRAUMA</a:t>
          </a:r>
        </a:p>
      </dsp:txBody>
      <dsp:txXfrm>
        <a:off x="853828" y="1771742"/>
        <a:ext cx="2529607" cy="1517764"/>
      </dsp:txXfrm>
    </dsp:sp>
    <dsp:sp modelId="{003E3D84-128F-4A51-A211-D998AF6E690C}">
      <dsp:nvSpPr>
        <dsp:cNvPr id="0" name=""/>
        <dsp:cNvSpPr/>
      </dsp:nvSpPr>
      <dsp:spPr>
        <a:xfrm>
          <a:off x="3636396" y="1771742"/>
          <a:ext cx="2529607" cy="15177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FF0000"/>
              </a:solidFill>
              <a:latin typeface="Cambria"/>
              <a:ea typeface="Cambria"/>
            </a:rPr>
            <a:t>Pregnancy</a:t>
          </a:r>
        </a:p>
      </dsp:txBody>
      <dsp:txXfrm>
        <a:off x="3636396" y="1771742"/>
        <a:ext cx="2529607" cy="1517764"/>
      </dsp:txXfrm>
    </dsp:sp>
    <dsp:sp modelId="{A936D771-3C2F-4182-98D9-5B529BE25839}">
      <dsp:nvSpPr>
        <dsp:cNvPr id="0" name=""/>
        <dsp:cNvSpPr/>
      </dsp:nvSpPr>
      <dsp:spPr>
        <a:xfrm>
          <a:off x="853828" y="3542467"/>
          <a:ext cx="2529607" cy="15177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FF0000"/>
              </a:solidFill>
              <a:latin typeface="Cambria"/>
              <a:ea typeface="Cambria"/>
            </a:rPr>
            <a:t>Alcohol or drug abuse, particularly cocaine</a:t>
          </a:r>
        </a:p>
      </dsp:txBody>
      <dsp:txXfrm>
        <a:off x="853828" y="3542467"/>
        <a:ext cx="2529607" cy="1517764"/>
      </dsp:txXfrm>
    </dsp:sp>
    <dsp:sp modelId="{C599707D-328F-4BB7-A5DF-DF24FC55A8DB}">
      <dsp:nvSpPr>
        <dsp:cNvPr id="0" name=""/>
        <dsp:cNvSpPr/>
      </dsp:nvSpPr>
      <dsp:spPr>
        <a:xfrm>
          <a:off x="3636396" y="3542467"/>
          <a:ext cx="2529607" cy="15177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FF0000"/>
              </a:solidFill>
              <a:latin typeface="Cambria"/>
              <a:ea typeface="Cambria"/>
            </a:rPr>
            <a:t>Certain medications, such as corticosteroids and some diuretics</a:t>
          </a:r>
        </a:p>
      </dsp:txBody>
      <dsp:txXfrm>
        <a:off x="3636396" y="3542467"/>
        <a:ext cx="2529607" cy="15177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7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8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pPr/>
              <a:t>1/20/2021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4230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pPr/>
              <a:t>1/20/2021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87321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pPr/>
              <a:t>1/20/2021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0096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pPr/>
              <a:t>1/20/2021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9034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pPr/>
              <a:t>1/20/2021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27094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pPr/>
              <a:t>1/20/2021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92632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pPr/>
              <a:t>1/20/2021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08874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pPr/>
              <a:t>1/20/2021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206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pPr/>
              <a:t>1/20/2021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0399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pPr/>
              <a:t>1/20/2021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97175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pPr/>
              <a:t>1/20/2021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5674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pPr/>
              <a:t>1/20/2021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884736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flickr.com/photos/cogdog/5003637136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eobrava.wordpress.com/2018/03/30/u-s-tops-list-as-global-tech-innovation-leader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2.png"/><Relationship Id="rId7" Type="http://schemas.openxmlformats.org/officeDocument/2006/relationships/diagramData" Target="../diagrams/data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embj.org/embj/glycaemic-control-profile-in-diabetic-patients-a-sub-analysis-of-the-phoenix-lifestyle-project/" TargetMode="External"/><Relationship Id="rId11" Type="http://schemas.microsoft.com/office/2007/relationships/diagramDrawing" Target="../diagrams/drawing1.xml"/><Relationship Id="rId5" Type="http://schemas.openxmlformats.org/officeDocument/2006/relationships/image" Target="../media/image7.jpeg"/><Relationship Id="rId10" Type="http://schemas.openxmlformats.org/officeDocument/2006/relationships/diagramColors" Target="../diagrams/colors1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image" Target="../media/image2.png"/><Relationship Id="rId7" Type="http://schemas.openxmlformats.org/officeDocument/2006/relationships/diagramData" Target="../diagrams/data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embj.org/embj/glycaemic-control-profile-in-diabetic-patients-a-sub-analysis-of-the-phoenix-lifestyle-project/" TargetMode="External"/><Relationship Id="rId11" Type="http://schemas.microsoft.com/office/2007/relationships/diagramDrawing" Target="../diagrams/drawing2.xml"/><Relationship Id="rId5" Type="http://schemas.openxmlformats.org/officeDocument/2006/relationships/image" Target="../media/image7.jpeg"/><Relationship Id="rId10" Type="http://schemas.openxmlformats.org/officeDocument/2006/relationships/diagramColors" Target="../diagrams/colors2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finsmes.com/2018/07/how-tech-will-shape-the-future-of-healthcare-in-the-near-future.html" TargetMode="External"/><Relationship Id="rId5" Type="http://schemas.openxmlformats.org/officeDocument/2006/relationships/image" Target="../media/image8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finsmes.com/2018/07/how-tech-will-shape-the-future-of-healthcare-in-the-near-future.html" TargetMode="External"/><Relationship Id="rId5" Type="http://schemas.openxmlformats.org/officeDocument/2006/relationships/image" Target="../media/image8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videntlycochrane.net/replacing-peripheral-venous-catheters-have-you-ditched-the-routine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videntlycochrane.net/replacing-peripheral-venous-catheters-have-you-ditched-the-routine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nursemanifest.com/2011/06/06/future-of-nursing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15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80000hours.org/career-guide/profiles" TargetMode="External"/><Relationship Id="rId5" Type="http://schemas.openxmlformats.org/officeDocument/2006/relationships/image" Target="../media/image14.jpe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revistas.urp.edu.pe/index.php/RFMH/article/view/2963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revistas.urp.edu.pe/index.php/RFMH/article/view/2963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1" Type="http://schemas.openxmlformats.org/officeDocument/2006/relationships/video" Target="file:///C:\Users\dariu\Videos\What%20is%20Diabetic%20Ketoacidosis_%20(Body%20Produces%20Excess%20Blood)-720p%20(1)_Trim.mp4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nursemanifest.com/2011/06/06/future-of-nursing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15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80000hours.org/career-guide/profiles" TargetMode="External"/><Relationship Id="rId5" Type="http://schemas.openxmlformats.org/officeDocument/2006/relationships/image" Target="../media/image1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7595" y="3755828"/>
            <a:ext cx="11344952" cy="2172168"/>
          </a:xfrm>
        </p:spPr>
        <p:txBody>
          <a:bodyPr anchor="ctr">
            <a:normAutofit/>
          </a:bodyPr>
          <a:lstStyle/>
          <a:p>
            <a:pPr algn="l"/>
            <a:r>
              <a:rPr lang="en-US" b="1">
                <a:highlight>
                  <a:srgbClr val="008080"/>
                </a:highlight>
                <a:latin typeface="Book Antiqua"/>
                <a:cs typeface="Posterama"/>
              </a:rPr>
              <a:t>DIABETIC</a:t>
            </a:r>
            <a:r>
              <a:rPr lang="en-US" sz="6000" b="1">
                <a:highlight>
                  <a:srgbClr val="008080"/>
                </a:highlight>
                <a:latin typeface="Book Antiqua"/>
                <a:cs typeface="Posterama"/>
              </a:rPr>
              <a:t> KETOACIDOSIS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3084" y="5739903"/>
            <a:ext cx="10319943" cy="535673"/>
          </a:xfrm>
        </p:spPr>
        <p:txBody>
          <a:bodyPr anchor="ctr">
            <a:noAutofit/>
          </a:bodyPr>
          <a:lstStyle/>
          <a:p>
            <a:r>
              <a:rPr lang="en-US" sz="4000" b="1" dirty="0">
                <a:highlight>
                  <a:srgbClr val="008080"/>
                </a:highlight>
                <a:latin typeface="Book Antiqua"/>
              </a:rPr>
              <a:t>(DKA)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4000" b="1" dirty="0">
                <a:highlight>
                  <a:srgbClr val="008080"/>
                </a:highlight>
                <a:latin typeface="Book Antiqua"/>
              </a:rPr>
              <a:t>By: JONAH GARGANTA</a:t>
            </a:r>
            <a:endParaRPr lang="en-US" dirty="0"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FA32D8C-946D-4074-BF58-11C30B3E0F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5" b="1"/>
          <a:stretch/>
        </p:blipFill>
        <p:spPr>
          <a:xfrm>
            <a:off x="49408" y="-76861"/>
            <a:ext cx="6077804" cy="3604514"/>
          </a:xfrm>
          <a:custGeom>
            <a:avLst/>
            <a:gdLst/>
            <a:ahLst/>
            <a:cxnLst/>
            <a:rect l="l" t="t" r="r" b="b"/>
            <a:pathLst>
              <a:path w="6077804" h="3604514">
                <a:moveTo>
                  <a:pt x="0" y="0"/>
                </a:moveTo>
                <a:lnTo>
                  <a:pt x="6077804" y="0"/>
                </a:lnTo>
                <a:lnTo>
                  <a:pt x="6077804" y="3321937"/>
                </a:lnTo>
                <a:lnTo>
                  <a:pt x="5516914" y="3420963"/>
                </a:lnTo>
                <a:cubicBezTo>
                  <a:pt x="4259631" y="3624720"/>
                  <a:pt x="2876619" y="3710676"/>
                  <a:pt x="550645" y="3402391"/>
                </a:cubicBezTo>
                <a:lnTo>
                  <a:pt x="0" y="3324581"/>
                </a:lnTo>
                <a:close/>
              </a:path>
            </a:pathLst>
          </a:custGeom>
        </p:spPr>
      </p:pic>
      <p:pic>
        <p:nvPicPr>
          <p:cNvPr id="5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xmlns="" id="{4E03391B-89E5-4ABD-BBCD-040B1E290A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rcRect t="8350" r="1" b="10172"/>
          <a:stretch/>
        </p:blipFill>
        <p:spPr>
          <a:xfrm>
            <a:off x="6084082" y="-4964"/>
            <a:ext cx="6107918" cy="4500880"/>
          </a:xfrm>
          <a:custGeom>
            <a:avLst/>
            <a:gdLst/>
            <a:ahLst/>
            <a:cxnLst/>
            <a:rect l="l" t="t" r="r" b="b"/>
            <a:pathLst>
              <a:path w="6107918" h="3321937">
                <a:moveTo>
                  <a:pt x="0" y="0"/>
                </a:moveTo>
                <a:lnTo>
                  <a:pt x="6107918" y="0"/>
                </a:lnTo>
                <a:lnTo>
                  <a:pt x="6107918" y="2630869"/>
                </a:lnTo>
                <a:cubicBezTo>
                  <a:pt x="3060680" y="2630869"/>
                  <a:pt x="1537061" y="3032227"/>
                  <a:pt x="13442" y="3319564"/>
                </a:cubicBezTo>
                <a:lnTo>
                  <a:pt x="0" y="33219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xmlns="" val="340237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435C1C-D14B-4C32-A908-1A40B440E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34" y="74811"/>
            <a:ext cx="7843313" cy="1077229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Book Antiqua"/>
                <a:cs typeface="Posterama"/>
              </a:rPr>
              <a:t>DIABETIC KETOACIDOSIS DEFINITION:</a:t>
            </a:r>
            <a:endParaRPr lang="en-US" sz="4000" b="1">
              <a:latin typeface="Book Antiqua"/>
              <a:cs typeface="Courier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D3F944-84F7-4EFD-8F9E-EB562358A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860" y="1207400"/>
            <a:ext cx="9831535" cy="367560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b="1" dirty="0">
                <a:highlight>
                  <a:srgbClr val="000000"/>
                </a:highlight>
                <a:latin typeface="Georgia"/>
                <a:ea typeface="+mn-lt"/>
                <a:cs typeface="+mn-lt"/>
              </a:rPr>
              <a:t>is a life-threatening problem that affects people with diabetes. It occurs when the body starts breaking down fat at a rate that is much too fast. The liver processes the fat into a fuel called ketones, which causes the blood to become acidic.</a:t>
            </a:r>
            <a:endParaRPr lang="en-US" sz="3200" b="1">
              <a:highlight>
                <a:srgbClr val="000000"/>
              </a:highlight>
              <a:latin typeface="Georgia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800" b="1">
                <a:highlight>
                  <a:srgbClr val="000000"/>
                </a:highlight>
                <a:latin typeface="Book Antiqua"/>
                <a:cs typeface="Arial"/>
              </a:rPr>
              <a:t>HYPERGLYCEMIA: BG&gt;11MMOL/L</a:t>
            </a:r>
          </a:p>
          <a:p>
            <a:pPr marL="0" indent="0">
              <a:buNone/>
            </a:pPr>
            <a:r>
              <a:rPr lang="en-US" sz="2800" b="1">
                <a:highlight>
                  <a:srgbClr val="000000"/>
                </a:highlight>
                <a:latin typeface="Book Antiqua"/>
                <a:cs typeface="Arial"/>
              </a:rPr>
              <a:t>HYPERKETONEMIA OR HYPERKETONURIA</a:t>
            </a:r>
          </a:p>
          <a:p>
            <a:pPr marL="0" indent="0">
              <a:buNone/>
            </a:pPr>
            <a:r>
              <a:rPr lang="en-US" sz="2800" b="1">
                <a:highlight>
                  <a:srgbClr val="000000"/>
                </a:highlight>
                <a:latin typeface="Book Antiqua"/>
                <a:cs typeface="Arial"/>
              </a:rPr>
              <a:t>METABOLIC ACIDOSIS: PH&lt;7.3  BICARBONATE &lt;15MMOL</a:t>
            </a:r>
          </a:p>
          <a:p>
            <a:pPr marL="0" indent="0">
              <a:buNone/>
            </a:pPr>
            <a:endParaRPr lang="en-US" sz="3200" b="1" dirty="0">
              <a:highlight>
                <a:srgbClr val="000000"/>
              </a:highlight>
              <a:latin typeface="Book Antiqua"/>
              <a:cs typeface="Arial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xmlns="" id="{DC6FDABE-1CCB-4A9C-B597-27380E756C58}"/>
              </a:ext>
            </a:extLst>
          </p:cNvPr>
          <p:cNvSpPr/>
          <p:nvPr/>
        </p:nvSpPr>
        <p:spPr>
          <a:xfrm>
            <a:off x="359061" y="2510948"/>
            <a:ext cx="1078301" cy="48883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8" descr="A picture containing water, sitting, blue, large&#10;&#10;Description automatically generated">
            <a:extLst>
              <a:ext uri="{FF2B5EF4-FFF2-40B4-BE49-F238E27FC236}">
                <a16:creationId xmlns:a16="http://schemas.microsoft.com/office/drawing/2014/main" xmlns="" id="{61D2C476-7EBD-46C9-A55D-EFAADCAAE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1000664" y="4196392"/>
            <a:ext cx="10348820" cy="259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49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54961F17-D0E4-4576-8697-C062B28F32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02DF1AEC-0327-4A10-AED3-E227ACAEBC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839742D-6F41-4E7D-9C32-1D9825B40F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5F3ADA23-8B3C-4029-923E-81303CBEA1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39EAE543-FFF6-43C7-AD71-A9856C6E7C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A hand holding a plastic clock&#10;&#10;Description automatically generated">
            <a:extLst>
              <a:ext uri="{FF2B5EF4-FFF2-40B4-BE49-F238E27FC236}">
                <a16:creationId xmlns:a16="http://schemas.microsoft.com/office/drawing/2014/main" xmlns="" id="{341933AD-7317-4EC6-A4DD-C14F61429A4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rcRect l="36196" r="25024" b="1"/>
          <a:stretch/>
        </p:blipFill>
        <p:spPr>
          <a:xfrm>
            <a:off x="114005" y="345282"/>
            <a:ext cx="3384456" cy="625415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8D7E355E-8304-4C50-B384-7DAC68D87C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Diagram 7">
            <a:extLst>
              <a:ext uri="{FF2B5EF4-FFF2-40B4-BE49-F238E27FC236}">
                <a16:creationId xmlns:a16="http://schemas.microsoft.com/office/drawing/2014/main" xmlns="" id="{98EBE4C2-0FEE-4696-8AFB-0FBEE4B5E3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217695908"/>
              </p:ext>
            </p:extLst>
          </p:nvPr>
        </p:nvGraphicFramePr>
        <p:xfrm>
          <a:off x="2298910" y="686790"/>
          <a:ext cx="9679642" cy="6369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0178E784-3C81-4963-ACD9-58EF41CE82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D3B468F-091E-4EEA-9D46-C6F3BE09893E}"/>
              </a:ext>
            </a:extLst>
          </p:cNvPr>
          <p:cNvSpPr txBox="1"/>
          <p:nvPr/>
        </p:nvSpPr>
        <p:spPr>
          <a:xfrm>
            <a:off x="3328988" y="5651500"/>
            <a:ext cx="6686550" cy="317500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/>
          <a:p>
            <a:endParaRPr lang="en-US" dirty="0"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113656-774D-4358-8130-B6EE59391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6" y="103566"/>
            <a:ext cx="9667059" cy="746137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solidFill>
                  <a:srgbClr val="FF0000"/>
                </a:solidFill>
                <a:latin typeface="Book Antiqua"/>
                <a:cs typeface="Arial"/>
              </a:rPr>
              <a:t>SIGNS AND SYPMPTOMS</a:t>
            </a:r>
          </a:p>
        </p:txBody>
      </p:sp>
    </p:spTree>
    <p:extLst>
      <p:ext uri="{BB962C8B-B14F-4D97-AF65-F5344CB8AC3E}">
        <p14:creationId xmlns:p14="http://schemas.microsoft.com/office/powerpoint/2010/main" xmlns="" val="360616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8B83632-B749-4441-A485-3953D6443B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D878897-802A-4245-AE1A-EF283C2EE7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4F7DC95-7AFA-408F-9AE7-05F8D4656B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F17ABA-FBB8-47AC-A932-F12BDC520A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B7F19AE-DF4F-4CC9-BBDC-143B8DC0E6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774BAD0-755E-46E8-AD89-EBC123E98F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B79C7E6-9074-4897-B10D-1C4B798FF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0FDCAFD-2433-4BEC-B5D5-A4D5EA904A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DEF236B-48F4-4AC4-A04F-19EF31E8C6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13B9CAF-527B-42AA-9CAE-1182141130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54961F17-D0E4-4576-8697-C062B28F32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02DF1AEC-0327-4A10-AED3-E227ACAEBC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839742D-6F41-4E7D-9C32-1D9825B40F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5F3ADA23-8B3C-4029-923E-81303CBEA1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39EAE543-FFF6-43C7-AD71-A9856C6E7C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113656-774D-4358-8130-B6EE59391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9402" y="175453"/>
            <a:ext cx="7711738" cy="120621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Book Antiqua"/>
                <a:cs typeface="Arial"/>
              </a:rPr>
              <a:t>  </a:t>
            </a:r>
            <a:r>
              <a:rPr lang="en-US" sz="4000" b="1" i="1" u="sng" dirty="0">
                <a:latin typeface="Comic Sans MS"/>
                <a:cs typeface="Arial"/>
              </a:rPr>
              <a:t>RISKS FACTORS OR CAUSES</a:t>
            </a:r>
            <a:endParaRPr lang="en-US" sz="4000" b="1" i="1" u="sng" dirty="0">
              <a:solidFill>
                <a:srgbClr val="FF0000"/>
              </a:solidFill>
              <a:latin typeface="Comic Sans MS"/>
              <a:cs typeface="Arial"/>
            </a:endParaRPr>
          </a:p>
        </p:txBody>
      </p:sp>
      <p:pic>
        <p:nvPicPr>
          <p:cNvPr id="4" name="Picture 4" descr="A hand holding a plastic clock&#10;&#10;Description automatically generated">
            <a:extLst>
              <a:ext uri="{FF2B5EF4-FFF2-40B4-BE49-F238E27FC236}">
                <a16:creationId xmlns:a16="http://schemas.microsoft.com/office/drawing/2014/main" xmlns="" id="{341933AD-7317-4EC6-A4DD-C14F61429A4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rcRect l="36196" r="25024" b="1"/>
          <a:stretch/>
        </p:blipFill>
        <p:spPr>
          <a:xfrm>
            <a:off x="-116033" y="227"/>
            <a:ext cx="4750305" cy="6858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8D7E355E-8304-4C50-B384-7DAC68D87C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Diagram 7">
            <a:extLst>
              <a:ext uri="{FF2B5EF4-FFF2-40B4-BE49-F238E27FC236}">
                <a16:creationId xmlns:a16="http://schemas.microsoft.com/office/drawing/2014/main" xmlns="" id="{98EBE4C2-0FEE-4696-8AFB-0FBEE4B5E3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899634294"/>
              </p:ext>
            </p:extLst>
          </p:nvPr>
        </p:nvGraphicFramePr>
        <p:xfrm>
          <a:off x="4628039" y="1491921"/>
          <a:ext cx="7019833" cy="5061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0178E784-3C81-4963-ACD9-58EF41CE82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D3B468F-091E-4EEA-9D46-C6F3BE09893E}"/>
              </a:ext>
            </a:extLst>
          </p:cNvPr>
          <p:cNvSpPr txBox="1"/>
          <p:nvPr/>
        </p:nvSpPr>
        <p:spPr>
          <a:xfrm>
            <a:off x="3328988" y="5651500"/>
            <a:ext cx="6686550" cy="317500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/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68196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583F677-B2EE-46A6-8DD2-37FE04CB51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>
                                            <p:graphicEl>
                                              <a:dgm id="{B583F677-B2EE-46A6-8DD2-37FE04CB51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graphicEl>
                                              <a:dgm id="{B583F677-B2EE-46A6-8DD2-37FE04CB51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>
                                            <p:graphicEl>
                                              <a:dgm id="{B583F677-B2EE-46A6-8DD2-37FE04CB51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6203A56-D973-486C-BF7D-AE16E673CD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graphicEl>
                                              <a:dgm id="{E6203A56-D973-486C-BF7D-AE16E673CD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graphicEl>
                                              <a:dgm id="{E6203A56-D973-486C-BF7D-AE16E673CD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>
                                            <p:graphicEl>
                                              <a:dgm id="{E6203A56-D973-486C-BF7D-AE16E673CD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356DAC8-9362-48DC-A250-60EB05752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graphicEl>
                                              <a:dgm id="{7356DAC8-9362-48DC-A250-60EB05752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graphicEl>
                                              <a:dgm id="{7356DAC8-9362-48DC-A250-60EB05752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graphicEl>
                                              <a:dgm id="{7356DAC8-9362-48DC-A250-60EB057528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3E3D84-128F-4A51-A211-D998AF6E69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graphicEl>
                                              <a:dgm id="{003E3D84-128F-4A51-A211-D998AF6E69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graphicEl>
                                              <a:dgm id="{003E3D84-128F-4A51-A211-D998AF6E69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graphicEl>
                                              <a:dgm id="{003E3D84-128F-4A51-A211-D998AF6E69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936D771-3C2F-4182-98D9-5B529BE258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graphicEl>
                                              <a:dgm id="{A936D771-3C2F-4182-98D9-5B529BE258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graphicEl>
                                              <a:dgm id="{A936D771-3C2F-4182-98D9-5B529BE258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>
                                            <p:graphicEl>
                                              <a:dgm id="{A936D771-3C2F-4182-98D9-5B529BE258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599707D-328F-4BB7-A5DF-DF24FC55A8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graphicEl>
                                              <a:dgm id="{C599707D-328F-4BB7-A5DF-DF24FC55A8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>
                                            <p:graphicEl>
                                              <a:dgm id="{C599707D-328F-4BB7-A5DF-DF24FC55A8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>
                                            <p:graphicEl>
                                              <a:dgm id="{C599707D-328F-4BB7-A5DF-DF24FC55A8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xmlns="" id="{54961F17-D0E4-4576-8697-C062B28F32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02DF1AEC-0327-4A10-AED3-E227ACAEBC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xmlns="" id="{C839742D-6F41-4E7D-9C32-1D9825B40F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5F3ADA23-8B3C-4029-923E-81303CBEA1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39EAE543-FFF6-43C7-AD71-A9856C6E7C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8D7E355E-8304-4C50-B384-7DAC68D87C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B4012592-AF27-40DE-896A-D5B723E77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6709" y="2876010"/>
            <a:ext cx="4522356" cy="366276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4170" indent="-344170">
              <a:lnSpc>
                <a:spcPct val="110000"/>
              </a:lnSpc>
            </a:pPr>
            <a:r>
              <a:rPr lang="en-US" sz="2800" b="1" dirty="0">
                <a:solidFill>
                  <a:srgbClr val="FF0000"/>
                </a:solidFill>
                <a:latin typeface="Book Antiqua"/>
                <a:cs typeface="Arial"/>
              </a:rPr>
              <a:t>Blood sugar level.</a:t>
            </a:r>
            <a:r>
              <a:rPr lang="en-US" sz="2800" dirty="0">
                <a:solidFill>
                  <a:srgbClr val="FF0000"/>
                </a:solidFill>
                <a:latin typeface="Book Antiqua"/>
                <a:cs typeface="Arial"/>
              </a:rPr>
              <a:t> </a:t>
            </a:r>
            <a:endParaRPr lang="en-US" sz="2800">
              <a:solidFill>
                <a:srgbClr val="FF0000"/>
              </a:solidFill>
              <a:latin typeface="Book Antiqua"/>
              <a:ea typeface="+mn-lt"/>
              <a:cs typeface="+mn-lt"/>
            </a:endParaRPr>
          </a:p>
          <a:p>
            <a:pPr marL="344170" indent="-344170">
              <a:lnSpc>
                <a:spcPct val="110000"/>
              </a:lnSpc>
            </a:pPr>
            <a:r>
              <a:rPr lang="en-US" sz="2800" b="1" dirty="0">
                <a:solidFill>
                  <a:srgbClr val="FF0000"/>
                </a:solidFill>
                <a:latin typeface="Book Antiqua"/>
                <a:cs typeface="Arial"/>
              </a:rPr>
              <a:t>Ketone level.</a:t>
            </a:r>
            <a:r>
              <a:rPr lang="en-US" sz="2800" dirty="0">
                <a:solidFill>
                  <a:srgbClr val="FF0000"/>
                </a:solidFill>
                <a:latin typeface="Book Antiqua"/>
                <a:cs typeface="Arial"/>
              </a:rPr>
              <a:t> </a:t>
            </a:r>
            <a:endParaRPr lang="en-US" sz="2800">
              <a:solidFill>
                <a:srgbClr val="FF0000"/>
              </a:solidFill>
              <a:latin typeface="Book Antiqua"/>
              <a:ea typeface="+mn-lt"/>
              <a:cs typeface="+mn-lt"/>
            </a:endParaRPr>
          </a:p>
          <a:p>
            <a:pPr marL="344170" indent="-344170">
              <a:lnSpc>
                <a:spcPct val="110000"/>
              </a:lnSpc>
            </a:pPr>
            <a:r>
              <a:rPr lang="en-US" sz="2800" b="1" dirty="0">
                <a:solidFill>
                  <a:srgbClr val="FF0000"/>
                </a:solidFill>
                <a:latin typeface="Book Antiqua"/>
                <a:cs typeface="Arial"/>
              </a:rPr>
              <a:t>Blood acidity.</a:t>
            </a:r>
            <a:r>
              <a:rPr lang="en-US" sz="2800" dirty="0">
                <a:solidFill>
                  <a:srgbClr val="FF0000"/>
                </a:solidFill>
                <a:latin typeface="Book Antiqua"/>
                <a:cs typeface="Arial"/>
              </a:rPr>
              <a:t> </a:t>
            </a:r>
            <a:endParaRPr lang="en-US" sz="2800">
              <a:solidFill>
                <a:srgbClr val="FF0000"/>
              </a:solidFill>
              <a:latin typeface="Book Antiqua"/>
              <a:ea typeface="+mn-lt"/>
              <a:cs typeface="+mn-lt"/>
            </a:endParaRPr>
          </a:p>
          <a:p>
            <a:pPr marL="344170" indent="-344170">
              <a:lnSpc>
                <a:spcPct val="110000"/>
              </a:lnSpc>
            </a:pPr>
            <a:r>
              <a:rPr lang="en-US" sz="2800" dirty="0">
                <a:solidFill>
                  <a:srgbClr val="FF0000"/>
                </a:solidFill>
                <a:latin typeface="Book Antiqua"/>
                <a:cs typeface="Arial"/>
              </a:rPr>
              <a:t>Blood electrolyte </a:t>
            </a:r>
            <a:r>
              <a:rPr lang="en-US" sz="2800">
                <a:solidFill>
                  <a:srgbClr val="FF0000"/>
                </a:solidFill>
                <a:latin typeface="Book Antiqua"/>
                <a:cs typeface="Arial"/>
              </a:rPr>
              <a:t>tests (ue, bone profile, cbc)</a:t>
            </a:r>
            <a:endParaRPr lang="en-US" sz="2800">
              <a:solidFill>
                <a:srgbClr val="FF0000"/>
              </a:solidFill>
              <a:latin typeface="Book Antiqua"/>
              <a:ea typeface="+mn-lt"/>
              <a:cs typeface="+mn-lt"/>
            </a:endParaRPr>
          </a:p>
          <a:p>
            <a:pPr marL="344170" indent="-344170">
              <a:lnSpc>
                <a:spcPct val="110000"/>
              </a:lnSpc>
            </a:pPr>
            <a:r>
              <a:rPr lang="en-US" sz="2800">
                <a:solidFill>
                  <a:srgbClr val="FF0000"/>
                </a:solidFill>
                <a:latin typeface="Book Antiqua"/>
                <a:cs typeface="Arial"/>
              </a:rPr>
              <a:t>Urinalysis (osmolality)</a:t>
            </a:r>
            <a:endParaRPr lang="en-US" sz="2800">
              <a:solidFill>
                <a:srgbClr val="FF0000"/>
              </a:solidFill>
              <a:latin typeface="Book Antiqua"/>
              <a:ea typeface="+mn-lt"/>
              <a:cs typeface="+mn-lt"/>
            </a:endParaRPr>
          </a:p>
          <a:p>
            <a:pPr marL="344170" indent="-344170">
              <a:lnSpc>
                <a:spcPct val="110000"/>
              </a:lnSpc>
            </a:pPr>
            <a:r>
              <a:rPr lang="en-US" sz="2800" dirty="0">
                <a:solidFill>
                  <a:srgbClr val="FF0000"/>
                </a:solidFill>
                <a:latin typeface="Book Antiqua"/>
                <a:cs typeface="Arial"/>
              </a:rPr>
              <a:t>Chest X-ray</a:t>
            </a:r>
            <a:endParaRPr lang="en-US" sz="2800">
              <a:solidFill>
                <a:srgbClr val="FF0000"/>
              </a:solidFill>
              <a:latin typeface="Book Antiqua"/>
              <a:ea typeface="+mn-lt"/>
              <a:cs typeface="+mn-lt"/>
            </a:endParaRPr>
          </a:p>
          <a:p>
            <a:pPr marL="344170" indent="-344170">
              <a:lnSpc>
                <a:spcPct val="110000"/>
              </a:lnSpc>
            </a:pPr>
            <a:r>
              <a:rPr lang="en-US" sz="2800">
                <a:solidFill>
                  <a:srgbClr val="FF0000"/>
                </a:solidFill>
                <a:latin typeface="Book Antiqua"/>
                <a:cs typeface="Arial"/>
              </a:rPr>
              <a:t> ECG(electrocardiogram)</a:t>
            </a:r>
            <a:endParaRPr lang="en-US" sz="2800">
              <a:solidFill>
                <a:srgbClr val="FF0000"/>
              </a:solidFill>
              <a:latin typeface="Book Antiqua"/>
              <a:ea typeface="+mn-lt"/>
              <a:cs typeface="+mn-lt"/>
            </a:endParaRPr>
          </a:p>
          <a:p>
            <a:pPr marL="344170" indent="-344170">
              <a:lnSpc>
                <a:spcPct val="110000"/>
              </a:lnSpc>
            </a:pPr>
            <a:endParaRPr lang="en-US" sz="2800" dirty="0">
              <a:latin typeface="Book Antiqua"/>
              <a:ea typeface="+mn-lt"/>
              <a:cs typeface="+mn-lt"/>
            </a:endParaRPr>
          </a:p>
          <a:p>
            <a:pPr marL="344170" indent="-344170">
              <a:lnSpc>
                <a:spcPct val="110000"/>
              </a:lnSpc>
            </a:pPr>
            <a:endParaRPr lang="en-US" sz="2800">
              <a:latin typeface="Book Antiqua"/>
              <a:cs typeface="Arial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xmlns="" id="{0178E784-3C81-4963-ACD9-58EF41CE82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6B4FCBEC-5277-4861-97D9-088235A4426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rcRect l="15194" r="30593" b="-2"/>
          <a:stretch/>
        </p:blipFill>
        <p:spPr>
          <a:xfrm>
            <a:off x="99629" y="129624"/>
            <a:ext cx="5569814" cy="66854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9E8EAB-8C75-4415-92D5-F9EE1CD8A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288" y="132320"/>
            <a:ext cx="3024722" cy="1249344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>
                <a:highlight>
                  <a:srgbClr val="000000"/>
                </a:highlight>
                <a:latin typeface="Bookman Old Style"/>
                <a:cs typeface="Arial"/>
              </a:rPr>
              <a:t>Diagnosis</a:t>
            </a:r>
            <a:r>
              <a:rPr lang="en-US" sz="4400" b="1" dirty="0">
                <a:solidFill>
                  <a:srgbClr val="FF0000"/>
                </a:solidFill>
                <a:latin typeface="Bookman Old Style"/>
                <a:cs typeface="Arial"/>
              </a:rPr>
              <a:t> </a:t>
            </a:r>
            <a:endParaRPr lang="en-US" sz="4400" b="1">
              <a:solidFill>
                <a:srgbClr val="FF0000"/>
              </a:solidFill>
              <a:latin typeface="Bookman Old Style"/>
            </a:endParaRPr>
          </a:p>
        </p:txBody>
      </p:sp>
      <p:pic>
        <p:nvPicPr>
          <p:cNvPr id="3" name="Graphic 4" descr="Atom with solid fill">
            <a:extLst>
              <a:ext uri="{FF2B5EF4-FFF2-40B4-BE49-F238E27FC236}">
                <a16:creationId xmlns:a16="http://schemas.microsoft.com/office/drawing/2014/main" xmlns="" id="{197F55D3-353F-45C3-AD53-DDBEDEBB1B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142007" y="-90577"/>
            <a:ext cx="914400" cy="914400"/>
          </a:xfrm>
          <a:prstGeom prst="rect">
            <a:avLst/>
          </a:prstGeom>
        </p:spPr>
      </p:pic>
      <p:pic>
        <p:nvPicPr>
          <p:cNvPr id="27" name="Graphic 4" descr="Atom with solid fill">
            <a:extLst>
              <a:ext uri="{FF2B5EF4-FFF2-40B4-BE49-F238E27FC236}">
                <a16:creationId xmlns:a16="http://schemas.microsoft.com/office/drawing/2014/main" xmlns="" id="{87CD6630-1C41-4135-A01D-32892D9DC7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9793855" y="-431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9562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2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2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2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xmlns="" id="{54961F17-D0E4-4576-8697-C062B28F32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02DF1AEC-0327-4A10-AED3-E227ACAEBC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xmlns="" id="{C839742D-6F41-4E7D-9C32-1D9825B40F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5F3ADA23-8B3C-4029-923E-81303CBEA1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39EAE543-FFF6-43C7-AD71-A9856C6E7C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8D7E355E-8304-4C50-B384-7DAC68D87C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B4012592-AF27-40DE-896A-D5B723E77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3652" y="1855217"/>
            <a:ext cx="4076659" cy="432412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4170" indent="-344170">
              <a:buFont typeface="Wingdings"/>
              <a:buChar char="§"/>
            </a:pPr>
            <a:r>
              <a:rPr lang="en-US" sz="3600" b="1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Fluid replacement.</a:t>
            </a:r>
            <a:r>
              <a:rPr lang="en-US" sz="3600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 </a:t>
            </a:r>
          </a:p>
          <a:p>
            <a:pPr marL="344170" indent="-344170">
              <a:buFont typeface="Wingdings"/>
              <a:buChar char="§"/>
            </a:pPr>
            <a:r>
              <a:rPr lang="en-US" sz="3600" b="1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Electrolyte replacement.</a:t>
            </a:r>
            <a:r>
              <a:rPr lang="en-US" sz="3600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 </a:t>
            </a:r>
          </a:p>
          <a:p>
            <a:pPr marL="344170" indent="-344170">
              <a:buFont typeface="Wingdings"/>
              <a:buChar char="§"/>
            </a:pPr>
            <a:r>
              <a:rPr lang="en-US" sz="3600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 </a:t>
            </a:r>
            <a:r>
              <a:rPr lang="en-US" sz="3600" b="1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Insulin therapy.</a:t>
            </a:r>
            <a:r>
              <a:rPr lang="en-US" sz="3600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 </a:t>
            </a:r>
            <a:endParaRPr lang="en-US" sz="3600">
              <a:solidFill>
                <a:srgbClr val="FF0000"/>
              </a:solidFill>
              <a:latin typeface="Book Antiqua"/>
              <a:ea typeface="+mn-lt"/>
              <a:cs typeface="+mn-lt"/>
            </a:endParaRPr>
          </a:p>
          <a:p>
            <a:pPr marL="344170" indent="-344170">
              <a:lnSpc>
                <a:spcPct val="110000"/>
              </a:lnSpc>
            </a:pPr>
            <a:endParaRPr lang="en-US" sz="2800" dirty="0">
              <a:solidFill>
                <a:srgbClr val="FF0000"/>
              </a:solidFill>
              <a:latin typeface="Book Antiqua"/>
              <a:ea typeface="+mn-lt"/>
              <a:cs typeface="+mn-lt"/>
            </a:endParaRPr>
          </a:p>
          <a:p>
            <a:pPr marL="344170" indent="-344170">
              <a:lnSpc>
                <a:spcPct val="110000"/>
              </a:lnSpc>
            </a:pPr>
            <a:endParaRPr lang="en-US" sz="2800">
              <a:solidFill>
                <a:srgbClr val="FF0000"/>
              </a:solidFill>
              <a:latin typeface="Book Antiqua"/>
              <a:cs typeface="Arial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xmlns="" id="{0178E784-3C81-4963-ACD9-58EF41CE82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6B4FCBEC-5277-4861-97D9-088235A4426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rcRect l="15194" r="30593" b="-2"/>
          <a:stretch/>
        </p:blipFill>
        <p:spPr>
          <a:xfrm>
            <a:off x="99629" y="129624"/>
            <a:ext cx="5569814" cy="66854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9E8EAB-8C75-4415-92D5-F9EE1CD8A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288" y="132320"/>
            <a:ext cx="3686080" cy="1249344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u="sng" dirty="0">
                <a:solidFill>
                  <a:srgbClr val="FF0000"/>
                </a:solidFill>
                <a:latin typeface="Bookman Old Style"/>
              </a:rPr>
              <a:t>TREATMENT</a:t>
            </a:r>
          </a:p>
        </p:txBody>
      </p:sp>
      <p:pic>
        <p:nvPicPr>
          <p:cNvPr id="3" name="Graphic 4" descr="Atom with solid fill">
            <a:extLst>
              <a:ext uri="{FF2B5EF4-FFF2-40B4-BE49-F238E27FC236}">
                <a16:creationId xmlns:a16="http://schemas.microsoft.com/office/drawing/2014/main" xmlns="" id="{197F55D3-353F-45C3-AD53-DDBEDEBB1B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142007" y="-90577"/>
            <a:ext cx="914400" cy="914400"/>
          </a:xfrm>
          <a:prstGeom prst="rect">
            <a:avLst/>
          </a:prstGeom>
        </p:spPr>
      </p:pic>
      <p:pic>
        <p:nvPicPr>
          <p:cNvPr id="27" name="Graphic 4" descr="Atom with solid fill">
            <a:extLst>
              <a:ext uri="{FF2B5EF4-FFF2-40B4-BE49-F238E27FC236}">
                <a16:creationId xmlns:a16="http://schemas.microsoft.com/office/drawing/2014/main" xmlns="" id="{87CD6630-1C41-4135-A01D-32892D9DC7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0498346" y="531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691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 descr="A group of people standing in a room&#10;&#10;Description automatically generated">
            <a:extLst>
              <a:ext uri="{FF2B5EF4-FFF2-40B4-BE49-F238E27FC236}">
                <a16:creationId xmlns:a16="http://schemas.microsoft.com/office/drawing/2014/main" xmlns="" id="{71C5E3C2-CCF2-4104-B7C2-F8D32A1E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-5749" y="848"/>
            <a:ext cx="5302370" cy="6856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F6187B-3C1F-40FD-90C2-FABA8496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381" y="2923"/>
            <a:ext cx="5873615" cy="602779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highlight>
                  <a:srgbClr val="C0C0C0"/>
                </a:highlight>
                <a:latin typeface="Book Antiqua"/>
                <a:cs typeface="Arial"/>
              </a:rPr>
              <a:t>FLUID REPLACEMENT</a:t>
            </a:r>
            <a:endParaRPr lang="en-US" sz="4000">
              <a:solidFill>
                <a:schemeClr val="bg1"/>
              </a:solidFill>
              <a:highlight>
                <a:srgbClr val="C0C0C0"/>
              </a:highlight>
              <a:latin typeface="Book Antiqua"/>
              <a:cs typeface="Arial" panose="020B060402020202020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xmlns="" id="{4BFA24AE-B6E6-4595-B765-5CB780C6C048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193009" y="68042"/>
            <a:ext cx="6307647" cy="711771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4170" indent="-344170">
              <a:buChar char="v"/>
            </a:pPr>
            <a:r>
              <a:rPr lang="en-US" b="1" i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5-10% dehydration = 10ml/kg of NS over an hour</a:t>
            </a:r>
          </a:p>
          <a:p>
            <a:pPr marL="344170" indent="-344170">
              <a:buChar char="v"/>
            </a:pPr>
            <a:r>
              <a:rPr lang="en-US" b="1" i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In rare cases of shock or &gt; 10% </a:t>
            </a:r>
            <a:r>
              <a:rPr lang="en-US" b="1" i="1" dirty="0" smtClean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dehydration=20ml/kg </a:t>
            </a:r>
            <a:r>
              <a:rPr lang="en-US" b="1" i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isotonic bolus </a:t>
            </a:r>
          </a:p>
          <a:p>
            <a:pPr marL="344170" indent="-344170">
              <a:buChar char="v"/>
            </a:pPr>
            <a:r>
              <a:rPr lang="en-US" b="1" i="1" dirty="0" smtClean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Fluid management is </a:t>
            </a:r>
            <a:r>
              <a:rPr lang="en-US" b="1" i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given with maintenance plus deficit with isotonic fluid. </a:t>
            </a:r>
          </a:p>
          <a:p>
            <a:pPr marL="344170" indent="-344170">
              <a:buChar char="v"/>
            </a:pPr>
            <a:r>
              <a:rPr lang="en-US" b="1" i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Total fluid per day should not exceed to 1.5 -2 maintenance</a:t>
            </a:r>
          </a:p>
          <a:p>
            <a:pPr marL="344170" indent="-344170">
              <a:buChar char="v"/>
            </a:pPr>
            <a:r>
              <a:rPr lang="en-US" b="1" i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Fluid to adjust accordingly if BG fall rapidly to &lt;15mmol to change </a:t>
            </a:r>
            <a:r>
              <a:rPr lang="en-US" b="1" i="1" dirty="0" smtClean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IVF </a:t>
            </a:r>
            <a:r>
              <a:rPr lang="en-US" b="1" dirty="0" smtClean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to </a:t>
            </a:r>
            <a:r>
              <a:rPr lang="en-US" b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0.45 </a:t>
            </a:r>
            <a:r>
              <a:rPr lang="en-US" b="1" dirty="0" smtClean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NACL</a:t>
            </a:r>
            <a:r>
              <a:rPr lang="en-US" b="1" dirty="0" smtClean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+5</a:t>
            </a:r>
            <a:r>
              <a:rPr lang="en-US" b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% dextrose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Note: if serum osmolality &gt;360 the deficit is given over 48 hours </a:t>
            </a:r>
          </a:p>
        </p:txBody>
      </p:sp>
    </p:spTree>
    <p:extLst>
      <p:ext uri="{BB962C8B-B14F-4D97-AF65-F5344CB8AC3E}">
        <p14:creationId xmlns:p14="http://schemas.microsoft.com/office/powerpoint/2010/main" xmlns="" val="256383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A picture containing graphical user interface, text&#10;&#10;Description automatically generated">
            <a:extLst>
              <a:ext uri="{FF2B5EF4-FFF2-40B4-BE49-F238E27FC236}">
                <a16:creationId xmlns:a16="http://schemas.microsoft.com/office/drawing/2014/main" xmlns="" id="{4DBA7F51-5509-4EE4-A22B-46BA2E0DC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6" y="-896"/>
            <a:ext cx="4529407" cy="2550184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xmlns="" id="{4BFA24AE-B6E6-4595-B765-5CB780C6C048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4244105" y="513741"/>
            <a:ext cx="7069646" cy="665763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4170" indent="-34417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    -&gt; </a:t>
            </a: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regular insulin IV infusion to start 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1 hour </a:t>
            </a: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after fluid replacement</a:t>
            </a:r>
            <a:endParaRPr lang="en-US" sz="1800" dirty="0">
              <a:solidFill>
                <a:srgbClr val="FF0000"/>
              </a:solidFill>
              <a:highlight>
                <a:srgbClr val="C0C0C0"/>
              </a:highlight>
              <a:latin typeface="Arial" panose="020B0604020202020204"/>
              <a:cs typeface="Arial" panose="020B0604020202020204"/>
            </a:endParaRPr>
          </a:p>
          <a:p>
            <a:pPr marL="344170" indent="-34417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/>
            </a:r>
            <a:b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</a:b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-&gt; infusion rate: 0.05-0.1unit/kg/hr</a:t>
            </a:r>
            <a:b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</a:b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(50 units regulin insulin in 50 ml 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TV of NS</a:t>
            </a: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, 1unit=1ml)</a:t>
            </a:r>
            <a:endParaRPr lang="en-US" sz="1800" dirty="0">
              <a:solidFill>
                <a:srgbClr val="FF0000"/>
              </a:solidFill>
              <a:highlight>
                <a:srgbClr val="C0C0C0"/>
              </a:highlight>
              <a:latin typeface="Arial" panose="020B0604020202020204"/>
              <a:cs typeface="Arial" panose="020B0604020202020204"/>
            </a:endParaRPr>
          </a:p>
          <a:p>
            <a:pPr marL="344170" indent="-34417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/>
            </a:r>
            <a:b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</a:b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-&gt; accept BG drop 8 </a:t>
            </a:r>
            <a:r>
              <a:rPr lang="en-US" sz="1800" b="1" dirty="0" err="1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mmol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 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for </a:t>
            </a: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1st hour 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but no </a:t>
            </a: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more 5-6 </a:t>
            </a:r>
            <a:r>
              <a:rPr lang="en-US" sz="1800" b="1" dirty="0" err="1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mmol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 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t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here </a:t>
            </a: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after</a:t>
            </a:r>
            <a:endParaRPr lang="en-US" sz="1800" dirty="0">
              <a:solidFill>
                <a:srgbClr val="FF0000"/>
              </a:solidFill>
              <a:highlight>
                <a:srgbClr val="C0C0C0"/>
              </a:highlight>
              <a:latin typeface="Arial" panose="020B0604020202020204"/>
              <a:cs typeface="Arial" panose="020B0604020202020204"/>
            </a:endParaRPr>
          </a:p>
          <a:p>
            <a:pPr marL="344170" indent="-34417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/>
            </a:r>
            <a:b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</a:b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-&gt; if BG drops fast change iv dextrose 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with  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D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10</a:t>
            </a: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% or d 15% depend on BG</a:t>
            </a:r>
            <a:endParaRPr lang="en-US" sz="1800" dirty="0">
              <a:solidFill>
                <a:srgbClr val="FF0000"/>
              </a:solidFill>
              <a:highlight>
                <a:srgbClr val="C0C0C0"/>
              </a:highlight>
              <a:latin typeface="Arial" panose="020B0604020202020204"/>
              <a:cs typeface="Arial" panose="020B0604020202020204"/>
            </a:endParaRPr>
          </a:p>
          <a:p>
            <a:pPr marL="344170" indent="-34417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/>
            </a:r>
            <a:b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</a:b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-&gt; If acidosis is corrected, 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insulin is reduce </a:t>
            </a: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to 0.05iu/kg/hr</a:t>
            </a:r>
            <a:endParaRPr lang="en-US" sz="1800" dirty="0">
              <a:solidFill>
                <a:srgbClr val="FF0000"/>
              </a:solidFill>
              <a:highlight>
                <a:srgbClr val="C0C0C0"/>
              </a:highlight>
              <a:latin typeface="Arial" panose="020B0604020202020204"/>
              <a:cs typeface="Arial" panose="020B0604020202020204"/>
            </a:endParaRPr>
          </a:p>
          <a:p>
            <a:pPr marL="344170" indent="-34417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/>
            </a:r>
            <a:b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</a:b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-&gt; if acidosis corrected and BG 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within target</a:t>
            </a: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, can start Subcutaneous (</a:t>
            </a:r>
            <a:r>
              <a:rPr lang="en-US" sz="18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SC)insulin </a:t>
            </a:r>
            <a:r>
              <a:rPr lang="en-US" sz="18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R 30 mins prior meals, then </a:t>
            </a:r>
            <a:r>
              <a:rPr lang="en-US" sz="16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stop </a:t>
            </a:r>
            <a:r>
              <a:rPr lang="en-US" sz="16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IV insulin </a:t>
            </a:r>
            <a:r>
              <a:rPr lang="en-US" sz="16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30 </a:t>
            </a:r>
            <a:r>
              <a:rPr lang="en-US" sz="16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min. afte</a:t>
            </a:r>
            <a:r>
              <a:rPr lang="en-US" sz="16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r </a:t>
            </a:r>
            <a:r>
              <a:rPr lang="en-US" sz="1600" b="1" dirty="0" smtClean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SC </a:t>
            </a:r>
            <a:r>
              <a:rPr lang="en-US" sz="16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insulin.</a:t>
            </a:r>
            <a:br>
              <a:rPr lang="en-US" sz="1600" b="1" dirty="0">
                <a:solidFill>
                  <a:srgbClr val="FF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</a:br>
            <a:endParaRPr lang="en-US" sz="1600" dirty="0">
              <a:solidFill>
                <a:srgbClr val="FF0000"/>
              </a:solidFill>
              <a:highlight>
                <a:srgbClr val="C0C0C0"/>
              </a:highlight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1600" b="1" dirty="0">
              <a:solidFill>
                <a:srgbClr val="C00000"/>
              </a:solidFill>
              <a:highlight>
                <a:srgbClr val="C0C0C0"/>
              </a:highlight>
              <a:latin typeface="Century Schoolbook"/>
              <a:cs typeface="Arial" panose="020B0604020202020204"/>
            </a:endParaRPr>
          </a:p>
        </p:txBody>
      </p:sp>
      <p:pic>
        <p:nvPicPr>
          <p:cNvPr id="4" name="Picture 4" descr="A picture containing plane, airplane, small, skiing&#10;&#10;Description automatically generated">
            <a:extLst>
              <a:ext uri="{FF2B5EF4-FFF2-40B4-BE49-F238E27FC236}">
                <a16:creationId xmlns:a16="http://schemas.microsoft.com/office/drawing/2014/main" xmlns="" id="{D6AF57A9-9A83-47C4-9CF8-C7F44F2F3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305" y="2197940"/>
            <a:ext cx="4586916" cy="3005227"/>
          </a:xfrm>
          <a:prstGeom prst="rect">
            <a:avLst/>
          </a:prstGeom>
        </p:spPr>
      </p:pic>
      <p:pic>
        <p:nvPicPr>
          <p:cNvPr id="5" name="Picture 5" descr="A picture containing indoor, toothbrush, brush, sitting&#10;&#10;Description automatically generated">
            <a:extLst>
              <a:ext uri="{FF2B5EF4-FFF2-40B4-BE49-F238E27FC236}">
                <a16:creationId xmlns:a16="http://schemas.microsoft.com/office/drawing/2014/main" xmlns="" id="{003BB53C-1ED0-469A-AB54-509DE83D7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94" y="4713079"/>
            <a:ext cx="4529048" cy="21506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6E56797-B4EB-4A48-AE8C-0FF7B4072EDC}"/>
              </a:ext>
            </a:extLst>
          </p:cNvPr>
          <p:cNvSpPr txBox="1"/>
          <p:nvPr/>
        </p:nvSpPr>
        <p:spPr>
          <a:xfrm>
            <a:off x="-192655" y="-63260"/>
            <a:ext cx="850851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highlight>
                  <a:srgbClr val="C0C0C0"/>
                </a:highlight>
                <a:latin typeface="Century"/>
              </a:rPr>
              <a:t>    INSULIN </a:t>
            </a:r>
            <a:r>
              <a:rPr lang="en-US" sz="2800" b="1">
                <a:solidFill>
                  <a:schemeClr val="bg1"/>
                </a:solidFill>
                <a:highlight>
                  <a:srgbClr val="C0C0C0"/>
                </a:highlight>
                <a:latin typeface="Century"/>
              </a:rPr>
              <a:t>THERAPY  </a:t>
            </a:r>
            <a:endParaRPr lang="en-US" sz="2800" b="1">
              <a:solidFill>
                <a:schemeClr val="bg1"/>
              </a:solidFill>
              <a:highlight>
                <a:srgbClr val="C0C0C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8945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 descr="A group of people standing in a room&#10;&#10;Description automatically generated">
            <a:extLst>
              <a:ext uri="{FF2B5EF4-FFF2-40B4-BE49-F238E27FC236}">
                <a16:creationId xmlns:a16="http://schemas.microsoft.com/office/drawing/2014/main" xmlns="" id="{71C5E3C2-CCF2-4104-B7C2-F8D32A1E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-5749" y="848"/>
            <a:ext cx="5302370" cy="6856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F6187B-3C1F-40FD-90C2-FABA8496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23" y="2923"/>
            <a:ext cx="7153200" cy="1177873"/>
          </a:xfrm>
        </p:spPr>
        <p:txBody>
          <a:bodyPr>
            <a:noAutofit/>
          </a:bodyPr>
          <a:lstStyle/>
          <a:p>
            <a:pPr algn="just"/>
            <a:r>
              <a:rPr lang="en-US" sz="3600" b="1">
                <a:solidFill>
                  <a:schemeClr val="bg1"/>
                </a:solidFill>
                <a:highlight>
                  <a:srgbClr val="C0C0C0"/>
                </a:highlight>
                <a:latin typeface="Book Antiqua"/>
                <a:cs typeface="Arial"/>
              </a:rPr>
              <a:t>ELECTROLYTE CORRECTION</a:t>
            </a:r>
            <a:endParaRPr lang="en-US">
              <a:cs typeface="Arial" panose="020B060402020202020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xmlns="" id="{4BFA24AE-B6E6-4595-B765-5CB780C6C048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279273" y="1390759"/>
            <a:ext cx="6005723" cy="598190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4170" indent="-344170">
              <a:buChar char="v"/>
            </a:pPr>
            <a:r>
              <a:rPr lang="en-US" b="1" i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Potassium </a:t>
            </a:r>
            <a:r>
              <a:rPr lang="en-US" b="1" i="1" dirty="0" smtClean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added to 500ml IVF</a:t>
            </a:r>
            <a:r>
              <a:rPr lang="en-US" b="1" i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( max of 20 </a:t>
            </a:r>
            <a:r>
              <a:rPr lang="en-US" b="1" i="1" dirty="0" err="1" smtClean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mmol</a:t>
            </a:r>
            <a:r>
              <a:rPr lang="en-US" b="1" i="1" dirty="0" smtClean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)</a:t>
            </a:r>
            <a:r>
              <a:rPr lang="en-US" b="1" i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 </a:t>
            </a:r>
          </a:p>
          <a:p>
            <a:pPr marL="344170" indent="-344170">
              <a:buChar char="v"/>
            </a:pPr>
            <a:r>
              <a:rPr lang="en-US" b="1" i="1" dirty="0" smtClean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Potassium phosphate is </a:t>
            </a:r>
            <a:r>
              <a:rPr lang="en-US" b="1" i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added to IVF in case of severe </a:t>
            </a:r>
            <a:r>
              <a:rPr lang="en-US" b="1" i="1" dirty="0" err="1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hyposphatemia</a:t>
            </a:r>
            <a:endParaRPr lang="en-US" b="1" i="1" dirty="0">
              <a:solidFill>
                <a:srgbClr val="C00000"/>
              </a:solidFill>
              <a:highlight>
                <a:srgbClr val="C0C0C0"/>
              </a:highlight>
              <a:latin typeface="Century Schoolbook"/>
              <a:cs typeface="Arial" panose="020B0604020202020204"/>
            </a:endParaRPr>
          </a:p>
          <a:p>
            <a:pPr marL="344170" indent="-344170">
              <a:buChar char="v"/>
            </a:pPr>
            <a:r>
              <a:rPr lang="en-US" b="1" i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Bicarbonate correction is NOT indicated in DKA, acidosis gets corrected with correction of dehydration / fluid therapy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   Indication of Bicarbonate replacement:(1-2 </a:t>
            </a:r>
            <a:r>
              <a:rPr lang="en-US" b="1" dirty="0" err="1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mmol</a:t>
            </a:r>
            <a:r>
              <a:rPr lang="en-US" b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/kg over 2 hours)</a:t>
            </a:r>
            <a:endParaRPr lang="en-US" dirty="0">
              <a:cs typeface="Arial"/>
            </a:endParaRPr>
          </a:p>
          <a:p>
            <a:pPr marL="344170" indent="-344170"/>
            <a:r>
              <a:rPr lang="en-US" b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PH&lt;6.9 after initial resuscitation</a:t>
            </a:r>
          </a:p>
          <a:p>
            <a:pPr marL="344170" indent="-344170"/>
            <a:r>
              <a:rPr lang="en-US" b="1" dirty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Case of shock</a:t>
            </a:r>
          </a:p>
          <a:p>
            <a:pPr marL="344170" indent="-344170"/>
            <a:r>
              <a:rPr lang="en-US" b="1" dirty="0" err="1" smtClean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Hyperkalemia</a:t>
            </a:r>
            <a:r>
              <a:rPr lang="en-US" b="1" dirty="0" smtClean="0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 and </a:t>
            </a:r>
            <a:r>
              <a:rPr lang="en-US" b="1" dirty="0" err="1">
                <a:solidFill>
                  <a:srgbClr val="C00000"/>
                </a:solidFill>
                <a:highlight>
                  <a:srgbClr val="C0C0C0"/>
                </a:highlight>
                <a:latin typeface="Century Schoolbook"/>
                <a:cs typeface="Arial" panose="020B0604020202020204"/>
              </a:rPr>
              <a:t>arrythmias</a:t>
            </a:r>
            <a:endParaRPr lang="en-US" b="1" dirty="0">
              <a:solidFill>
                <a:srgbClr val="C00000"/>
              </a:solidFill>
              <a:highlight>
                <a:srgbClr val="C0C0C0"/>
              </a:highlight>
              <a:latin typeface="Century Schoolbook"/>
              <a:cs typeface="Arial" panose="020B0604020202020204"/>
            </a:endParaRP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  <a:highlight>
                <a:srgbClr val="C0C0C0"/>
              </a:highlight>
              <a:latin typeface="Century Schoolbook"/>
              <a:cs typeface="Arial" panose="020B0604020202020204"/>
            </a:endParaRPr>
          </a:p>
          <a:p>
            <a:pPr marL="344170" indent="-344170"/>
            <a:endParaRPr lang="en-US" dirty="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823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B1395C1E-2648-4FFC-AC7C-2C17083518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1C7379FE-10D6-4FEA-BEA3-5E2034A44C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90FB7BFA-EBDD-467C-B253-EFA7005041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23A9D773-2FA9-4E93-A01A-AEECF93EB4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94E884E-CFA2-4B31-8157-DA73B88463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3655E855-74FA-4AD3-B859-2488383A9D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2E91CD00-2EAB-4689-A44A-C4687605E1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xmlns="" id="{CE4E23EB-7D1F-4223-8BC1-FB83F69F20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xmlns="" id="{B2698634-69E1-4F09-BCF7-366A5A5C4F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3675C6A3-66C2-4CB7-AC7E-F274B7277E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62E5A367-0F56-4156-A2AE-FAD07299AC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E1AAEB5E-C547-4C88-B0D8-F24BE79FD1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EB74DCE7-E922-457A-88B0-4299A3DA68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290078-014B-49B5-9B6E-9B5B3919B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632" y="4332535"/>
            <a:ext cx="9839960" cy="2105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5400" b="1">
                <a:solidFill>
                  <a:srgbClr val="FF0000"/>
                </a:solidFill>
                <a:highlight>
                  <a:srgbClr val="000000"/>
                </a:highlight>
                <a:latin typeface="Georgia"/>
                <a:cs typeface="Arial"/>
              </a:rPr>
              <a:t>NURSING INTERVENTIONS.....</a:t>
            </a:r>
            <a:endParaRPr lang="en-US" sz="5400" b="1">
              <a:solidFill>
                <a:srgbClr val="FF0000"/>
              </a:solidFill>
              <a:highlight>
                <a:srgbClr val="000000"/>
              </a:highlight>
              <a:latin typeface="Georgia"/>
            </a:endParaRPr>
          </a:p>
        </p:txBody>
      </p:sp>
      <p:pic>
        <p:nvPicPr>
          <p:cNvPr id="7" name="Picture 7" descr="A person holding a baby&#10;&#10;Description automatically generated">
            <a:extLst>
              <a:ext uri="{FF2B5EF4-FFF2-40B4-BE49-F238E27FC236}">
                <a16:creationId xmlns:a16="http://schemas.microsoft.com/office/drawing/2014/main" xmlns="" id="{E70229A7-DF39-4520-B15C-E95259536F7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rcRect l="9882" r="2" b="2"/>
          <a:stretch/>
        </p:blipFill>
        <p:spPr>
          <a:xfrm>
            <a:off x="1073495" y="460284"/>
            <a:ext cx="5223879" cy="3290126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pic>
        <p:nvPicPr>
          <p:cNvPr id="4" name="Picture 4" descr="Logo&#10;&#10;Description automatically generated">
            <a:extLst>
              <a:ext uri="{FF2B5EF4-FFF2-40B4-BE49-F238E27FC236}">
                <a16:creationId xmlns:a16="http://schemas.microsoft.com/office/drawing/2014/main" xmlns="" id="{12F8DAF9-D714-4DF1-AF62-AB6E96070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7">
            <a:extLst>
              <a:ext uri="{837473B0-CC2E-450A-ABE3-18F120FF3D39}">
                <a1611:picAttrSrcUrl xmlns:a1611="http://schemas.microsoft.com/office/drawing/2016/11/main" xmlns="" r:id="rId8"/>
              </a:ext>
            </a:extLst>
          </a:blip>
          <a:srcRect r="12" b="33095"/>
          <a:stretch/>
        </p:blipFill>
        <p:spPr>
          <a:xfrm>
            <a:off x="6362026" y="460285"/>
            <a:ext cx="4940758" cy="3261372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047B410D-C384-4834-95F7-EFE768C439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5847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a room&#10;&#10;Description automatically generated">
            <a:extLst>
              <a:ext uri="{FF2B5EF4-FFF2-40B4-BE49-F238E27FC236}">
                <a16:creationId xmlns:a16="http://schemas.microsoft.com/office/drawing/2014/main" xmlns="" id="{239B0675-E529-4628-B7B4-044911308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80514" y="-1436"/>
            <a:ext cx="5546783" cy="677460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C8046F-B658-48DE-885B-2161E26A9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4620" y="341210"/>
            <a:ext cx="5832903" cy="658575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4170" indent="-344170">
              <a:buFont typeface="Wingdings,Sans-Serif" panose="05000000000000000000" pitchFamily="2" charset="2"/>
              <a:buChar char="v"/>
            </a:pPr>
            <a:r>
              <a:rPr lang="en-US" b="1" dirty="0">
                <a:latin typeface="Georgia"/>
                <a:ea typeface="+mn-lt"/>
                <a:cs typeface="+mn-lt"/>
              </a:rPr>
              <a:t> </a:t>
            </a:r>
            <a:r>
              <a:rPr lang="en-US" b="1" i="1" u="sng">
                <a:latin typeface="Georgia"/>
                <a:ea typeface="+mn-lt"/>
                <a:cs typeface="+mn-lt"/>
              </a:rPr>
              <a:t>PRIORITY IS ASSESSMENT AND MONITORING !!!</a:t>
            </a:r>
            <a:endParaRPr lang="en-US" b="1">
              <a:latin typeface="Georgia"/>
              <a:ea typeface="+mn-lt"/>
              <a:cs typeface="+mn-lt"/>
            </a:endParaRPr>
          </a:p>
          <a:p>
            <a:pPr marL="344170" indent="-344170">
              <a:lnSpc>
                <a:spcPct val="100000"/>
              </a:lnSpc>
              <a:buFont typeface="Wingdings,Sans-Serif" panose="05000000000000000000" pitchFamily="2" charset="2"/>
              <a:buChar char="Ø"/>
            </a:pPr>
            <a:r>
              <a:rPr lang="en-US" b="1">
                <a:latin typeface="Georgia"/>
                <a:ea typeface="+mn-lt"/>
                <a:cs typeface="+mn-lt"/>
              </a:rPr>
              <a:t>GLASCOW COMA SCALE </a:t>
            </a:r>
          </a:p>
          <a:p>
            <a:pPr marL="344170" indent="-344170">
              <a:lnSpc>
                <a:spcPct val="100000"/>
              </a:lnSpc>
              <a:buFont typeface="Wingdings,Sans-Serif" panose="05000000000000000000" pitchFamily="2" charset="2"/>
              <a:buChar char="Ø"/>
            </a:pPr>
            <a:r>
              <a:rPr lang="en-US" b="1">
                <a:latin typeface="Georgia"/>
                <a:ea typeface="+mn-lt"/>
                <a:cs typeface="+mn-lt"/>
              </a:rPr>
              <a:t>BLOOD SUGAR</a:t>
            </a:r>
          </a:p>
          <a:p>
            <a:pPr marL="344170" indent="-344170">
              <a:lnSpc>
                <a:spcPct val="100000"/>
              </a:lnSpc>
              <a:buFont typeface="Wingdings,Sans-Serif" panose="05000000000000000000" pitchFamily="2" charset="2"/>
              <a:buChar char="Ø"/>
            </a:pPr>
            <a:r>
              <a:rPr lang="en-US" b="1">
                <a:latin typeface="Georgia"/>
                <a:ea typeface="+mn-lt"/>
                <a:cs typeface="+mn-lt"/>
              </a:rPr>
              <a:t>URINE KETONES</a:t>
            </a:r>
          </a:p>
          <a:p>
            <a:pPr marL="344170" indent="-344170">
              <a:lnSpc>
                <a:spcPct val="100000"/>
              </a:lnSpc>
              <a:buFont typeface="Wingdings,Sans-Serif" panose="05000000000000000000" pitchFamily="2" charset="2"/>
              <a:buChar char="Ø"/>
            </a:pPr>
            <a:r>
              <a:rPr lang="en-US" b="1">
                <a:latin typeface="Georgia"/>
                <a:ea typeface="+mn-lt"/>
                <a:cs typeface="+mn-lt"/>
              </a:rPr>
              <a:t>BLOOD KETONE</a:t>
            </a:r>
          </a:p>
          <a:p>
            <a:pPr marL="344170" indent="-344170">
              <a:lnSpc>
                <a:spcPct val="100000"/>
              </a:lnSpc>
              <a:buFont typeface="Wingdings,Sans-Serif" panose="05000000000000000000" pitchFamily="2" charset="2"/>
              <a:buChar char="Ø"/>
            </a:pPr>
            <a:r>
              <a:rPr lang="en-US" b="1">
                <a:latin typeface="Georgia"/>
                <a:ea typeface="+mn-lt"/>
                <a:cs typeface="+mn-lt"/>
              </a:rPr>
              <a:t>BLOOD ELECTROLYTES</a:t>
            </a:r>
          </a:p>
          <a:p>
            <a:pPr marL="344170" indent="-344170">
              <a:lnSpc>
                <a:spcPct val="100000"/>
              </a:lnSpc>
              <a:buChar char="v"/>
            </a:pPr>
            <a:r>
              <a:rPr lang="en-US" b="1">
                <a:latin typeface="Georgia"/>
                <a:ea typeface="+mn-lt"/>
                <a:cs typeface="+mn-lt"/>
              </a:rPr>
              <a:t>KEEP NPO, 24 HOURS STRICT INTAKE OUTPUT</a:t>
            </a:r>
          </a:p>
          <a:p>
            <a:pPr marL="344170" indent="-34417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b="1">
                <a:latin typeface="Georgia"/>
                <a:ea typeface="+mn-lt"/>
                <a:cs typeface="+mn-lt"/>
              </a:rPr>
              <a:t>VITALS RESPIRATORY RATE ,</a:t>
            </a:r>
            <a:r>
              <a:rPr lang="en-US" b="1" dirty="0">
                <a:latin typeface="Georgia"/>
                <a:ea typeface="+mn-lt"/>
                <a:cs typeface="+mn-lt"/>
              </a:rPr>
              <a:t> </a:t>
            </a:r>
            <a:r>
              <a:rPr lang="en-US" b="1">
                <a:latin typeface="Georgia"/>
                <a:ea typeface="+mn-lt"/>
                <a:cs typeface="+mn-lt"/>
              </a:rPr>
              <a:t>BP , HEART RATE, TEMPERATURE</a:t>
            </a:r>
          </a:p>
          <a:p>
            <a:pPr marL="344170" indent="-344170">
              <a:lnSpc>
                <a:spcPct val="100000"/>
              </a:lnSpc>
              <a:buFont typeface="Wingdings,Sans-Serif" panose="05000000000000000000" pitchFamily="2" charset="2"/>
              <a:buChar char="v"/>
            </a:pPr>
            <a:r>
              <a:rPr lang="en-US" b="1" i="1" u="sng">
                <a:latin typeface="Georgia"/>
                <a:ea typeface="+mn-lt"/>
                <a:cs typeface="+mn-lt"/>
              </a:rPr>
              <a:t>SECURE IV LINES OR ARTERIAL LINE IF NEEDED</a:t>
            </a:r>
            <a:endParaRPr lang="en-US" b="1">
              <a:latin typeface="Georgia"/>
              <a:ea typeface="+mn-lt"/>
              <a:cs typeface="+mn-lt"/>
            </a:endParaRPr>
          </a:p>
          <a:p>
            <a:pPr marL="344170" indent="-344170">
              <a:lnSpc>
                <a:spcPct val="100000"/>
              </a:lnSpc>
              <a:buFont typeface="Wingdings,Sans-Serif" panose="05000000000000000000" pitchFamily="2" charset="2"/>
              <a:buChar char="v"/>
            </a:pPr>
            <a:r>
              <a:rPr lang="en-US" b="1" i="1" u="sng">
                <a:latin typeface="Georgia"/>
                <a:ea typeface="+mn-lt"/>
                <a:cs typeface="+mn-lt"/>
              </a:rPr>
              <a:t>FLUID THERAPY</a:t>
            </a:r>
          </a:p>
          <a:p>
            <a:pPr marL="344170" indent="-344170">
              <a:lnSpc>
                <a:spcPct val="100000"/>
              </a:lnSpc>
              <a:buFont typeface="Wingdings,Sans-Serif" panose="05000000000000000000" pitchFamily="2" charset="2"/>
              <a:buChar char="v"/>
            </a:pPr>
            <a:r>
              <a:rPr lang="en-US" b="1" i="1" u="sng">
                <a:latin typeface="Georgia"/>
                <a:ea typeface="+mn-lt"/>
                <a:cs typeface="+mn-lt"/>
              </a:rPr>
              <a:t>INSULIN THERAPY</a:t>
            </a:r>
            <a:endParaRPr lang="en-US" b="1" i="1" u="sng" dirty="0">
              <a:latin typeface="Georgia"/>
              <a:ea typeface="+mn-lt"/>
              <a:cs typeface="+mn-lt"/>
            </a:endParaRPr>
          </a:p>
          <a:p>
            <a:pPr marL="344170" indent="-344170">
              <a:lnSpc>
                <a:spcPct val="100000"/>
              </a:lnSpc>
              <a:buFont typeface="Wingdings,Sans-Serif" panose="05000000000000000000" pitchFamily="2" charset="2"/>
              <a:buChar char="v"/>
            </a:pPr>
            <a:endParaRPr lang="en-US" dirty="0">
              <a:ea typeface="+mn-lt"/>
              <a:cs typeface="+mn-lt"/>
            </a:endParaRPr>
          </a:p>
          <a:p>
            <a:pPr marL="344170" indent="-344170">
              <a:buFont typeface="Wingdings,Sans-Serif" panose="05000000000000000000" pitchFamily="2" charset="2"/>
              <a:buChar char="v"/>
            </a:pPr>
            <a:endParaRPr lang="en-US" dirty="0">
              <a:cs typeface="Arial"/>
            </a:endParaRPr>
          </a:p>
          <a:p>
            <a:pPr marL="344170" indent="-344170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857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a room&#10;&#10;Description automatically generated">
            <a:extLst>
              <a:ext uri="{FF2B5EF4-FFF2-40B4-BE49-F238E27FC236}">
                <a16:creationId xmlns:a16="http://schemas.microsoft.com/office/drawing/2014/main" xmlns="" id="{239B0675-E529-4628-B7B4-044911308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80514" y="-1436"/>
            <a:ext cx="5201727" cy="677460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C8046F-B658-48DE-885B-2161E26A9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44657" y="2296531"/>
            <a:ext cx="3891960" cy="3997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4170" indent="-344170">
              <a:buFont typeface="Wingdings,Sans-Serif" panose="05000000000000000000" pitchFamily="2" charset="2"/>
              <a:buChar char="v"/>
            </a:pPr>
            <a:endParaRPr lang="en-US" b="1" i="1" u="sng" dirty="0">
              <a:ea typeface="+mn-lt"/>
              <a:cs typeface="+mn-lt"/>
            </a:endParaRPr>
          </a:p>
          <a:p>
            <a:pPr marL="344170" indent="-344170">
              <a:lnSpc>
                <a:spcPct val="100000"/>
              </a:lnSpc>
              <a:buFont typeface="Wingdings,Sans-Serif" panose="05000000000000000000" pitchFamily="2" charset="2"/>
              <a:buChar char="v"/>
            </a:pPr>
            <a:endParaRPr lang="en-US" dirty="0">
              <a:ea typeface="+mn-lt"/>
              <a:cs typeface="+mn-lt"/>
            </a:endParaRPr>
          </a:p>
          <a:p>
            <a:pPr marL="344170" indent="-344170">
              <a:buFont typeface="Wingdings,Sans-Serif" panose="05000000000000000000" pitchFamily="2" charset="2"/>
              <a:buChar char="v"/>
            </a:pPr>
            <a:endParaRPr lang="en-US" dirty="0">
              <a:cs typeface="Arial"/>
            </a:endParaRPr>
          </a:p>
          <a:p>
            <a:pPr marL="344170" indent="-344170"/>
            <a:endParaRPr lang="en-US" dirty="0"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5960D26-FDDC-4315-AB3E-3C85B13F2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72033" y="341209"/>
            <a:ext cx="5087542" cy="63557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4170" indent="-344170">
              <a:lnSpc>
                <a:spcPct val="100000"/>
              </a:lnSpc>
              <a:buFont typeface="Wingdings,Sans-Serif" panose="05000000000000000000" pitchFamily="2" charset="2"/>
              <a:buChar char="v"/>
            </a:pPr>
            <a:r>
              <a:rPr lang="en-US" sz="2400" b="1" i="1" u="sng">
                <a:solidFill>
                  <a:srgbClr val="FF0000"/>
                </a:solidFill>
                <a:latin typeface="Georgia"/>
                <a:cs typeface="Arial"/>
              </a:rPr>
              <a:t>AIM OF THERAPY:</a:t>
            </a:r>
            <a:endParaRPr lang="en-US" sz="2400" b="1">
              <a:solidFill>
                <a:srgbClr val="FF0000"/>
              </a:solidFill>
              <a:latin typeface="Georgia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buFont typeface="Wingdings,Sans-Serif" panose="05000000000000000000" pitchFamily="2" charset="2"/>
              <a:buChar char="q"/>
            </a:pPr>
            <a:r>
              <a:rPr lang="en-US" sz="2400" b="1">
                <a:solidFill>
                  <a:srgbClr val="FF0000"/>
                </a:solidFill>
                <a:latin typeface="Georgia"/>
                <a:cs typeface="Arial"/>
              </a:rPr>
              <a:t>CORRECT DEHYDRATION</a:t>
            </a:r>
            <a:endParaRPr lang="en-US" sz="2400" b="1">
              <a:solidFill>
                <a:srgbClr val="FF0000"/>
              </a:solidFill>
              <a:latin typeface="Georgia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buFont typeface="Wingdings,Sans-Serif" panose="05000000000000000000" pitchFamily="2" charset="2"/>
              <a:buChar char="q"/>
            </a:pPr>
            <a:r>
              <a:rPr lang="en-US" sz="2400" b="1">
                <a:solidFill>
                  <a:srgbClr val="FF0000"/>
                </a:solidFill>
                <a:latin typeface="Georgia"/>
                <a:cs typeface="Arial"/>
              </a:rPr>
              <a:t>CORRECT ACIDOSIS AND REVERSE KETOSIS</a:t>
            </a:r>
            <a:endParaRPr lang="en-US" sz="2400" b="1">
              <a:solidFill>
                <a:srgbClr val="FF0000"/>
              </a:solidFill>
              <a:latin typeface="Georgia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buFont typeface="Wingdings,Sans-Serif" panose="05000000000000000000" pitchFamily="2" charset="2"/>
              <a:buChar char="q"/>
            </a:pPr>
            <a:r>
              <a:rPr lang="en-US" sz="2400" b="1">
                <a:solidFill>
                  <a:srgbClr val="FF0000"/>
                </a:solidFill>
                <a:latin typeface="Georgia"/>
                <a:cs typeface="Arial"/>
              </a:rPr>
              <a:t>RESTORE GLUCOSE NEAR NORMAL (ANY TARGET GLUCOSE)</a:t>
            </a:r>
            <a:endParaRPr lang="en-US" sz="2400" b="1">
              <a:solidFill>
                <a:srgbClr val="FF0000"/>
              </a:solidFill>
              <a:latin typeface="Georgia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buFont typeface="Wingdings,Sans-Serif" panose="05000000000000000000" pitchFamily="2" charset="2"/>
              <a:buChar char="q"/>
            </a:pPr>
            <a:r>
              <a:rPr lang="en-US" sz="2400" b="1">
                <a:solidFill>
                  <a:srgbClr val="FF0000"/>
                </a:solidFill>
                <a:latin typeface="Georgia"/>
                <a:cs typeface="Arial"/>
              </a:rPr>
              <a:t>AVOID COMPLICATIONS OF TREATMENT</a:t>
            </a:r>
            <a:endParaRPr lang="en-US" sz="2400" b="1">
              <a:solidFill>
                <a:srgbClr val="FF0000"/>
              </a:solidFill>
              <a:latin typeface="Georgia"/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buFont typeface="Wingdings,Sans-Serif" panose="05000000000000000000" pitchFamily="2" charset="2"/>
              <a:buChar char="q"/>
            </a:pPr>
            <a:r>
              <a:rPr lang="en-US" sz="2400" b="1">
                <a:solidFill>
                  <a:srgbClr val="FF0000"/>
                </a:solidFill>
                <a:latin typeface="Georgia"/>
                <a:cs typeface="Arial"/>
              </a:rPr>
              <a:t>IDENTIFY AND TREAT PRECIPITATING EVENT</a:t>
            </a:r>
            <a:endParaRPr lang="en-US" sz="2400" b="1">
              <a:solidFill>
                <a:srgbClr val="FF0000"/>
              </a:solidFill>
              <a:latin typeface="Georgia"/>
              <a:ea typeface="+mn-lt"/>
              <a:cs typeface="+mn-lt"/>
            </a:endParaRPr>
          </a:p>
          <a:p>
            <a:pPr marL="344170" indent="-344170"/>
            <a:endParaRPr lang="en-US" b="1" dirty="0">
              <a:solidFill>
                <a:srgbClr val="FF0000"/>
              </a:solidFill>
              <a:latin typeface="Georg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8032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What is Diabetic Ketoacidosis_ (Body Produces Excess Blood)-720p (1)_Trim.mp4">
            <a:hlinkClick r:id="" action="ppaction://media"/>
          </p:cNvPr>
          <p:cNvPicPr>
            <a:picLocks noGrp="1" noRot="1" noChangeAspect="1"/>
          </p:cNvPicPr>
          <p:nvPr>
            <p:ph sz="half"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49530" y="404949"/>
            <a:ext cx="9640389" cy="61787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20000"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B1395C1E-2648-4FFC-AC7C-2C17083518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1C7379FE-10D6-4FEA-BEA3-5E2034A44C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90FB7BFA-EBDD-467C-B253-EFA7005041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23A9D773-2FA9-4E93-A01A-AEECF93EB4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94E884E-CFA2-4B31-8157-DA73B88463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3655E855-74FA-4AD3-B859-2488383A9D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2E91CD00-2EAB-4689-A44A-C4687605E1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xmlns="" id="{CE4E23EB-7D1F-4223-8BC1-FB83F69F20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xmlns="" id="{B2698634-69E1-4F09-BCF7-366A5A5C4F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3675C6A3-66C2-4CB7-AC7E-F274B7277E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62E5A367-0F56-4156-A2AE-FAD07299AC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E1AAEB5E-C547-4C88-B0D8-F24BE79FD1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EB74DCE7-E922-457A-88B0-4299A3DA68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290078-014B-49B5-9B6E-9B5B3919B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632" y="4332535"/>
            <a:ext cx="9839960" cy="2105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  <a:highlight>
                  <a:srgbClr val="000000"/>
                </a:highlight>
                <a:latin typeface="Georgia"/>
                <a:cs typeface="Arial"/>
              </a:rPr>
              <a:t>THANK YOU!!!</a:t>
            </a:r>
            <a:br>
              <a:rPr lang="en-US" sz="5400" b="1" dirty="0">
                <a:solidFill>
                  <a:srgbClr val="FF0000"/>
                </a:solidFill>
                <a:highlight>
                  <a:srgbClr val="000000"/>
                </a:highlight>
                <a:latin typeface="Georgia"/>
                <a:cs typeface="Arial"/>
              </a:rPr>
            </a:br>
            <a:r>
              <a:rPr lang="en-US" sz="5400" b="1" dirty="0">
                <a:solidFill>
                  <a:srgbClr val="FF0000"/>
                </a:solidFill>
                <a:highlight>
                  <a:srgbClr val="000000"/>
                </a:highlight>
                <a:latin typeface="Georgia"/>
                <a:cs typeface="Arial"/>
              </a:rPr>
              <a:t>HOPE YOU ENJOY =)</a:t>
            </a:r>
            <a:endParaRPr lang="en-US" sz="5400" b="1" dirty="0">
              <a:solidFill>
                <a:srgbClr val="FF0000"/>
              </a:solidFill>
              <a:highlight>
                <a:srgbClr val="000000"/>
              </a:highlight>
              <a:latin typeface="Georgia"/>
            </a:endParaRPr>
          </a:p>
        </p:txBody>
      </p:sp>
      <p:pic>
        <p:nvPicPr>
          <p:cNvPr id="7" name="Picture 7" descr="A person holding a baby&#10;&#10;Description automatically generated">
            <a:extLst>
              <a:ext uri="{FF2B5EF4-FFF2-40B4-BE49-F238E27FC236}">
                <a16:creationId xmlns:a16="http://schemas.microsoft.com/office/drawing/2014/main" xmlns="" id="{E70229A7-DF39-4520-B15C-E95259536F7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rcRect l="9882" r="2" b="2"/>
          <a:stretch/>
        </p:blipFill>
        <p:spPr>
          <a:xfrm>
            <a:off x="1073495" y="460284"/>
            <a:ext cx="5223879" cy="3290126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pic>
        <p:nvPicPr>
          <p:cNvPr id="4" name="Picture 4" descr="Logo&#10;&#10;Description automatically generated">
            <a:extLst>
              <a:ext uri="{FF2B5EF4-FFF2-40B4-BE49-F238E27FC236}">
                <a16:creationId xmlns:a16="http://schemas.microsoft.com/office/drawing/2014/main" xmlns="" id="{12F8DAF9-D714-4DF1-AF62-AB6E96070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7">
            <a:extLst>
              <a:ext uri="{837473B0-CC2E-450A-ABE3-18F120FF3D39}">
                <a1611:picAttrSrcUrl xmlns:a1611="http://schemas.microsoft.com/office/drawing/2016/11/main" xmlns="" r:id="rId8"/>
              </a:ext>
            </a:extLst>
          </a:blip>
          <a:srcRect r="12" b="33095"/>
          <a:stretch/>
        </p:blipFill>
        <p:spPr>
          <a:xfrm>
            <a:off x="6362026" y="460285"/>
            <a:ext cx="4940758" cy="3261372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047B410D-C384-4834-95F7-EFE768C439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2678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adison" id="{025CB5FB-2DD3-45EE-B6F0-CC461540EB19}" vid="{6AC10936-2DFC-4054-9ADF-B5E2C5F86190}"/>
    </a:ext>
  </a:extLst>
</a:theme>
</file>