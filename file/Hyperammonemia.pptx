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0975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609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926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686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1005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95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034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3839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539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2381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785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62F53-7190-4672-B6AF-D869B5EC7B59}" type="datetimeFigureOut">
              <a:rPr lang="en-US" smtClean="0"/>
              <a:pPr/>
              <a:t>8/14/2022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2BAC3-2FFB-4AE6-AB0D-F22ACF4012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507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461" y="1223889"/>
            <a:ext cx="11957539" cy="2588456"/>
          </a:xfrm>
        </p:spPr>
        <p:txBody>
          <a:bodyPr>
            <a:noAutofit/>
          </a:bodyPr>
          <a:lstStyle/>
          <a:p>
            <a:r>
              <a:rPr lang="en-US" sz="8800" dirty="0" smtClean="0">
                <a:latin typeface="Panipuri" pitchFamily="50" charset="0"/>
              </a:rPr>
              <a:t>HYPERAMMONEMIA</a:t>
            </a:r>
            <a:endParaRPr lang="en-US" sz="8800" dirty="0">
              <a:latin typeface="Panipur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9826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35577" y="813639"/>
            <a:ext cx="1067637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-- Is a metabolic condition characterized by elevated levels of ammonia, </a:t>
            </a:r>
            <a:r>
              <a:rPr lang="en-US" sz="4400" dirty="0">
                <a:latin typeface="Typo Comica" panose="02000500000000000000" pitchFamily="2" charset="0"/>
              </a:rPr>
              <a:t> a nitrogen-containing </a:t>
            </a:r>
            <a:r>
              <a:rPr lang="en-US" sz="4400" dirty="0" smtClean="0">
                <a:latin typeface="Typo Comica" panose="02000500000000000000" pitchFamily="2" charset="0"/>
              </a:rPr>
              <a:t>compound,</a:t>
            </a:r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 in the blood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344" y="5034849"/>
            <a:ext cx="1031061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</a:rPr>
              <a:t>-- Is a life-threatening conditi</a:t>
            </a:r>
            <a:r>
              <a:rPr lang="en-US" sz="4400" dirty="0" smtClean="0">
                <a:ln w="0"/>
                <a:latin typeface="Typo Comica" panose="02000500000000000000" pitchFamily="2" charset="0"/>
              </a:rPr>
              <a:t>on that can lead to brain injury or death </a:t>
            </a:r>
            <a:endParaRPr lang="en-US" sz="4400" cap="none" spc="0" dirty="0" smtClean="0">
              <a:ln w="0"/>
              <a:solidFill>
                <a:schemeClr val="tx1"/>
              </a:solidFill>
              <a:latin typeface="Typo Comica" panose="020005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2695" y="3776621"/>
            <a:ext cx="97371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</a:rPr>
              <a:t>-- Ammonia is a potent neurotoxin</a:t>
            </a:r>
          </a:p>
        </p:txBody>
      </p:sp>
    </p:spTree>
    <p:extLst>
      <p:ext uri="{BB962C8B-B14F-4D97-AF65-F5344CB8AC3E}">
        <p14:creationId xmlns:p14="http://schemas.microsoft.com/office/powerpoint/2010/main" xmlns="" val="282055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0965" y="462693"/>
            <a:ext cx="973718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4800" b="1" dirty="0" smtClean="0">
                <a:latin typeface="Typo Comica" panose="02000500000000000000" pitchFamily="2" charset="0"/>
              </a:rPr>
              <a:t>What is ammonia?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3720" y="1680350"/>
            <a:ext cx="9737188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NH</a:t>
            </a:r>
            <a:r>
              <a:rPr lang="en-US" sz="2400" dirty="0" smtClean="0">
                <a:latin typeface="Typo Comica" panose="02000500000000000000" pitchFamily="2" charset="0"/>
              </a:rPr>
              <a:t>3</a:t>
            </a:r>
            <a:endParaRPr lang="en-US" sz="4000" dirty="0">
              <a:latin typeface="Typo Comica" panose="02000500000000000000" pitchFamily="2" charset="0"/>
            </a:endParaRPr>
          </a:p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A major source of nitrogen</a:t>
            </a:r>
          </a:p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Breakdown product of protein metabolism</a:t>
            </a:r>
          </a:p>
          <a:p>
            <a:pPr marL="457200" indent="-4572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Converted to urea in the liver by series on enzymatic processes – “the urea cycle”</a:t>
            </a:r>
          </a:p>
          <a:p>
            <a:pPr marL="457200" indent="-457200" fontAlgn="base"/>
            <a:endParaRPr lang="en-US" sz="4000" dirty="0">
              <a:latin typeface="Typo Comica" panose="02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61165" y="1170988"/>
            <a:ext cx="1731415" cy="121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030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61209" y="283512"/>
            <a:ext cx="158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PROTEIN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216403" y="283512"/>
            <a:ext cx="185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AMINO ACID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8832854" y="98844"/>
            <a:ext cx="1853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AMMONIA</a:t>
            </a:r>
          </a:p>
          <a:p>
            <a:pPr algn="ctr"/>
            <a:r>
              <a:rPr lang="en-US" sz="2400" b="1" dirty="0" smtClean="0"/>
              <a:t>(LIVER)</a:t>
            </a:r>
            <a:endParaRPr lang="en-US" sz="2400" b="1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882678" y="514341"/>
            <a:ext cx="793921" cy="1"/>
          </a:xfrm>
          <a:prstGeom prst="straightConnector1">
            <a:avLst/>
          </a:prstGeom>
          <a:ln w="85725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7753246" y="514341"/>
            <a:ext cx="793921" cy="1"/>
          </a:xfrm>
          <a:prstGeom prst="straightConnector1">
            <a:avLst/>
          </a:prstGeom>
          <a:ln w="889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32" idx="0"/>
          </p:cNvCxnSpPr>
          <p:nvPr/>
        </p:nvCxnSpPr>
        <p:spPr>
          <a:xfrm>
            <a:off x="9759611" y="1115568"/>
            <a:ext cx="0" cy="624639"/>
          </a:xfrm>
          <a:prstGeom prst="straightConnector1">
            <a:avLst/>
          </a:prstGeom>
          <a:ln w="793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61622" y="1740207"/>
            <a:ext cx="2395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AMMONIA + CO2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9759611" y="2201872"/>
            <a:ext cx="0" cy="457200"/>
          </a:xfrm>
          <a:prstGeom prst="straightConnector1">
            <a:avLst/>
          </a:prstGeom>
          <a:ln w="698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36992" y="2611131"/>
            <a:ext cx="380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CARBAMOYL PHOSPHATE</a:t>
            </a:r>
          </a:p>
        </p:txBody>
      </p:sp>
      <p:cxnSp>
        <p:nvCxnSpPr>
          <p:cNvPr id="35" name="Straight Arrow Connector 34"/>
          <p:cNvCxnSpPr>
            <a:endCxn id="36" idx="0"/>
          </p:cNvCxnSpPr>
          <p:nvPr/>
        </p:nvCxnSpPr>
        <p:spPr>
          <a:xfrm>
            <a:off x="9759611" y="3072796"/>
            <a:ext cx="0" cy="546820"/>
          </a:xfrm>
          <a:prstGeom prst="straightConnector1">
            <a:avLst/>
          </a:prstGeom>
          <a:ln w="666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57659" y="3619616"/>
            <a:ext cx="3803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CITRULLINE + ASPARTATE ATP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5132437"/>
            <a:ext cx="380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ARGINOSUCCINATE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9759610" y="4455781"/>
            <a:ext cx="6180" cy="614905"/>
          </a:xfrm>
          <a:prstGeom prst="straightConnector1">
            <a:avLst/>
          </a:prstGeom>
          <a:ln w="730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8321041" y="5682155"/>
            <a:ext cx="573597" cy="538477"/>
          </a:xfrm>
          <a:prstGeom prst="straightConnector1">
            <a:avLst/>
          </a:prstGeom>
          <a:ln w="730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8470460" y="4770586"/>
            <a:ext cx="610174" cy="290177"/>
          </a:xfrm>
          <a:prstGeom prst="straightConnector1">
            <a:avLst/>
          </a:prstGeom>
          <a:ln w="730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88795" y="4609021"/>
            <a:ext cx="158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ARGININE</a:t>
            </a:r>
            <a:endParaRPr lang="en-US" sz="24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6916013" y="6230555"/>
            <a:ext cx="158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FUMERATE</a:t>
            </a:r>
            <a:endParaRPr lang="en-US" sz="2400" b="1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 flipV="1">
            <a:off x="5990907" y="4842522"/>
            <a:ext cx="798753" cy="1518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364173" y="4632170"/>
            <a:ext cx="1671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ORNITHINE</a:t>
            </a:r>
            <a:endParaRPr lang="en-US" sz="2400" b="1" dirty="0"/>
          </a:p>
        </p:txBody>
      </p:sp>
      <p:sp>
        <p:nvSpPr>
          <p:cNvPr id="56" name="Curved Left Arrow 55"/>
          <p:cNvSpPr/>
          <p:nvPr/>
        </p:nvSpPr>
        <p:spPr>
          <a:xfrm rot="15077408">
            <a:off x="6033733" y="1992546"/>
            <a:ext cx="1122828" cy="3264102"/>
          </a:xfrm>
          <a:prstGeom prst="curvedLeftArrow">
            <a:avLst>
              <a:gd name="adj1" fmla="val 5217"/>
              <a:gd name="adj2" fmla="val 24893"/>
              <a:gd name="adj3" fmla="val 19848"/>
            </a:avLst>
          </a:prstGeom>
          <a:solidFill>
            <a:srgbClr val="C00000"/>
          </a:solidFill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6143160" y="5203248"/>
            <a:ext cx="745635" cy="658332"/>
          </a:xfrm>
          <a:prstGeom prst="straightConnector1">
            <a:avLst/>
          </a:prstGeom>
          <a:ln w="8572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80719" y="5584225"/>
            <a:ext cx="1581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UREA (KIDNEY)</a:t>
            </a:r>
            <a:endParaRPr lang="en-US" sz="2400" b="1" dirty="0"/>
          </a:p>
        </p:txBody>
      </p:sp>
      <p:cxnSp>
        <p:nvCxnSpPr>
          <p:cNvPr id="61" name="Straight Arrow Connector 60"/>
          <p:cNvCxnSpPr>
            <a:stCxn id="60" idx="1"/>
          </p:cNvCxnSpPr>
          <p:nvPr/>
        </p:nvCxnSpPr>
        <p:spPr>
          <a:xfrm flipH="1" flipV="1">
            <a:off x="3342874" y="5999723"/>
            <a:ext cx="1237845" cy="1"/>
          </a:xfrm>
          <a:prstGeom prst="straightConnector1">
            <a:avLst/>
          </a:prstGeom>
          <a:ln w="8572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761209" y="5768890"/>
            <a:ext cx="1531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URINE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26477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393" y="789264"/>
            <a:ext cx="973718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base"/>
            <a:r>
              <a:rPr lang="en-US" sz="5400" b="1" dirty="0" smtClean="0">
                <a:latin typeface="Typo Comica" panose="02000500000000000000" pitchFamily="2" charset="0"/>
              </a:rPr>
              <a:t>How to measure ammonia?</a:t>
            </a:r>
            <a:endParaRPr lang="en-US" sz="5400" b="1" dirty="0">
              <a:latin typeface="Typo Comica" panose="02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64919" y="2274208"/>
            <a:ext cx="9737188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1ml free flowing Green Tap sample</a:t>
            </a:r>
          </a:p>
          <a:p>
            <a:pPr marL="571500" indent="-571500" fontAlgn="base">
              <a:buFontTx/>
              <a:buChar char="-"/>
            </a:pPr>
            <a:r>
              <a:rPr lang="en-US" sz="4000" b="1" dirty="0" smtClean="0">
                <a:latin typeface="Typo Comica" panose="02000500000000000000" pitchFamily="2" charset="0"/>
              </a:rPr>
              <a:t>Urgent sample on ice</a:t>
            </a:r>
          </a:p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Call MO </a:t>
            </a:r>
          </a:p>
          <a:p>
            <a:pPr marL="571500" indent="-571500" fontAlgn="base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Call lab</a:t>
            </a:r>
            <a:endParaRPr lang="en-US" sz="4000" dirty="0">
              <a:latin typeface="Typo Comica" panose="02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99516">
            <a:off x="8685992" y="3459003"/>
            <a:ext cx="2751179" cy="18151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96125" y="3430821"/>
            <a:ext cx="2585258" cy="335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0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528356" y="2183130"/>
          <a:ext cx="9953897" cy="3712802"/>
        </p:xfrm>
        <a:graphic>
          <a:graphicData uri="http://schemas.openxmlformats.org/drawingml/2006/table">
            <a:tbl>
              <a:tblPr/>
              <a:tblGrid>
                <a:gridCol w="5375654">
                  <a:extLst>
                    <a:ext uri="{9D8B030D-6E8A-4147-A177-3AD203B41FA5}">
                      <a16:colId xmlns:a16="http://schemas.microsoft.com/office/drawing/2014/main" xmlns="" val="2105705570"/>
                    </a:ext>
                  </a:extLst>
                </a:gridCol>
                <a:gridCol w="1964396">
                  <a:extLst>
                    <a:ext uri="{9D8B030D-6E8A-4147-A177-3AD203B41FA5}">
                      <a16:colId xmlns:a16="http://schemas.microsoft.com/office/drawing/2014/main" xmlns="" val="3212834011"/>
                    </a:ext>
                  </a:extLst>
                </a:gridCol>
                <a:gridCol w="2613847">
                  <a:extLst>
                    <a:ext uri="{9D8B030D-6E8A-4147-A177-3AD203B41FA5}">
                      <a16:colId xmlns:a16="http://schemas.microsoft.com/office/drawing/2014/main" xmlns="" val="638825610"/>
                    </a:ext>
                  </a:extLst>
                </a:gridCol>
              </a:tblGrid>
              <a:tr h="507923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</a:rPr>
                        <a:t>Age Group</a:t>
                      </a: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2800" b="1" dirty="0">
                          <a:effectLst/>
                        </a:rPr>
                        <a:t>μ</a:t>
                      </a:r>
                      <a:r>
                        <a:rPr lang="en-US" sz="2800" b="1" dirty="0" err="1">
                          <a:effectLst/>
                        </a:rPr>
                        <a:t>mol</a:t>
                      </a:r>
                      <a:r>
                        <a:rPr lang="en-US" sz="2800" b="1" dirty="0">
                          <a:effectLst/>
                        </a:rPr>
                        <a:t>/L</a:t>
                      </a: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2800" b="1" dirty="0">
                          <a:effectLst/>
                        </a:rPr>
                        <a:t>μ</a:t>
                      </a:r>
                      <a:r>
                        <a:rPr lang="en-US" sz="2800" b="1" dirty="0">
                          <a:effectLst/>
                        </a:rPr>
                        <a:t>g/</a:t>
                      </a:r>
                      <a:r>
                        <a:rPr lang="en-US" sz="2800" b="1" dirty="0" err="1">
                          <a:effectLst/>
                        </a:rPr>
                        <a:t>dL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625" marR="47625" marT="47625" marB="476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13103800"/>
                  </a:ext>
                </a:extLst>
              </a:tr>
              <a:tr h="1261953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effectLst/>
                        </a:rPr>
                        <a:t>Newborns (arterial cord blood)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50–159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85–271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97377824"/>
                  </a:ext>
                </a:extLst>
              </a:tr>
              <a:tr h="884939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effectLst/>
                        </a:rPr>
                        <a:t>Infants and children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24–48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41–82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80434182"/>
                  </a:ext>
                </a:extLst>
              </a:tr>
              <a:tr h="507923"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effectLst/>
                        </a:rPr>
                        <a:t>Adults (female)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11–48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19–82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39615258"/>
                  </a:ext>
                </a:extLst>
              </a:tr>
              <a:tr h="507923"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effectLst/>
                        </a:rPr>
                        <a:t>Adults (male)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15–55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26–94</a:t>
                      </a: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95470778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79269" y="705802"/>
            <a:ext cx="75895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effectLst/>
                <a:latin typeface="Typo Comica" panose="02000500000000000000" pitchFamily="2" charset="0"/>
              </a:rPr>
              <a:t>Normal Blood Ammonia Levels According to Age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effectLst/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32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399" y="554134"/>
            <a:ext cx="973718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4800" b="1" dirty="0">
                <a:latin typeface="Typo Comica" panose="02000500000000000000" pitchFamily="2" charset="0"/>
              </a:rPr>
              <a:t>What causes </a:t>
            </a:r>
            <a:r>
              <a:rPr lang="en-US" sz="4800" b="1" dirty="0" err="1">
                <a:latin typeface="Typo Comica" panose="02000500000000000000" pitchFamily="2" charset="0"/>
              </a:rPr>
              <a:t>H</a:t>
            </a:r>
            <a:r>
              <a:rPr lang="en-US" sz="4800" b="1" dirty="0" err="1" smtClean="0">
                <a:latin typeface="Typo Comica" panose="02000500000000000000" pitchFamily="2" charset="0"/>
              </a:rPr>
              <a:t>yperammonemia</a:t>
            </a:r>
            <a:r>
              <a:rPr lang="en-US" sz="4800" b="1" dirty="0" smtClean="0">
                <a:latin typeface="Typo Comica" panose="02000500000000000000" pitchFamily="2" charset="0"/>
              </a:rPr>
              <a:t>?</a:t>
            </a:r>
            <a:endParaRPr lang="en-US" sz="4800" b="1" dirty="0">
              <a:latin typeface="Typo Comica" panose="020005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2857" y="1754164"/>
            <a:ext cx="10254343" cy="44627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Severe Liver disease</a:t>
            </a:r>
          </a:p>
          <a:p>
            <a:r>
              <a:rPr lang="en-US" sz="3200" dirty="0">
                <a:ln w="0"/>
                <a:latin typeface="Typo Comica" panose="02000500000000000000" pitchFamily="2" charset="0"/>
                <a:cs typeface="Akhbar MT" pitchFamily="2" charset="-78"/>
              </a:rPr>
              <a:t> </a:t>
            </a:r>
            <a:r>
              <a:rPr lang="en-US" sz="3200" dirty="0" smtClean="0">
                <a:ln w="0"/>
                <a:latin typeface="Typo Comica" panose="02000500000000000000" pitchFamily="2" charset="0"/>
                <a:cs typeface="Akhbar MT" pitchFamily="2" charset="-78"/>
              </a:rPr>
              <a:t>              - Cirrhosis</a:t>
            </a:r>
          </a:p>
          <a:p>
            <a:r>
              <a:rPr lang="en-US" sz="3200" cap="none" spc="0" dirty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 </a:t>
            </a:r>
            <a:r>
              <a:rPr lang="en-US" sz="32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              - Acute liver failure (ALF)</a:t>
            </a:r>
          </a:p>
          <a:p>
            <a:pPr marL="571500" indent="-571500">
              <a:buFontTx/>
              <a:buChar char="-"/>
            </a:pPr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Decrease Blood flow in the liver</a:t>
            </a:r>
          </a:p>
          <a:p>
            <a:pPr marL="571500" indent="-571500">
              <a:buFontTx/>
              <a:buChar char="-"/>
            </a:pPr>
            <a:r>
              <a:rPr lang="en-US" sz="4400" dirty="0" smtClean="0">
                <a:ln w="0"/>
                <a:latin typeface="Typo Comica" panose="02000500000000000000" pitchFamily="2" charset="0"/>
                <a:cs typeface="Akhbar MT" pitchFamily="2" charset="-78"/>
              </a:rPr>
              <a:t>Urea Cycle disorder</a:t>
            </a:r>
          </a:p>
          <a:p>
            <a:pPr marL="571500" indent="-571500">
              <a:buFontTx/>
              <a:buChar char="-"/>
            </a:pPr>
            <a:r>
              <a:rPr lang="en-US" sz="44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Renal Failure</a:t>
            </a:r>
          </a:p>
          <a:p>
            <a:pPr marL="571500" indent="-571500">
              <a:buFontTx/>
              <a:buChar char="-"/>
            </a:pPr>
            <a:r>
              <a:rPr lang="en-US" sz="4400" dirty="0" smtClean="0">
                <a:ln w="0"/>
                <a:latin typeface="Typo Comica" panose="02000500000000000000" pitchFamily="2" charset="0"/>
                <a:cs typeface="Akhbar MT" pitchFamily="2" charset="-78"/>
              </a:rPr>
              <a:t>Reye Syndrome</a:t>
            </a:r>
            <a:endParaRPr lang="en-US" sz="4400" cap="none" spc="0" dirty="0" smtClean="0">
              <a:ln w="0"/>
              <a:solidFill>
                <a:schemeClr val="tx1"/>
              </a:solidFill>
              <a:latin typeface="Typo Comica" panose="02000500000000000000" pitchFamily="2" charset="0"/>
              <a:cs typeface="Akhbar M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97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37657" y="1779687"/>
            <a:ext cx="1025434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Gastrointestinal Bleeding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n w="0"/>
                <a:latin typeface="Typo Comica" panose="02000500000000000000" pitchFamily="2" charset="0"/>
                <a:cs typeface="Akhbar MT" pitchFamily="2" charset="-78"/>
              </a:rPr>
              <a:t>Muscle exertion</a:t>
            </a:r>
          </a:p>
          <a:p>
            <a:pPr marL="571500" indent="-571500">
              <a:buFontTx/>
              <a:buChar char="-"/>
            </a:pPr>
            <a:r>
              <a:rPr lang="en-US" sz="4000" cap="none" spc="0" dirty="0" smtClean="0">
                <a:ln w="0"/>
                <a:solidFill>
                  <a:schemeClr val="tx1"/>
                </a:solidFill>
                <a:latin typeface="Typo Comica" panose="02000500000000000000" pitchFamily="2" charset="0"/>
                <a:cs typeface="Akhbar MT" pitchFamily="2" charset="-78"/>
              </a:rPr>
              <a:t>Tourniquet use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n w="0"/>
                <a:latin typeface="Typo Comica" panose="02000500000000000000" pitchFamily="2" charset="0"/>
                <a:cs typeface="Akhbar MT" pitchFamily="2" charset="-78"/>
              </a:rPr>
              <a:t>Certain drugs</a:t>
            </a:r>
            <a:r>
              <a:rPr lang="en-US" sz="4000" dirty="0">
                <a:latin typeface="Typo Comica" panose="02000500000000000000" pitchFamily="2" charset="0"/>
              </a:rPr>
              <a:t> including alcohol, barbiturates, diuretics, </a:t>
            </a:r>
            <a:r>
              <a:rPr lang="en-US" sz="4000" dirty="0" err="1">
                <a:latin typeface="Typo Comica" panose="02000500000000000000" pitchFamily="2" charset="0"/>
              </a:rPr>
              <a:t>valproic</a:t>
            </a:r>
            <a:r>
              <a:rPr lang="en-US" sz="4000" dirty="0">
                <a:latin typeface="Typo Comica" panose="02000500000000000000" pitchFamily="2" charset="0"/>
              </a:rPr>
              <a:t> acid,  </a:t>
            </a:r>
            <a:r>
              <a:rPr lang="en-US" sz="4000" dirty="0" smtClean="0">
                <a:latin typeface="Typo Comica" panose="02000500000000000000" pitchFamily="2" charset="0"/>
              </a:rPr>
              <a:t> and narcotics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Cigarette </a:t>
            </a:r>
            <a:r>
              <a:rPr lang="en-US" sz="4000" dirty="0">
                <a:latin typeface="Typo Comica" panose="02000500000000000000" pitchFamily="2" charset="0"/>
              </a:rPr>
              <a:t>smoking</a:t>
            </a:r>
          </a:p>
          <a:p>
            <a:pPr marL="571500" indent="-571500">
              <a:buFontTx/>
              <a:buChar char="-"/>
            </a:pPr>
            <a:endParaRPr lang="en-US" sz="4400" cap="none" spc="0" dirty="0" smtClean="0">
              <a:ln w="0"/>
              <a:solidFill>
                <a:schemeClr val="tx1"/>
              </a:solidFill>
              <a:latin typeface="Typo Comica" panose="02000500000000000000" pitchFamily="2" charset="0"/>
              <a:cs typeface="Akhbar MT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399" y="554134"/>
            <a:ext cx="1218982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4000" b="1" dirty="0" err="1" smtClean="0">
                <a:latin typeface="Typo Comica" panose="02000500000000000000" pitchFamily="2" charset="0"/>
              </a:rPr>
              <a:t>Hyperammonemia</a:t>
            </a:r>
            <a:r>
              <a:rPr lang="en-US" sz="4000" b="1" dirty="0" smtClean="0">
                <a:latin typeface="Typo Comica" panose="02000500000000000000" pitchFamily="2" charset="0"/>
              </a:rPr>
              <a:t> may also be seen with</a:t>
            </a:r>
            <a:endParaRPr lang="en-US" sz="4000" b="1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874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92826" y="2722568"/>
            <a:ext cx="777457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6000" b="1" dirty="0" smtClean="0">
                <a:latin typeface="Typo Comica" panose="02000500000000000000" pitchFamily="2" charset="0"/>
              </a:rPr>
              <a:t>Clinical Presentation</a:t>
            </a:r>
            <a:endParaRPr lang="en-US" sz="6000" b="1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888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6023" y="597773"/>
            <a:ext cx="10149840" cy="58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3933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2951" y="162249"/>
            <a:ext cx="1156280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4400" b="1" dirty="0">
                <a:latin typeface="Typo Comica" panose="02000500000000000000" pitchFamily="2" charset="0"/>
              </a:rPr>
              <a:t>Signs and symptoms of early-onset </a:t>
            </a:r>
            <a:r>
              <a:rPr lang="en-US" sz="4400" b="1" dirty="0" err="1">
                <a:latin typeface="Typo Comica" panose="02000500000000000000" pitchFamily="2" charset="0"/>
              </a:rPr>
              <a:t>hyperammonemia</a:t>
            </a:r>
            <a:r>
              <a:rPr lang="en-US" sz="4400" b="1" dirty="0">
                <a:latin typeface="Typo Comica" panose="02000500000000000000" pitchFamily="2" charset="0"/>
              </a:rPr>
              <a:t> (neonates</a:t>
            </a:r>
            <a:r>
              <a:rPr lang="en-US" sz="4400" b="1" dirty="0" smtClean="0">
                <a:latin typeface="Typo Comica" panose="02000500000000000000" pitchFamily="2" charset="0"/>
              </a:rPr>
              <a:t>) may include the following: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25040" y="2651667"/>
            <a:ext cx="9283338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dirty="0" smtClean="0">
                <a:latin typeface="Typo Comica" panose="02000500000000000000" pitchFamily="2" charset="0"/>
              </a:rPr>
              <a:t>- Lethargy</a:t>
            </a:r>
            <a:endParaRPr lang="en-US" sz="4000" dirty="0">
              <a:latin typeface="Typo Comica" panose="02000500000000000000" pitchFamily="2" charset="0"/>
            </a:endParaRPr>
          </a:p>
          <a:p>
            <a:r>
              <a:rPr lang="en-US" sz="4000" dirty="0" smtClean="0">
                <a:latin typeface="Typo Comica" panose="02000500000000000000" pitchFamily="2" charset="0"/>
              </a:rPr>
              <a:t>- Irritability</a:t>
            </a:r>
            <a:endParaRPr lang="en-US" sz="4000" dirty="0">
              <a:latin typeface="Typo Comica" panose="02000500000000000000" pitchFamily="2" charset="0"/>
            </a:endParaRPr>
          </a:p>
          <a:p>
            <a:r>
              <a:rPr lang="en-US" sz="4000" dirty="0" smtClean="0">
                <a:latin typeface="Typo Comica" panose="02000500000000000000" pitchFamily="2" charset="0"/>
              </a:rPr>
              <a:t>- Poor </a:t>
            </a:r>
            <a:r>
              <a:rPr lang="en-US" sz="4000" dirty="0">
                <a:latin typeface="Typo Comica" panose="02000500000000000000" pitchFamily="2" charset="0"/>
              </a:rPr>
              <a:t>feeding</a:t>
            </a:r>
          </a:p>
          <a:p>
            <a:r>
              <a:rPr lang="en-US" sz="4000" dirty="0" smtClean="0">
                <a:latin typeface="Typo Comica" panose="02000500000000000000" pitchFamily="2" charset="0"/>
              </a:rPr>
              <a:t>- Vomiting</a:t>
            </a:r>
            <a:endParaRPr lang="en-US" sz="4000" dirty="0">
              <a:latin typeface="Typo Comica" panose="02000500000000000000" pitchFamily="2" charset="0"/>
            </a:endParaRPr>
          </a:p>
          <a:p>
            <a:r>
              <a:rPr lang="en-US" sz="4000" dirty="0" smtClean="0">
                <a:latin typeface="Typo Comica" panose="02000500000000000000" pitchFamily="2" charset="0"/>
              </a:rPr>
              <a:t>- Hyperventilation</a:t>
            </a:r>
            <a:r>
              <a:rPr lang="en-US" sz="4000" dirty="0">
                <a:latin typeface="Typo Comica" panose="02000500000000000000" pitchFamily="2" charset="0"/>
              </a:rPr>
              <a:t>, grunting respiration</a:t>
            </a:r>
          </a:p>
          <a:p>
            <a:r>
              <a:rPr lang="en-US" sz="4000" dirty="0" smtClean="0">
                <a:latin typeface="Typo Comica" panose="02000500000000000000" pitchFamily="2" charset="0"/>
              </a:rPr>
              <a:t>- Seizures</a:t>
            </a:r>
            <a:endParaRPr lang="en-US" sz="4000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335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2951" y="162249"/>
            <a:ext cx="11562808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>
                <a:latin typeface="Typo Comica" panose="02000500000000000000" pitchFamily="2" charset="0"/>
              </a:rPr>
              <a:t>Signs and symptoms of late-onset </a:t>
            </a:r>
            <a:r>
              <a:rPr lang="en-US" sz="4000" b="1" dirty="0" err="1">
                <a:latin typeface="Typo Comica" panose="02000500000000000000" pitchFamily="2" charset="0"/>
              </a:rPr>
              <a:t>hyperammonemia</a:t>
            </a:r>
            <a:r>
              <a:rPr lang="en-US" sz="4000" b="1" dirty="0">
                <a:latin typeface="Typo Comica" panose="02000500000000000000" pitchFamily="2" charset="0"/>
              </a:rPr>
              <a:t> (later in life) may include the following</a:t>
            </a:r>
            <a:r>
              <a:rPr lang="en-US" sz="4000" b="1" dirty="0" smtClean="0">
                <a:latin typeface="Typo Comica" panose="02000500000000000000" pitchFamily="2" charset="0"/>
              </a:rPr>
              <a:t>:</a:t>
            </a:r>
            <a:endParaRPr lang="en-US" sz="4000" b="1" dirty="0">
              <a:latin typeface="Typo Comica" panose="02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46217" y="2253429"/>
            <a:ext cx="928333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 smtClean="0">
                <a:latin typeface="Typo Comica" panose="02000500000000000000" pitchFamily="2" charset="0"/>
              </a:rPr>
              <a:t>- Intermittent </a:t>
            </a:r>
            <a:r>
              <a:rPr lang="en-US" sz="3200" dirty="0">
                <a:latin typeface="Typo Comica" panose="02000500000000000000" pitchFamily="2" charset="0"/>
              </a:rPr>
              <a:t>ataxia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Intellectual </a:t>
            </a:r>
            <a:r>
              <a:rPr lang="en-US" sz="3200" dirty="0">
                <a:latin typeface="Typo Comica" panose="02000500000000000000" pitchFamily="2" charset="0"/>
              </a:rPr>
              <a:t>impairment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Failure </a:t>
            </a:r>
            <a:r>
              <a:rPr lang="en-US" sz="3200" dirty="0">
                <a:latin typeface="Typo Comica" panose="02000500000000000000" pitchFamily="2" charset="0"/>
              </a:rPr>
              <a:t>to thrive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Gait </a:t>
            </a:r>
            <a:r>
              <a:rPr lang="en-US" sz="3200" dirty="0">
                <a:latin typeface="Typo Comica" panose="02000500000000000000" pitchFamily="2" charset="0"/>
              </a:rPr>
              <a:t>abnormality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Behavior </a:t>
            </a:r>
            <a:r>
              <a:rPr lang="en-US" sz="3200" dirty="0">
                <a:latin typeface="Typo Comica" panose="02000500000000000000" pitchFamily="2" charset="0"/>
              </a:rPr>
              <a:t>disturbances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Epilepsy</a:t>
            </a:r>
            <a:endParaRPr lang="en-US" sz="3200" dirty="0">
              <a:latin typeface="Typo Comica" panose="02000500000000000000" pitchFamily="2" charset="0"/>
            </a:endParaRPr>
          </a:p>
          <a:p>
            <a:r>
              <a:rPr lang="en-US" sz="3200" dirty="0" smtClean="0">
                <a:latin typeface="Typo Comica" panose="02000500000000000000" pitchFamily="2" charset="0"/>
              </a:rPr>
              <a:t>- Recurrent </a:t>
            </a:r>
            <a:r>
              <a:rPr lang="en-US" sz="3200" dirty="0">
                <a:latin typeface="Typo Comica" panose="02000500000000000000" pitchFamily="2" charset="0"/>
              </a:rPr>
              <a:t>Reye syndrome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Protein </a:t>
            </a:r>
            <a:r>
              <a:rPr lang="en-US" sz="3200" dirty="0">
                <a:latin typeface="Typo Comica" panose="02000500000000000000" pitchFamily="2" charset="0"/>
              </a:rPr>
              <a:t>avoidance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Rarely</a:t>
            </a:r>
            <a:r>
              <a:rPr lang="en-US" sz="3200" dirty="0">
                <a:latin typeface="Typo Comica" panose="02000500000000000000" pitchFamily="2" charset="0"/>
              </a:rPr>
              <a:t>, episodic headaches and cyclic vomiting</a:t>
            </a:r>
          </a:p>
        </p:txBody>
      </p:sp>
    </p:spTree>
    <p:extLst>
      <p:ext uri="{BB962C8B-B14F-4D97-AF65-F5344CB8AC3E}">
        <p14:creationId xmlns:p14="http://schemas.microsoft.com/office/powerpoint/2010/main" xmlns="" val="141515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7535" y="410441"/>
            <a:ext cx="777457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6000" b="1" dirty="0" smtClean="0">
                <a:latin typeface="Typo Comica" panose="02000500000000000000" pitchFamily="2" charset="0"/>
              </a:rPr>
              <a:t>Laboratory Tests</a:t>
            </a:r>
            <a:endParaRPr lang="en-US" sz="6000" b="1" dirty="0">
              <a:latin typeface="Typo Comica" panose="02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23703" y="1711139"/>
            <a:ext cx="9283338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 smtClean="0">
                <a:latin typeface="Typo Comica" panose="02000500000000000000" pitchFamily="2" charset="0"/>
              </a:rPr>
              <a:t>- Arterial </a:t>
            </a:r>
            <a:r>
              <a:rPr lang="en-US" sz="3200" dirty="0">
                <a:latin typeface="Typo Comica" panose="02000500000000000000" pitchFamily="2" charset="0"/>
              </a:rPr>
              <a:t>blood gas </a:t>
            </a:r>
            <a:r>
              <a:rPr lang="en-US" sz="3200" dirty="0" smtClean="0">
                <a:latin typeface="Typo Comica" panose="02000500000000000000" pitchFamily="2" charset="0"/>
              </a:rPr>
              <a:t>analysis (ABG)</a:t>
            </a:r>
            <a:endParaRPr lang="en-US" sz="3200" dirty="0">
              <a:latin typeface="Typo Comica" panose="02000500000000000000" pitchFamily="2" charset="0"/>
            </a:endParaRPr>
          </a:p>
          <a:p>
            <a:pPr>
              <a:buFontTx/>
              <a:buChar char="-"/>
            </a:pPr>
            <a:r>
              <a:rPr lang="en-US" sz="3200" dirty="0" smtClean="0">
                <a:latin typeface="Typo Comica" panose="02000500000000000000" pitchFamily="2" charset="0"/>
              </a:rPr>
              <a:t>Serum </a:t>
            </a:r>
            <a:r>
              <a:rPr lang="en-US" sz="3200" dirty="0">
                <a:latin typeface="Typo Comica" panose="02000500000000000000" pitchFamily="2" charset="0"/>
              </a:rPr>
              <a:t>amino acid </a:t>
            </a:r>
            <a:r>
              <a:rPr lang="en-US" sz="3200" dirty="0" smtClean="0">
                <a:latin typeface="Typo Comica" panose="02000500000000000000" pitchFamily="2" charset="0"/>
              </a:rPr>
              <a:t>levels</a:t>
            </a:r>
          </a:p>
          <a:p>
            <a:pPr>
              <a:buFontTx/>
              <a:buChar char="-"/>
            </a:pPr>
            <a:r>
              <a:rPr lang="en-PH" sz="3200" dirty="0" smtClean="0">
                <a:latin typeface="Typo Comica" panose="02000500000000000000" pitchFamily="2" charset="0"/>
              </a:rPr>
              <a:t>Lactate</a:t>
            </a:r>
          </a:p>
          <a:p>
            <a:pPr>
              <a:buFontTx/>
              <a:buChar char="-"/>
            </a:pPr>
            <a:r>
              <a:rPr lang="en-PH" sz="3200" dirty="0" smtClean="0">
                <a:latin typeface="Typo Comica" panose="02000500000000000000" pitchFamily="2" charset="0"/>
              </a:rPr>
              <a:t>Blood c/s if sepsis is suspected</a:t>
            </a:r>
            <a:endParaRPr lang="en-US" sz="3200" dirty="0" smtClean="0">
              <a:latin typeface="Typo Comica" panose="02000500000000000000" pitchFamily="2" charset="0"/>
            </a:endParaRPr>
          </a:p>
          <a:p>
            <a:r>
              <a:rPr lang="en-US" sz="3200" dirty="0" smtClean="0">
                <a:latin typeface="Typo Comica" panose="02000500000000000000" pitchFamily="2" charset="0"/>
              </a:rPr>
              <a:t>- Urinary </a:t>
            </a:r>
            <a:r>
              <a:rPr lang="en-US" sz="3200" dirty="0" err="1" smtClean="0">
                <a:latin typeface="Typo Comica" panose="02000500000000000000" pitchFamily="2" charset="0"/>
              </a:rPr>
              <a:t>orotic</a:t>
            </a:r>
            <a:r>
              <a:rPr lang="en-US" sz="3200" dirty="0" smtClean="0">
                <a:latin typeface="Typo Comica" panose="02000500000000000000" pitchFamily="2" charset="0"/>
              </a:rPr>
              <a:t> acid levels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Urinary </a:t>
            </a:r>
            <a:r>
              <a:rPr lang="en-US" sz="3200" dirty="0">
                <a:latin typeface="Typo Comica" panose="02000500000000000000" pitchFamily="2" charset="0"/>
              </a:rPr>
              <a:t>ketone tests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Plasma </a:t>
            </a:r>
            <a:r>
              <a:rPr lang="en-US" sz="3200" dirty="0">
                <a:latin typeface="Typo Comica" panose="02000500000000000000" pitchFamily="2" charset="0"/>
              </a:rPr>
              <a:t>and urinary organic acid levels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Enzyme </a:t>
            </a:r>
            <a:r>
              <a:rPr lang="en-US" sz="3200" dirty="0">
                <a:latin typeface="Typo Comica" panose="02000500000000000000" pitchFamily="2" charset="0"/>
              </a:rPr>
              <a:t>assays</a:t>
            </a:r>
          </a:p>
          <a:p>
            <a:r>
              <a:rPr lang="en-US" sz="3200" dirty="0" smtClean="0">
                <a:latin typeface="Typo Comica" panose="02000500000000000000" pitchFamily="2" charset="0"/>
              </a:rPr>
              <a:t>- DNA </a:t>
            </a:r>
            <a:r>
              <a:rPr lang="en-US" sz="3200" dirty="0">
                <a:latin typeface="Typo Comica" panose="02000500000000000000" pitchFamily="2" charset="0"/>
              </a:rPr>
              <a:t>mutation analysis: Method of choice to confirm the diagnosis of urea cycle disorders</a:t>
            </a:r>
            <a:r>
              <a:rPr lang="en-US" sz="3200" baseline="30000" dirty="0">
                <a:latin typeface="Typo Comica" panose="02000500000000000000" pitchFamily="2" charset="0"/>
              </a:rPr>
              <a:t> </a:t>
            </a:r>
            <a:endParaRPr lang="en-US" sz="3200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269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7535" y="580260"/>
            <a:ext cx="77745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5400" b="1" dirty="0">
                <a:latin typeface="Typo Comica" panose="02000500000000000000" pitchFamily="2" charset="0"/>
              </a:rPr>
              <a:t>Imaging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2742" y="1685015"/>
            <a:ext cx="9283338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latin typeface="Typo Comica" panose="02000500000000000000" pitchFamily="2" charset="0"/>
              </a:rPr>
              <a:t>The following imaging studies may be used in evaluating patients with </a:t>
            </a:r>
            <a:r>
              <a:rPr lang="en-US" sz="2800" dirty="0" err="1">
                <a:latin typeface="Typo Comica" panose="02000500000000000000" pitchFamily="2" charset="0"/>
              </a:rPr>
              <a:t>hyperammonemia</a:t>
            </a:r>
            <a:r>
              <a:rPr lang="en-US" sz="2800" dirty="0">
                <a:latin typeface="Typo Comica" panose="02000500000000000000" pitchFamily="2" charset="0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0274" y="3169826"/>
            <a:ext cx="9283338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dirty="0" smtClean="0">
                <a:latin typeface="Typo Comica" panose="02000500000000000000" pitchFamily="2" charset="0"/>
              </a:rPr>
              <a:t>- Neuroimaging</a:t>
            </a:r>
            <a:r>
              <a:rPr lang="en-US" sz="4000" dirty="0">
                <a:latin typeface="Typo Comica" panose="02000500000000000000" pitchFamily="2" charset="0"/>
              </a:rPr>
              <a:t>: </a:t>
            </a:r>
            <a:endParaRPr lang="en-US" sz="4000" dirty="0" smtClean="0">
              <a:latin typeface="Typo Comica" panose="02000500000000000000" pitchFamily="2" charset="0"/>
            </a:endParaRPr>
          </a:p>
          <a:p>
            <a:r>
              <a:rPr lang="en-US" sz="4000" dirty="0" smtClean="0">
                <a:latin typeface="Typo Comica" panose="02000500000000000000" pitchFamily="2" charset="0"/>
              </a:rPr>
              <a:t>                   CT </a:t>
            </a:r>
            <a:r>
              <a:rPr lang="en-US" sz="4000" dirty="0">
                <a:latin typeface="Typo Comica" panose="02000500000000000000" pitchFamily="2" charset="0"/>
              </a:rPr>
              <a:t>or MRI of the </a:t>
            </a:r>
            <a:r>
              <a:rPr lang="en-US" sz="4000" dirty="0" smtClean="0">
                <a:latin typeface="Typo Comica" panose="02000500000000000000" pitchFamily="2" charset="0"/>
              </a:rPr>
              <a:t>brain</a:t>
            </a:r>
          </a:p>
          <a:p>
            <a:endParaRPr lang="en-US" sz="4000" dirty="0">
              <a:latin typeface="Typo Comica" panose="02000500000000000000" pitchFamily="2" charset="0"/>
            </a:endParaRPr>
          </a:p>
          <a:p>
            <a:r>
              <a:rPr lang="en-US" sz="4000" dirty="0" smtClean="0">
                <a:latin typeface="Typo Comica" panose="02000500000000000000" pitchFamily="2" charset="0"/>
              </a:rPr>
              <a:t>- MR </a:t>
            </a:r>
            <a:r>
              <a:rPr lang="en-US" sz="4000" dirty="0">
                <a:latin typeface="Typo Comica" panose="02000500000000000000" pitchFamily="2" charset="0"/>
              </a:rPr>
              <a:t>spectroscopy</a:t>
            </a:r>
          </a:p>
        </p:txBody>
      </p:sp>
    </p:spTree>
    <p:extLst>
      <p:ext uri="{BB962C8B-B14F-4D97-AF65-F5344CB8AC3E}">
        <p14:creationId xmlns:p14="http://schemas.microsoft.com/office/powerpoint/2010/main" xmlns="" val="142801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518" y="462695"/>
            <a:ext cx="1033489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/>
            <a:r>
              <a:rPr lang="en-US" sz="6000" b="1" dirty="0" smtClean="0">
                <a:latin typeface="Typo Comica" panose="02000500000000000000" pitchFamily="2" charset="0"/>
              </a:rPr>
              <a:t>Emergency Management</a:t>
            </a:r>
            <a:endParaRPr lang="en-US" sz="6000" b="1" dirty="0">
              <a:latin typeface="Typo Comica" panose="020005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1283" y="1635443"/>
            <a:ext cx="11002865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Supportive care</a:t>
            </a:r>
          </a:p>
          <a:p>
            <a:r>
              <a:rPr lang="en-US" sz="4000" dirty="0" smtClean="0">
                <a:latin typeface="Typo Comica" panose="02000500000000000000" pitchFamily="2" charset="0"/>
              </a:rPr>
              <a:t>             </a:t>
            </a:r>
            <a:r>
              <a:rPr lang="en-US" sz="2800" dirty="0" smtClean="0">
                <a:latin typeface="Typo Comica" panose="02000500000000000000" pitchFamily="2" charset="0"/>
              </a:rPr>
              <a:t>- Reduce further catabolic stress</a:t>
            </a:r>
          </a:p>
          <a:p>
            <a:r>
              <a:rPr lang="en-US" sz="2800" dirty="0">
                <a:latin typeface="Typo Comica" panose="02000500000000000000" pitchFamily="2" charset="0"/>
              </a:rPr>
              <a:t> </a:t>
            </a:r>
            <a:r>
              <a:rPr lang="en-US" sz="2800" dirty="0" smtClean="0">
                <a:latin typeface="Typo Comica" panose="02000500000000000000" pitchFamily="2" charset="0"/>
              </a:rPr>
              <a:t>                  - Reduce energy expenditure</a:t>
            </a:r>
          </a:p>
          <a:p>
            <a:r>
              <a:rPr lang="en-US" sz="2800" dirty="0">
                <a:latin typeface="Typo Comica" panose="02000500000000000000" pitchFamily="2" charset="0"/>
              </a:rPr>
              <a:t> </a:t>
            </a:r>
            <a:r>
              <a:rPr lang="en-US" sz="2800" dirty="0" smtClean="0">
                <a:latin typeface="Typo Comica" panose="02000500000000000000" pitchFamily="2" charset="0"/>
              </a:rPr>
              <a:t>                  - Prevent  secondary complication</a:t>
            </a:r>
          </a:p>
          <a:p>
            <a:r>
              <a:rPr lang="en-US" sz="2800" dirty="0">
                <a:latin typeface="Typo Comica" panose="02000500000000000000" pitchFamily="2" charset="0"/>
              </a:rPr>
              <a:t> </a:t>
            </a:r>
            <a:r>
              <a:rPr lang="en-US" sz="2800" dirty="0" smtClean="0">
                <a:latin typeface="Typo Comica" panose="02000500000000000000" pitchFamily="2" charset="0"/>
              </a:rPr>
              <a:t>                  - Supportive care on parenteral (TPN) intake of calories</a:t>
            </a:r>
          </a:p>
          <a:p>
            <a:endParaRPr lang="en-US" sz="2800" dirty="0" smtClean="0">
              <a:latin typeface="Typo Comica" panose="02000500000000000000" pitchFamily="2" charset="0"/>
            </a:endParaRP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Cessation </a:t>
            </a:r>
            <a:r>
              <a:rPr lang="en-US" sz="4000" dirty="0">
                <a:latin typeface="Typo Comica" panose="02000500000000000000" pitchFamily="2" charset="0"/>
              </a:rPr>
              <a:t>of protein and/or nitrogen </a:t>
            </a:r>
            <a:r>
              <a:rPr lang="en-US" sz="4000" dirty="0" smtClean="0">
                <a:latin typeface="Typo Comica" panose="02000500000000000000" pitchFamily="2" charset="0"/>
              </a:rPr>
              <a:t>intake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Hemodialysis</a:t>
            </a:r>
            <a:endParaRPr lang="en-US" sz="4000" dirty="0">
              <a:latin typeface="Typo Comica" panose="02000500000000000000" pitchFamily="2" charset="0"/>
            </a:endParaRPr>
          </a:p>
          <a:p>
            <a:endParaRPr lang="en-US" sz="2800" dirty="0" smtClean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878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4617" y="679175"/>
            <a:ext cx="92833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dirty="0" smtClean="0">
                <a:latin typeface="Typo Comica" panose="02000500000000000000" pitchFamily="2" charset="0"/>
              </a:rPr>
              <a:t>Pharmacotherapy</a:t>
            </a:r>
          </a:p>
        </p:txBody>
      </p:sp>
      <p:sp>
        <p:nvSpPr>
          <p:cNvPr id="2" name="Rectangle 1"/>
          <p:cNvSpPr/>
          <p:nvPr/>
        </p:nvSpPr>
        <p:spPr>
          <a:xfrm>
            <a:off x="1593668" y="1548675"/>
            <a:ext cx="105983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ypo Comica" panose="02000500000000000000" pitchFamily="2" charset="0"/>
              </a:rPr>
              <a:t>Medications used in the treatment of </a:t>
            </a:r>
            <a:r>
              <a:rPr lang="en-US" sz="2400" dirty="0" err="1" smtClean="0">
                <a:latin typeface="Typo Comica" panose="02000500000000000000" pitchFamily="2" charset="0"/>
              </a:rPr>
              <a:t>hyperammonemia</a:t>
            </a:r>
            <a:r>
              <a:rPr lang="en-US" sz="2400" dirty="0" smtClean="0">
                <a:latin typeface="Typo Comica" panose="02000500000000000000" pitchFamily="2" charset="0"/>
              </a:rPr>
              <a:t>:</a:t>
            </a:r>
            <a:endParaRPr lang="en-US" sz="3600" b="1" dirty="0">
              <a:latin typeface="Typo Comica" panose="020005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93668" y="2572065"/>
            <a:ext cx="10214068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dirty="0" err="1" smtClean="0">
                <a:latin typeface="Typo Comica" panose="02000500000000000000" pitchFamily="2" charset="0"/>
              </a:rPr>
              <a:t>Antiemetics</a:t>
            </a:r>
            <a:r>
              <a:rPr lang="en-US" sz="4000" dirty="0" smtClean="0">
                <a:latin typeface="Typo Comica" panose="02000500000000000000" pitchFamily="2" charset="0"/>
              </a:rPr>
              <a:t> </a:t>
            </a:r>
          </a:p>
          <a:p>
            <a:r>
              <a:rPr lang="en-US" sz="4000" dirty="0" smtClean="0">
                <a:latin typeface="Typo Comica" panose="02000500000000000000" pitchFamily="2" charset="0"/>
              </a:rPr>
              <a:t>             </a:t>
            </a:r>
            <a:r>
              <a:rPr lang="en-US" sz="2800" dirty="0" smtClean="0">
                <a:latin typeface="Typo Comica" panose="02000500000000000000" pitchFamily="2" charset="0"/>
              </a:rPr>
              <a:t>- </a:t>
            </a:r>
            <a:r>
              <a:rPr lang="en-US" sz="2800" dirty="0" err="1" smtClean="0">
                <a:latin typeface="Typo Comica" panose="02000500000000000000" pitchFamily="2" charset="0"/>
              </a:rPr>
              <a:t>Ondansetrone</a:t>
            </a:r>
            <a:r>
              <a:rPr lang="en-US" sz="2800" dirty="0" smtClean="0">
                <a:latin typeface="Typo Comica" panose="02000500000000000000" pitchFamily="2" charset="0"/>
              </a:rPr>
              <a:t>, </a:t>
            </a:r>
            <a:r>
              <a:rPr lang="en-US" sz="2800" dirty="0" err="1" smtClean="0">
                <a:latin typeface="Typo Comica" panose="02000500000000000000" pitchFamily="2" charset="0"/>
              </a:rPr>
              <a:t>Granisetrone</a:t>
            </a:r>
            <a:r>
              <a:rPr lang="en-US" sz="2800" dirty="0" smtClean="0">
                <a:latin typeface="Typo Comica" panose="02000500000000000000" pitchFamily="2" charset="0"/>
              </a:rPr>
              <a:t> &amp; </a:t>
            </a:r>
            <a:r>
              <a:rPr lang="en-US" sz="2800" dirty="0" err="1" smtClean="0">
                <a:latin typeface="Typo Comica" panose="02000500000000000000" pitchFamily="2" charset="0"/>
              </a:rPr>
              <a:t>etc</a:t>
            </a:r>
            <a:endParaRPr lang="en-US" sz="2800" dirty="0" smtClean="0">
              <a:latin typeface="Typo Comica" panose="02000500000000000000" pitchFamily="2" charset="0"/>
            </a:endParaRP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Lactulose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</a:rPr>
              <a:t>Antibiotics</a:t>
            </a: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  <a:hlinkClick r:id="" action="ppaction://noaction"/>
              </a:rPr>
              <a:t>Nitrogen Scavenger drugs</a:t>
            </a:r>
            <a:endParaRPr lang="en-US" sz="4000" dirty="0" smtClean="0">
              <a:latin typeface="Typo Comica" panose="02000500000000000000" pitchFamily="2" charset="0"/>
            </a:endParaRPr>
          </a:p>
          <a:p>
            <a:pPr marL="571500" indent="-571500">
              <a:buFontTx/>
              <a:buChar char="-"/>
            </a:pPr>
            <a:r>
              <a:rPr lang="en-US" sz="4000" dirty="0" smtClean="0">
                <a:latin typeface="Typo Comica" panose="02000500000000000000" pitchFamily="2" charset="0"/>
                <a:hlinkClick r:id="rId2" action="ppaction://hlinksldjump"/>
              </a:rPr>
              <a:t>L-Arginine</a:t>
            </a:r>
            <a:endParaRPr lang="en-US" sz="4000" dirty="0" smtClean="0">
              <a:latin typeface="Typo Comica" panose="02000500000000000000" pitchFamily="2" charset="0"/>
            </a:endParaRPr>
          </a:p>
          <a:p>
            <a:pPr marL="571500" indent="-571500">
              <a:buFontTx/>
              <a:buChar char="-"/>
            </a:pPr>
            <a:endParaRPr lang="en-US" sz="4000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245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809897" y="2078201"/>
          <a:ext cx="10776856" cy="3617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8149">
                  <a:extLst>
                    <a:ext uri="{9D8B030D-6E8A-4147-A177-3AD203B41FA5}">
                      <a16:colId xmlns:a16="http://schemas.microsoft.com/office/drawing/2014/main" xmlns="" val="3438060287"/>
                    </a:ext>
                  </a:extLst>
                </a:gridCol>
                <a:gridCol w="2390503">
                  <a:extLst>
                    <a:ext uri="{9D8B030D-6E8A-4147-A177-3AD203B41FA5}">
                      <a16:colId xmlns:a16="http://schemas.microsoft.com/office/drawing/2014/main" xmlns="" val="1655627059"/>
                    </a:ext>
                  </a:extLst>
                </a:gridCol>
                <a:gridCol w="2543990">
                  <a:extLst>
                    <a:ext uri="{9D8B030D-6E8A-4147-A177-3AD203B41FA5}">
                      <a16:colId xmlns:a16="http://schemas.microsoft.com/office/drawing/2014/main" xmlns="" val="3607478518"/>
                    </a:ext>
                  </a:extLst>
                </a:gridCol>
                <a:gridCol w="2694214">
                  <a:extLst>
                    <a:ext uri="{9D8B030D-6E8A-4147-A177-3AD203B41FA5}">
                      <a16:colId xmlns:a16="http://schemas.microsoft.com/office/drawing/2014/main" xmlns="" val="4172444944"/>
                    </a:ext>
                  </a:extLst>
                </a:gridCol>
              </a:tblGrid>
              <a:tr h="904301">
                <a:tc>
                  <a:txBody>
                    <a:bodyPr/>
                    <a:lstStyle/>
                    <a:p>
                      <a:pPr algn="ctr"/>
                      <a:endParaRPr lang="en-US" sz="2000" dirty="0" smtClean="0"/>
                    </a:p>
                    <a:p>
                      <a:pPr algn="ctr"/>
                      <a:r>
                        <a:rPr lang="en-US" sz="2000" dirty="0" smtClean="0"/>
                        <a:t>Drugs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Loading dose over 90 </a:t>
                      </a:r>
                      <a:r>
                        <a:rPr lang="en-US" sz="2000" dirty="0" err="1" smtClean="0"/>
                        <a:t>mins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Maintenance dose over  24 hours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Sodium content</a:t>
                      </a:r>
                      <a:r>
                        <a:rPr lang="en-US" sz="2000" baseline="0" dirty="0" smtClean="0"/>
                        <a:t> of the daily maintenance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3176348"/>
                  </a:ext>
                </a:extLst>
              </a:tr>
              <a:tr h="904301">
                <a:tc>
                  <a:txBody>
                    <a:bodyPr/>
                    <a:lstStyle/>
                    <a:p>
                      <a:pPr algn="l"/>
                      <a:endParaRPr lang="en-US" sz="2400" dirty="0" smtClean="0"/>
                    </a:p>
                    <a:p>
                      <a:pPr algn="l"/>
                      <a:r>
                        <a:rPr lang="en-US" sz="2400" dirty="0" smtClean="0"/>
                        <a:t>Sodium Benzoate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250 mg/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250 mg/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3.5 </a:t>
                      </a:r>
                      <a:r>
                        <a:rPr lang="en-US" sz="2400" dirty="0" err="1" smtClean="0"/>
                        <a:t>mmol</a:t>
                      </a:r>
                      <a:r>
                        <a:rPr lang="en-US" sz="2400" dirty="0" smtClean="0"/>
                        <a:t>/kg/day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3559635"/>
                  </a:ext>
                </a:extLst>
              </a:tr>
              <a:tr h="904301">
                <a:tc>
                  <a:txBody>
                    <a:bodyPr/>
                    <a:lstStyle/>
                    <a:p>
                      <a:pPr algn="l"/>
                      <a:endParaRPr lang="en-US" sz="2400" dirty="0" smtClean="0"/>
                    </a:p>
                    <a:p>
                      <a:pPr algn="l"/>
                      <a:r>
                        <a:rPr lang="en-US" sz="2400" baseline="0" dirty="0" smtClean="0"/>
                        <a:t>Sodium </a:t>
                      </a:r>
                      <a:r>
                        <a:rPr lang="en-US" sz="2400" baseline="0" dirty="0" err="1" smtClean="0"/>
                        <a:t>Phenylbutyrate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250 mg/</a:t>
                      </a:r>
                      <a:r>
                        <a:rPr lang="en-US" sz="2400" baseline="0" dirty="0" smtClean="0"/>
                        <a:t>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250 mg/</a:t>
                      </a:r>
                      <a:r>
                        <a:rPr lang="en-US" sz="2400" baseline="0" dirty="0" smtClean="0"/>
                        <a:t>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2.8 </a:t>
                      </a:r>
                      <a:r>
                        <a:rPr lang="en-US" sz="2400" dirty="0" err="1" smtClean="0"/>
                        <a:t>mmol</a:t>
                      </a:r>
                      <a:r>
                        <a:rPr lang="en-US" sz="2400" dirty="0" smtClean="0"/>
                        <a:t>/kg/day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5672229"/>
                  </a:ext>
                </a:extLst>
              </a:tr>
              <a:tr h="904301">
                <a:tc>
                  <a:txBody>
                    <a:bodyPr/>
                    <a:lstStyle/>
                    <a:p>
                      <a:pPr algn="l"/>
                      <a:endParaRPr lang="en-US" sz="2400" dirty="0" smtClean="0"/>
                    </a:p>
                    <a:p>
                      <a:pPr algn="l"/>
                      <a:r>
                        <a:rPr lang="en-US" sz="2400" dirty="0" smtClean="0"/>
                        <a:t>Arginine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200</a:t>
                      </a:r>
                      <a:r>
                        <a:rPr lang="en-US" sz="2400" baseline="0" dirty="0" smtClean="0"/>
                        <a:t> mg/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200</a:t>
                      </a:r>
                      <a:r>
                        <a:rPr lang="en-US" sz="2400" baseline="0" dirty="0" smtClean="0"/>
                        <a:t> mg/ kg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 smtClean="0"/>
                    </a:p>
                    <a:p>
                      <a:pPr algn="ctr"/>
                      <a:r>
                        <a:rPr lang="en-US" sz="2400" dirty="0" smtClean="0"/>
                        <a:t>NIL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21698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74617" y="679175"/>
            <a:ext cx="928333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atin typeface="Typo Comica" panose="02000500000000000000" pitchFamily="2" charset="0"/>
              </a:rPr>
              <a:t>Nitrogen Scavenger Drugs</a:t>
            </a:r>
          </a:p>
        </p:txBody>
      </p:sp>
    </p:spTree>
    <p:extLst>
      <p:ext uri="{BB962C8B-B14F-4D97-AF65-F5344CB8AC3E}">
        <p14:creationId xmlns:p14="http://schemas.microsoft.com/office/powerpoint/2010/main" xmlns="" val="103541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4083" y="2345476"/>
            <a:ext cx="5178733" cy="3484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6200000">
            <a:off x="2034765" y="1926683"/>
            <a:ext cx="3516167" cy="4353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474617" y="679175"/>
            <a:ext cx="928333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atin typeface="Typo Comica" panose="02000500000000000000" pitchFamily="2" charset="0"/>
              </a:rPr>
              <a:t>Nitrogen Scavenger Drugs</a:t>
            </a:r>
          </a:p>
        </p:txBody>
      </p:sp>
    </p:spTree>
    <p:extLst>
      <p:ext uri="{BB962C8B-B14F-4D97-AF65-F5344CB8AC3E}">
        <p14:creationId xmlns:p14="http://schemas.microsoft.com/office/powerpoint/2010/main" xmlns="" val="122341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01661" y="998801"/>
            <a:ext cx="53547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atin typeface="Typo Comica" panose="02000500000000000000" pitchFamily="2" charset="0"/>
              </a:rPr>
              <a:t>Arginine</a:t>
            </a:r>
          </a:p>
        </p:txBody>
      </p:sp>
      <p:pic>
        <p:nvPicPr>
          <p:cNvPr id="3074" name="Picture 2" descr="Open phot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26411" y="2179076"/>
            <a:ext cx="3798278" cy="3798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79709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8640" y="274449"/>
            <a:ext cx="11090365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 smtClean="0">
                <a:latin typeface="Typo Comica" panose="02000500000000000000" pitchFamily="2" charset="0"/>
              </a:rPr>
              <a:t>It is assumed that the patient will be given Na Benzoate and Na </a:t>
            </a:r>
            <a:r>
              <a:rPr lang="en-US" sz="3600" dirty="0" err="1" smtClean="0">
                <a:latin typeface="Typo Comica" panose="02000500000000000000" pitchFamily="2" charset="0"/>
              </a:rPr>
              <a:t>Phenylbutyrate</a:t>
            </a:r>
            <a:r>
              <a:rPr lang="en-US" sz="3600" dirty="0" smtClean="0">
                <a:latin typeface="Typo Comica" panose="02000500000000000000" pitchFamily="2" charset="0"/>
              </a:rPr>
              <a:t> at full dose, therefore use D10%.</a:t>
            </a:r>
          </a:p>
          <a:p>
            <a:pPr marL="457200" indent="-457200">
              <a:buFontTx/>
              <a:buChar char="-"/>
            </a:pPr>
            <a:endParaRPr lang="en-US" sz="3600" dirty="0">
              <a:latin typeface="Typo Comica" panose="02000500000000000000" pitchFamily="2" charset="0"/>
            </a:endParaRPr>
          </a:p>
          <a:p>
            <a:pPr marL="457200" indent="-457200">
              <a:buFontTx/>
              <a:buChar char="-"/>
            </a:pPr>
            <a:r>
              <a:rPr lang="en-US" sz="3600" dirty="0" smtClean="0">
                <a:latin typeface="Typo Comica" panose="02000500000000000000" pitchFamily="2" charset="0"/>
              </a:rPr>
              <a:t>These drugs </a:t>
            </a:r>
            <a:r>
              <a:rPr lang="en-US" sz="3600" b="1" dirty="0" smtClean="0">
                <a:latin typeface="Typo Comica" panose="02000500000000000000" pitchFamily="2" charset="0"/>
              </a:rPr>
              <a:t>should be given as soon as possible </a:t>
            </a:r>
            <a:r>
              <a:rPr lang="en-US" sz="3600" dirty="0" smtClean="0">
                <a:latin typeface="Typo Comica" panose="02000500000000000000" pitchFamily="2" charset="0"/>
              </a:rPr>
              <a:t>as continuous intravenous infusions.</a:t>
            </a:r>
          </a:p>
          <a:p>
            <a:pPr marL="457200" indent="-457200">
              <a:buFontTx/>
              <a:buChar char="-"/>
            </a:pPr>
            <a:endParaRPr lang="en-US" sz="3600" dirty="0" smtClean="0">
              <a:latin typeface="Typo Comica" panose="02000500000000000000" pitchFamily="2" charset="0"/>
            </a:endParaRPr>
          </a:p>
          <a:p>
            <a:pPr marL="457200" indent="-457200">
              <a:buFontTx/>
              <a:buChar char="-"/>
            </a:pPr>
            <a:r>
              <a:rPr lang="en-US" sz="3600" dirty="0" smtClean="0">
                <a:latin typeface="Typo Comica" panose="02000500000000000000" pitchFamily="2" charset="0"/>
              </a:rPr>
              <a:t>Can be given together</a:t>
            </a:r>
          </a:p>
          <a:p>
            <a:pPr marL="457200" indent="-457200">
              <a:buFontTx/>
              <a:buChar char="-"/>
            </a:pPr>
            <a:endParaRPr lang="en-US" sz="3600" dirty="0" smtClean="0">
              <a:latin typeface="Typo Comica" panose="02000500000000000000" pitchFamily="2" charset="0"/>
            </a:endParaRPr>
          </a:p>
          <a:p>
            <a:pPr marL="457200" indent="-457200">
              <a:buFontTx/>
              <a:buChar char="-"/>
            </a:pPr>
            <a:r>
              <a:rPr lang="en-US" sz="3600" dirty="0" smtClean="0">
                <a:latin typeface="Typo Comica" panose="02000500000000000000" pitchFamily="2" charset="0"/>
              </a:rPr>
              <a:t>Maximum dose  -- </a:t>
            </a:r>
            <a:r>
              <a:rPr lang="en-US" sz="3600" b="1" dirty="0" smtClean="0">
                <a:latin typeface="Typo Comica" panose="02000500000000000000" pitchFamily="2" charset="0"/>
              </a:rPr>
              <a:t>2.5 </a:t>
            </a:r>
            <a:r>
              <a:rPr lang="en-US" sz="3600" b="1" dirty="0" err="1" smtClean="0">
                <a:latin typeface="Typo Comica" panose="02000500000000000000" pitchFamily="2" charset="0"/>
              </a:rPr>
              <a:t>gms</a:t>
            </a:r>
            <a:r>
              <a:rPr lang="en-US" sz="3600" b="1" dirty="0" smtClean="0">
                <a:latin typeface="Typo Comica" panose="02000500000000000000" pitchFamily="2" charset="0"/>
              </a:rPr>
              <a:t> </a:t>
            </a:r>
            <a:r>
              <a:rPr lang="en-US" sz="3600" dirty="0" smtClean="0">
                <a:latin typeface="Typo Comica" panose="02000500000000000000" pitchFamily="2" charset="0"/>
              </a:rPr>
              <a:t>of each drug</a:t>
            </a:r>
            <a:endParaRPr lang="en-US" sz="3600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963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3410" y="1410355"/>
            <a:ext cx="10763795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u="sng" dirty="0" smtClean="0">
                <a:latin typeface="Typo Comica" panose="02000500000000000000" pitchFamily="2" charset="0"/>
              </a:rPr>
              <a:t>Na Benzoate  and Na </a:t>
            </a:r>
            <a:r>
              <a:rPr lang="en-US" sz="3200" u="sng" dirty="0" err="1" smtClean="0">
                <a:latin typeface="Typo Comica" panose="02000500000000000000" pitchFamily="2" charset="0"/>
              </a:rPr>
              <a:t>Phenylbutyrate</a:t>
            </a:r>
            <a:endParaRPr lang="en-US" sz="3200" u="sng" dirty="0" smtClean="0">
              <a:latin typeface="Typo Comica" panose="02000500000000000000" pitchFamily="2" charset="0"/>
            </a:endParaRPr>
          </a:p>
          <a:p>
            <a:r>
              <a:rPr lang="en-US" sz="3200" dirty="0" smtClean="0">
                <a:latin typeface="Typo Comica" panose="02000500000000000000" pitchFamily="2" charset="0"/>
              </a:rPr>
              <a:t>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    - can be mixed in 1 syringe to make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     Total Volume (TV) of 50 ml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          Diluted in D10%</a:t>
            </a:r>
          </a:p>
          <a:p>
            <a:pPr marL="457200" indent="-457200">
              <a:buFontTx/>
              <a:buChar char="-"/>
            </a:pPr>
            <a:r>
              <a:rPr lang="en-US" sz="3200" u="sng" dirty="0" smtClean="0">
                <a:latin typeface="Typo Comica" panose="02000500000000000000" pitchFamily="2" charset="0"/>
              </a:rPr>
              <a:t>Arginine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  Separate syringe </a:t>
            </a:r>
          </a:p>
          <a:p>
            <a:r>
              <a:rPr lang="en-US" sz="3200" dirty="0">
                <a:latin typeface="Typo Comica" panose="02000500000000000000" pitchFamily="2" charset="0"/>
              </a:rPr>
              <a:t> </a:t>
            </a:r>
            <a:r>
              <a:rPr lang="en-US" sz="3200" dirty="0" smtClean="0">
                <a:latin typeface="Typo Comica" panose="02000500000000000000" pitchFamily="2" charset="0"/>
              </a:rPr>
              <a:t>           Total Volume of 50 ml in D10%</a:t>
            </a:r>
          </a:p>
          <a:p>
            <a:endParaRPr lang="en-US" sz="3200" dirty="0">
              <a:latin typeface="Typo Comica" panose="02000500000000000000" pitchFamily="2" charset="0"/>
            </a:endParaRPr>
          </a:p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medication can be given in 1 line via 3-way to run for 90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5957" y="510363"/>
            <a:ext cx="102027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u="sng" dirty="0" smtClean="0">
                <a:latin typeface="Typo Comica" panose="02000500000000000000" pitchFamily="2" charset="0"/>
              </a:rPr>
              <a:t>Nitrogen Scavenger Drugs Preparation</a:t>
            </a:r>
          </a:p>
        </p:txBody>
      </p:sp>
    </p:spTree>
    <p:extLst>
      <p:ext uri="{BB962C8B-B14F-4D97-AF65-F5344CB8AC3E}">
        <p14:creationId xmlns:p14="http://schemas.microsoft.com/office/powerpoint/2010/main" xmlns="" val="55676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6207" y="2381794"/>
            <a:ext cx="651260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9600" dirty="0" smtClean="0">
                <a:latin typeface="Typo Comica" panose="02000500000000000000" pitchFamily="2" charset="0"/>
              </a:rPr>
              <a:t>Thank You!</a:t>
            </a:r>
            <a:endParaRPr lang="en-US" sz="9600" dirty="0">
              <a:latin typeface="Typo Comica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725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