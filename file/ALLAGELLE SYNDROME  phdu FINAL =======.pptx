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image/jpeg" Extension="jpeg"/>
  <Default ContentType="audio/x-wav" Extension="wav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tags+xml" PartName="/ppt/tags/tag2.xml"/>
  <Override ContentType="application/vnd.openxmlformats-officedocument.presentationml.tags+xml" PartName="/ppt/tags/tag1.xml"/>
  <Override ContentType="application/vnd.openxmlformats-officedocument.presentationml.tags+xml" PartName="/ppt/tags/tag3.xml"/>
  <Override ContentType="application/vnd.openxmlformats-officedocument.presentationml.tags+xml" PartName="/ppt/tags/tag4.xml"/>
  <Override ContentType="application/vnd.openxmlformats-officedocument.presentationml.tags+xml" PartName="/ppt/tags/tag5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5BEBFD-94CD-4A26-8652-83B7761D9982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84CC56-5F71-4885-A593-14449794AA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94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18F75DD-40E9-41C8-8EF0-CA4F63766A3D}" type="datetimeFigureOut">
              <a:rPr lang="en-US" smtClean="0"/>
              <a:t>1/24/2022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0C6B7DA-2176-4E5B-8E0F-61AA8EC0E80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 /><Relationship Id="rId1" Type="http://schemas.openxmlformats.org/officeDocument/2006/relationships/tags" Target="../tags/tag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slideLayout" Target="../slideLayouts/slideLayout7.xml" /><Relationship Id="rId1" Type="http://schemas.openxmlformats.org/officeDocument/2006/relationships/tags" Target="../tags/tag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 /><Relationship Id="rId2" Type="http://schemas.openxmlformats.org/officeDocument/2006/relationships/audio" Target="../media/media1.wav" /><Relationship Id="rId1" Type="http://schemas.microsoft.com/office/2007/relationships/media" Target="../media/media1.wav" /><Relationship Id="rId5" Type="http://schemas.openxmlformats.org/officeDocument/2006/relationships/image" Target="../media/image8.png" /><Relationship Id="rId4" Type="http://schemas.openxmlformats.org/officeDocument/2006/relationships/image" Target="../media/image7.jp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 /><Relationship Id="rId1" Type="http://schemas.openxmlformats.org/officeDocument/2006/relationships/tags" Target="../tags/tag3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 /><Relationship Id="rId2" Type="http://schemas.openxmlformats.org/officeDocument/2006/relationships/slideLayout" Target="../slideLayouts/slideLayout7.xml" /><Relationship Id="rId1" Type="http://schemas.openxmlformats.org/officeDocument/2006/relationships/tags" Target="../tags/tag4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6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 /><Relationship Id="rId2" Type="http://schemas.openxmlformats.org/officeDocument/2006/relationships/slideLayout" Target="../slideLayouts/slideLayout7.xml" /><Relationship Id="rId1" Type="http://schemas.openxmlformats.org/officeDocument/2006/relationships/tags" Target="../tags/tag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838200"/>
            <a:ext cx="9144000" cy="3527946"/>
          </a:xfrm>
        </p:spPr>
        <p:txBody>
          <a:bodyPr>
            <a:noAutofit/>
          </a:bodyPr>
          <a:lstStyle/>
          <a:p>
            <a:pPr algn="ctr"/>
            <a:r>
              <a:rPr lang="en-US" sz="8800" b="1" dirty="0">
                <a:solidFill>
                  <a:schemeClr val="tx1"/>
                </a:solidFill>
                <a:latin typeface="Lucida Handwriting" panose="03010101010101010101" pitchFamily="66" charset="0"/>
              </a:rPr>
              <a:t>ALAGELLE</a:t>
            </a:r>
            <a:r>
              <a:rPr lang="en-US" sz="8800" dirty="0">
                <a:solidFill>
                  <a:schemeClr val="tx1"/>
                </a:solidFill>
                <a:latin typeface="Lucida Handwriting" panose="03010101010101010101" pitchFamily="66" charset="0"/>
              </a:rPr>
              <a:t> </a:t>
            </a:r>
            <a:r>
              <a:rPr lang="en-US" sz="8800" b="1" dirty="0">
                <a:solidFill>
                  <a:schemeClr val="tx1"/>
                </a:solidFill>
                <a:latin typeface="Lucida Handwriting" panose="03010101010101010101" pitchFamily="66" charset="0"/>
              </a:rPr>
              <a:t>SYNDROME</a:t>
            </a:r>
            <a:br>
              <a:rPr lang="en-US" sz="5400" b="1" dirty="0">
                <a:solidFill>
                  <a:srgbClr val="7030A0"/>
                </a:solidFill>
                <a:latin typeface="Lucida Handwriting" panose="03010101010101010101" pitchFamily="66" charset="0"/>
              </a:rPr>
            </a:br>
            <a:endParaRPr lang="en-US" sz="5400" dirty="0">
              <a:latin typeface="Lucida Handwriting" panose="03010101010101010101" pitchFamily="66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800600"/>
            <a:ext cx="7854696" cy="175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Presented by : </a:t>
            </a:r>
            <a:r>
              <a:rPr lang="en-US" sz="3200" b="1" dirty="0" err="1"/>
              <a:t>Jayanthy</a:t>
            </a:r>
            <a:r>
              <a:rPr lang="en-US" sz="3200" b="1" dirty="0"/>
              <a:t> Balakrishnan</a:t>
            </a:r>
          </a:p>
          <a:p>
            <a:pPr marL="0" indent="0">
              <a:buNone/>
            </a:pPr>
            <a:r>
              <a:rPr lang="en-US" sz="3200" b="1" dirty="0"/>
              <a:t>PHDU</a:t>
            </a:r>
          </a:p>
          <a:p>
            <a:pPr marL="0" indent="0">
              <a:buNone/>
            </a:pPr>
            <a:r>
              <a:rPr lang="en-US" sz="3200" b="1" dirty="0"/>
              <a:t>24/01/2022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6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latin typeface="Lucida Handwriting" panose="03010101010101010101" pitchFamily="66" charset="0"/>
              </a:rPr>
              <a:t>ALAGELLE SYNDROME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80" indent="0">
              <a:buNone/>
            </a:pPr>
            <a:r>
              <a:rPr lang="en-US" sz="4000" b="1" dirty="0">
                <a:latin typeface="Bodoni MT" panose="02070603080606020203" pitchFamily="18" charset="0"/>
              </a:rPr>
              <a:t>Alagelle  syndrome (ALGS) is a rare genetic disorder that affects multiple organs in the bodies and cause variety of abnormalities . It  can </a:t>
            </a:r>
            <a:r>
              <a:rPr lang="en-US" sz="4000" b="1" dirty="0" err="1">
                <a:latin typeface="Bodoni MT" panose="02070603080606020203" pitchFamily="18" charset="0"/>
              </a:rPr>
              <a:t>tipically</a:t>
            </a:r>
            <a:r>
              <a:rPr lang="en-US" sz="4000" b="1" dirty="0">
                <a:latin typeface="Bodoni MT" panose="02070603080606020203" pitchFamily="18" charset="0"/>
              </a:rPr>
              <a:t> affects the liver but it  also cause problem in the heart, kidneys ,eyes and bones.</a:t>
            </a:r>
          </a:p>
          <a:p>
            <a:endParaRPr lang="en-US" sz="4000" b="1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55170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418" y="294564"/>
            <a:ext cx="8077200" cy="533400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latin typeface="Lucida Handwriting" panose="03010101010101010101" pitchFamily="66" charset="0"/>
              </a:rPr>
              <a:t>Cholestasis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418" y="827964"/>
            <a:ext cx="8491182" cy="5786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Bodoni MT" panose="02070603080606020203" pitchFamily="18" charset="0"/>
              </a:rPr>
              <a:t>Affected individuals have reduced number of bile ducts in the liver ,as a result decrease in bile flow known as cholestasis .The symptoms  and signs include__ jaundice(yellowing skin and eyes )severe itching , pale coloured stool and dark urine.  Some patients may have Enlarged liver or Spleen.</a:t>
            </a:r>
          </a:p>
          <a:p>
            <a:pPr marL="0" indent="0">
              <a:buNone/>
            </a:pPr>
            <a:endParaRPr lang="en-US" sz="2800" dirty="0">
              <a:latin typeface="Bodoni MT" panose="02070603080606020203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5200"/>
            <a:ext cx="9144000" cy="310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8229600" cy="472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81000"/>
            <a:ext cx="8915400" cy="5943600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51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882" y="533400"/>
            <a:ext cx="9240882" cy="5562600"/>
          </a:xfrm>
        </p:spPr>
      </p:pic>
    </p:spTree>
    <p:extLst>
      <p:ext uri="{BB962C8B-B14F-4D97-AF65-F5344CB8AC3E}">
        <p14:creationId xmlns:p14="http://schemas.microsoft.com/office/powerpoint/2010/main" val="406409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027"/>
            <a:ext cx="9144000" cy="5734373"/>
          </a:xfrm>
        </p:spPr>
      </p:pic>
    </p:spTree>
    <p:extLst>
      <p:ext uri="{BB962C8B-B14F-4D97-AF65-F5344CB8AC3E}">
        <p14:creationId xmlns:p14="http://schemas.microsoft.com/office/powerpoint/2010/main" val="384545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472" y="914400"/>
            <a:ext cx="9144000" cy="4969646"/>
          </a:xfrm>
        </p:spPr>
      </p:pic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6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2244"/>
            <a:ext cx="9144000" cy="581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2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0" y="152400"/>
            <a:ext cx="8763000" cy="765175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+mn-lt"/>
              </a:rPr>
              <a:t>FACIAL FEATURS OF ALGS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9144000" cy="463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32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8000" dirty="0">
                <a:latin typeface="+mn-lt"/>
              </a:rPr>
              <a:t>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ALGS can lead to complications that affect the liver and other organs of the body . It varies from person to person.</a:t>
            </a:r>
          </a:p>
          <a:p>
            <a:pPr marL="0" indent="0">
              <a:buNone/>
            </a:pPr>
            <a:r>
              <a:rPr lang="en-US" sz="2800" dirty="0"/>
              <a:t>Liver complications:</a:t>
            </a:r>
          </a:p>
          <a:p>
            <a:pPr marL="0" indent="0">
              <a:buNone/>
            </a:pPr>
            <a:r>
              <a:rPr lang="en-US" sz="2800" dirty="0"/>
              <a:t>1.Hepatomegaly</a:t>
            </a:r>
          </a:p>
          <a:p>
            <a:pPr marL="0" indent="0">
              <a:buNone/>
            </a:pPr>
            <a:r>
              <a:rPr lang="en-US" sz="2800" dirty="0"/>
              <a:t>2.Portal HTN(increased the pressure in </a:t>
            </a:r>
            <a:r>
              <a:rPr lang="en-US" sz="2800" dirty="0" err="1"/>
              <a:t>protal</a:t>
            </a:r>
            <a:r>
              <a:rPr lang="en-US" sz="2800" dirty="0"/>
              <a:t> vein)</a:t>
            </a:r>
          </a:p>
          <a:p>
            <a:pPr marL="0" indent="0">
              <a:buNone/>
            </a:pPr>
            <a:r>
              <a:rPr lang="en-US" sz="2800" dirty="0"/>
              <a:t>3.Liver failure: needs liver TX</a:t>
            </a:r>
          </a:p>
          <a:p>
            <a:pPr marL="0" indent="0">
              <a:buNone/>
            </a:pPr>
            <a:r>
              <a:rPr lang="en-US" sz="2800" dirty="0"/>
              <a:t>4.Liver cancer</a:t>
            </a:r>
          </a:p>
        </p:txBody>
      </p:sp>
    </p:spTree>
    <p:extLst>
      <p:ext uri="{BB962C8B-B14F-4D97-AF65-F5344CB8AC3E}">
        <p14:creationId xmlns:p14="http://schemas.microsoft.com/office/powerpoint/2010/main" val="34489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783080"/>
          </a:xfrm>
        </p:spPr>
        <p:txBody>
          <a:bodyPr>
            <a:noAutofit/>
          </a:bodyPr>
          <a:lstStyle/>
          <a:p>
            <a:pPr algn="ctr"/>
            <a:r>
              <a:rPr lang="en-US" sz="4400" dirty="0">
                <a:latin typeface="+mn-lt"/>
              </a:rPr>
              <a:t>OTHER COMPLICATIONS OF ALGS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382000" cy="4389120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serious heart defects</a:t>
            </a:r>
          </a:p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narrowing and weakness in the blood vessels and in the brain leads to bleeding and stroke</a:t>
            </a:r>
          </a:p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problems with growth, delayed puberty , failure to thrive , bone problems such   as  osteoporosis or frequent broken bones.</a:t>
            </a:r>
          </a:p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Kidney problems : some children have impaired kidney function such as kidney artery stenosis ,lipoid nephrosis</a:t>
            </a:r>
          </a:p>
          <a:p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Pancreatic insufficiency leads fat malabsorption</a:t>
            </a:r>
          </a:p>
          <a:p>
            <a:pPr marL="0" indent="0">
              <a:buNone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580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143000"/>
            <a:ext cx="8572500" cy="2738438"/>
          </a:xfrm>
        </p:spPr>
        <p:txBody>
          <a:bodyPr>
            <a:noAutofit/>
          </a:bodyPr>
          <a:lstStyle/>
          <a:p>
            <a:pPr algn="l"/>
            <a:r>
              <a:rPr lang="en-US" sz="2200" b="1" dirty="0">
                <a:latin typeface="Bodoni MT" panose="02070603080606020203" pitchFamily="18" charset="0"/>
              </a:rPr>
              <a:t>Most people with alegelle syndrome have a mutation in the JAG1 gene however some patient have a mutation in the NOTCH2 gene instead . These mutations are inherited autosomal dominant mannner,which means  only single copy of the mutated gene is nessessary cause the disorder.</a:t>
            </a:r>
          </a:p>
          <a:p>
            <a:pPr algn="l"/>
            <a:r>
              <a:rPr lang="en-US" sz="2200" b="1" dirty="0">
                <a:latin typeface="Bodoni MT" panose="02070603080606020203" pitchFamily="18" charset="0"/>
              </a:rPr>
              <a:t>If the parent carries the mutated gene there is 50%  chance they will pass the gene on to each of there offspiring.However half of  the  allegelle syndrome cases are caused by  a DE NOVO mutation meaning they  arise on their own and are not inherited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0" y="4285290"/>
            <a:ext cx="4918075" cy="2373672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990600" y="0"/>
            <a:ext cx="7315200" cy="1290879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Lucida Handwriting" panose="03010101010101010101" pitchFamily="66" charset="0"/>
              </a:rPr>
              <a:t>CAUSES of ALEGELLE SYNDROME</a:t>
            </a:r>
          </a:p>
        </p:txBody>
      </p:sp>
    </p:spTree>
    <p:extLst>
      <p:ext uri="{BB962C8B-B14F-4D97-AF65-F5344CB8AC3E}">
        <p14:creationId xmlns:p14="http://schemas.microsoft.com/office/powerpoint/2010/main" val="545361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"/>
            <a:ext cx="9176982" cy="6019800"/>
          </a:xfrm>
        </p:spPr>
      </p:pic>
    </p:spTree>
    <p:extLst>
      <p:ext uri="{BB962C8B-B14F-4D97-AF65-F5344CB8AC3E}">
        <p14:creationId xmlns:p14="http://schemas.microsoft.com/office/powerpoint/2010/main" val="241604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24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Lucida Handwriting" panose="03010101010101010101" pitchFamily="66" charset="0"/>
              </a:rPr>
              <a:t>Treatment</a:t>
            </a:r>
            <a:endParaRPr lang="en-US" sz="4800" dirty="0">
              <a:latin typeface="Lucida Handwriting" panose="03010101010101010101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1371600"/>
            <a:ext cx="8991600" cy="5334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Bodoni MT" panose="02070603080606020203" pitchFamily="18" charset="0"/>
              </a:rPr>
              <a:t>Depends on a specific symptoms:</a:t>
            </a:r>
          </a:p>
          <a:p>
            <a:pPr marL="0" indent="0">
              <a:buNone/>
            </a:pPr>
            <a:r>
              <a:rPr lang="en-US" sz="2000" b="1" dirty="0">
                <a:latin typeface="Bodoni MT" panose="02070603080606020203" pitchFamily="18" charset="0"/>
              </a:rPr>
              <a:t>It often requires cordinated effort with in medical team</a:t>
            </a:r>
          </a:p>
          <a:p>
            <a:r>
              <a:rPr lang="en-US" sz="2100" b="1" dirty="0">
                <a:latin typeface="Bodoni MT" panose="02070603080606020203" pitchFamily="18" charset="0"/>
              </a:rPr>
              <a:t>Pediatrian ,Gastroenterologists ,cardiologist and others</a:t>
            </a:r>
          </a:p>
          <a:p>
            <a:pPr marL="0" indent="0">
              <a:buNone/>
            </a:pPr>
            <a:r>
              <a:rPr lang="en-US" sz="2400" b="1" dirty="0">
                <a:latin typeface="Bodoni MT" panose="02070603080606020203" pitchFamily="18" charset="0"/>
              </a:rPr>
              <a:t>1. Supplemental treatment:</a:t>
            </a:r>
          </a:p>
          <a:p>
            <a:pPr marL="0" indent="0">
              <a:buNone/>
            </a:pPr>
            <a:r>
              <a:rPr lang="en-US" sz="2000" b="1" dirty="0">
                <a:latin typeface="Bodoni MT" panose="02070603080606020203" pitchFamily="18" charset="0"/>
              </a:rPr>
              <a:t>Vitalmins and nutrient to help with growth problems</a:t>
            </a:r>
          </a:p>
          <a:p>
            <a:pPr marL="0" indent="0">
              <a:buNone/>
            </a:pPr>
            <a:r>
              <a:rPr lang="en-US" sz="2400" b="1" dirty="0">
                <a:latin typeface="Bodoni MT" panose="02070603080606020203" pitchFamily="18" charset="0"/>
              </a:rPr>
              <a:t>2.Ursodeoxycholic acid(to improve bile flow)</a:t>
            </a:r>
          </a:p>
          <a:p>
            <a:pPr marL="0" indent="0">
              <a:buNone/>
            </a:pPr>
            <a:r>
              <a:rPr lang="en-US" sz="2400" b="1" dirty="0">
                <a:latin typeface="Bodoni MT" panose="02070603080606020203" pitchFamily="18" charset="0"/>
              </a:rPr>
              <a:t>3.Severe itching improved with proper hydration and antihistamines</a:t>
            </a:r>
          </a:p>
          <a:p>
            <a:pPr marL="0" indent="0">
              <a:buNone/>
            </a:pPr>
            <a:r>
              <a:rPr lang="en-US" sz="2400" b="1" dirty="0">
                <a:latin typeface="Bodoni MT" panose="02070603080606020203" pitchFamily="18" charset="0"/>
              </a:rPr>
              <a:t>If the infants and children who do not respond to treatment may require surgery ---partial biliary divertion to increase bile flow.</a:t>
            </a:r>
          </a:p>
          <a:p>
            <a:pPr marL="0" indent="0">
              <a:buNone/>
            </a:pPr>
            <a:r>
              <a:rPr lang="en-US" sz="2400" b="1" dirty="0">
                <a:latin typeface="Bodoni MT" panose="02070603080606020203" pitchFamily="18" charset="0"/>
              </a:rPr>
              <a:t>In case of progressive liver disease the  patient may requierd liver transplant.</a:t>
            </a:r>
          </a:p>
          <a:p>
            <a:pPr marL="0" indent="0">
              <a:buNone/>
            </a:pPr>
            <a:r>
              <a:rPr lang="en-US" sz="2400" b="1" dirty="0">
                <a:latin typeface="Bodoni MT" panose="02070603080606020203" pitchFamily="18" charset="0"/>
              </a:rPr>
              <a:t> Confirmed diagnosis need genetic councilling sugessested to evalluate and understand  the family risks.</a:t>
            </a:r>
          </a:p>
          <a:p>
            <a:pPr marL="0" indent="0">
              <a:buNone/>
            </a:pPr>
            <a:r>
              <a:rPr lang="en-US" sz="2000" b="1" dirty="0">
                <a:latin typeface="Bodoni MT" panose="02070603080606020203" pitchFamily="18" charset="0"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67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003" y="3810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+mn-lt"/>
              </a:rPr>
              <a:t>ALGS AND NUTRITION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The doctor  to refer the patient to the Dietician and Dietician will suggest the food that contains carbohydrate and fat , called medium chain tri glycerides (MCT),it will digest easily.</a:t>
            </a:r>
          </a:p>
          <a:p>
            <a:r>
              <a:rPr lang="en-US" sz="2800" dirty="0"/>
              <a:t>Special formula milk  with  MCT</a:t>
            </a:r>
          </a:p>
          <a:p>
            <a:r>
              <a:rPr lang="en-US" sz="2800" dirty="0"/>
              <a:t>Daily weight to be check.</a:t>
            </a:r>
          </a:p>
          <a:p>
            <a:r>
              <a:rPr lang="en-US" sz="2800" dirty="0"/>
              <a:t>If poor oral intake , can insert NGT and feed the patient</a:t>
            </a:r>
          </a:p>
        </p:txBody>
      </p:sp>
    </p:spTree>
    <p:extLst>
      <p:ext uri="{BB962C8B-B14F-4D97-AF65-F5344CB8AC3E}">
        <p14:creationId xmlns:p14="http://schemas.microsoft.com/office/powerpoint/2010/main" val="32563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2000"/>
            <a:ext cx="9143999" cy="5554663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100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7231"/>
            <a:ext cx="9144000" cy="54435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2057400"/>
            <a:ext cx="6858000" cy="3962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SHUKRAN</a:t>
            </a:r>
          </a:p>
        </p:txBody>
      </p:sp>
    </p:spTree>
    <p:extLst>
      <p:ext uri="{BB962C8B-B14F-4D97-AF65-F5344CB8AC3E}">
        <p14:creationId xmlns:p14="http://schemas.microsoft.com/office/powerpoint/2010/main" val="377959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9" y="-35258"/>
            <a:ext cx="9155935" cy="6893258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334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6424"/>
    </mc:Choice>
    <mc:Fallback xmlns="">
      <p:transition advTm="164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11.2|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41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96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