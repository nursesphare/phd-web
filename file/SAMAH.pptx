
<file path=[Content_Types].xml><?xml version="1.0" encoding="utf-8"?>
<Types xmlns="http://schemas.openxmlformats.org/package/2006/content-types">
  <Default ContentType="image/jpeg" Extension="jpg"/>
  <Default ContentType="application/xml" Extension="xml"/>
  <Default ContentType="image/jpeg" Extension="jpeg"/>
  <Default ContentType="application/vnd.openxmlformats-package.relationships+xml" Extension="rels"/>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image/unknown" PartName="/ppt/media/image11.JPG"/>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9144000"/>
  <p:notesSz cx="6858000" cy="9144000"/>
  <p:defaultTextStyle>
    <a:defPPr lvl="0">
      <a:defRPr lang="ar-OM"/>
    </a:defPPr>
    <a:lvl1pPr defTabSz="914400" eaLnBrk="1" hangingPunct="1" latinLnBrk="0" lvl="0" marL="0" rtl="1" algn="r">
      <a:defRPr kern="1200" sz="1800">
        <a:solidFill>
          <a:schemeClr val="tx1"/>
        </a:solidFill>
        <a:latin typeface="+mn-lt"/>
        <a:ea typeface="+mn-ea"/>
        <a:cs typeface="+mn-cs"/>
      </a:defRPr>
    </a:lvl1pPr>
    <a:lvl2pPr defTabSz="914400" eaLnBrk="1" hangingPunct="1" latinLnBrk="0" lvl="1" marL="457200" rtl="1" algn="r">
      <a:defRPr kern="1200" sz="1800">
        <a:solidFill>
          <a:schemeClr val="tx1"/>
        </a:solidFill>
        <a:latin typeface="+mn-lt"/>
        <a:ea typeface="+mn-ea"/>
        <a:cs typeface="+mn-cs"/>
      </a:defRPr>
    </a:lvl2pPr>
    <a:lvl3pPr defTabSz="914400" eaLnBrk="1" hangingPunct="1" latinLnBrk="0" lvl="2" marL="914400" rtl="1" algn="r">
      <a:defRPr kern="1200" sz="1800">
        <a:solidFill>
          <a:schemeClr val="tx1"/>
        </a:solidFill>
        <a:latin typeface="+mn-lt"/>
        <a:ea typeface="+mn-ea"/>
        <a:cs typeface="+mn-cs"/>
      </a:defRPr>
    </a:lvl3pPr>
    <a:lvl4pPr defTabSz="914400" eaLnBrk="1" hangingPunct="1" latinLnBrk="0" lvl="3" marL="1371600" rtl="1" algn="r">
      <a:defRPr kern="1200" sz="1800">
        <a:solidFill>
          <a:schemeClr val="tx1"/>
        </a:solidFill>
        <a:latin typeface="+mn-lt"/>
        <a:ea typeface="+mn-ea"/>
        <a:cs typeface="+mn-cs"/>
      </a:defRPr>
    </a:lvl4pPr>
    <a:lvl5pPr defTabSz="914400" eaLnBrk="1" hangingPunct="1" latinLnBrk="0" lvl="4" marL="1828800" rtl="1" algn="r">
      <a:defRPr kern="1200" sz="1800">
        <a:solidFill>
          <a:schemeClr val="tx1"/>
        </a:solidFill>
        <a:latin typeface="+mn-lt"/>
        <a:ea typeface="+mn-ea"/>
        <a:cs typeface="+mn-cs"/>
      </a:defRPr>
    </a:lvl5pPr>
    <a:lvl6pPr defTabSz="914400" eaLnBrk="1" hangingPunct="1" latinLnBrk="0" lvl="5" marL="2286000" rtl="1" algn="r">
      <a:defRPr kern="1200" sz="1800">
        <a:solidFill>
          <a:schemeClr val="tx1"/>
        </a:solidFill>
        <a:latin typeface="+mn-lt"/>
        <a:ea typeface="+mn-ea"/>
        <a:cs typeface="+mn-cs"/>
      </a:defRPr>
    </a:lvl6pPr>
    <a:lvl7pPr defTabSz="914400" eaLnBrk="1" hangingPunct="1" latinLnBrk="0" lvl="6" marL="2743200" rtl="1" algn="r">
      <a:defRPr kern="1200" sz="1800">
        <a:solidFill>
          <a:schemeClr val="tx1"/>
        </a:solidFill>
        <a:latin typeface="+mn-lt"/>
        <a:ea typeface="+mn-ea"/>
        <a:cs typeface="+mn-cs"/>
      </a:defRPr>
    </a:lvl7pPr>
    <a:lvl8pPr defTabSz="914400" eaLnBrk="1" hangingPunct="1" latinLnBrk="0" lvl="7" marL="3200400" rtl="1" algn="r">
      <a:defRPr kern="1200" sz="1800">
        <a:solidFill>
          <a:schemeClr val="tx1"/>
        </a:solidFill>
        <a:latin typeface="+mn-lt"/>
        <a:ea typeface="+mn-ea"/>
        <a:cs typeface="+mn-cs"/>
      </a:defRPr>
    </a:lvl8pPr>
    <a:lvl9pPr defTabSz="914400" eaLnBrk="1" hangingPunct="1" latinLnBrk="0" lvl="8" marL="3657600" rtl="1" algn="r">
      <a:defRPr kern="1200" sz="1800">
        <a:solidFill>
          <a:schemeClr val="tx1"/>
        </a:solidFill>
        <a:latin typeface="+mn-lt"/>
        <a:ea typeface="+mn-ea"/>
        <a:cs typeface="+mn-cs"/>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slideMaster" Target="slideMasters/slide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p:cNvSpPr>
            <a:spLocks noGrp="1"/>
          </p:cNvSpPr>
          <p:nvPr>
            <p:ph type="ctrTitle"/>
          </p:nvPr>
        </p:nvSpPr>
        <p:spPr>
          <a:xfrm>
            <a:off x="685800" y="2130425"/>
            <a:ext cx="7772400" cy="1470025"/>
          </a:xfrm>
        </p:spPr>
        <p:txBody>
          <a:bodyPr/>
          <a:lstStyle/>
          <a:p>
            <a:r>
              <a:rPr lang="ar-SA"/>
              <a:t>انقر لتحرير نمط العنوان الرئيسي</a:t>
            </a:r>
            <a:endParaRPr lang="ar-OM"/>
          </a:p>
        </p:txBody>
      </p:sp>
      <p:sp>
        <p:nvSpPr>
          <p:cNvPr id="3" name="عنوان فرعي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ar-SA"/>
              <a:t>انقر لتحرير نمط العنوان الثانوي الرئيسي</a:t>
            </a:r>
            <a:endParaRPr lang="ar-OM"/>
          </a:p>
        </p:txBody>
      </p:sp>
      <p:sp>
        <p:nvSpPr>
          <p:cNvPr id="4" name="عنصر نائب للتاريخ 3"/>
          <p:cNvSpPr>
            <a:spLocks noGrp="1"/>
          </p:cNvSpPr>
          <p:nvPr>
            <p:ph type="dt" sz="half" idx="10"/>
          </p:nvPr>
        </p:nvSpPr>
        <p:spPr/>
        <p:txBody>
          <a:bodyPr/>
          <a:lstStyle/>
          <a:p>
            <a:fld id="{1CE5CD22-22B6-4CCA-9208-AD57A289F950}" type="datetimeFigureOut">
              <a:rPr lang="ar-OM" smtClean="0"/>
              <a:t>22‏/6‏/1443</a:t>
            </a:fld>
            <a:endParaRPr lang="ar-OM"/>
          </a:p>
        </p:txBody>
      </p:sp>
      <p:sp>
        <p:nvSpPr>
          <p:cNvPr id="5" name="عنصر نائب للتذييل 4"/>
          <p:cNvSpPr>
            <a:spLocks noGrp="1"/>
          </p:cNvSpPr>
          <p:nvPr>
            <p:ph type="ftr" sz="quarter" idx="11"/>
          </p:nvPr>
        </p:nvSpPr>
        <p:spPr/>
        <p:txBody>
          <a:bodyPr/>
          <a:lstStyle/>
          <a:p>
            <a:endParaRPr lang="ar-OM"/>
          </a:p>
        </p:txBody>
      </p:sp>
      <p:sp>
        <p:nvSpPr>
          <p:cNvPr id="6" name="عنصر نائب لرقم الشريحة 5"/>
          <p:cNvSpPr>
            <a:spLocks noGrp="1"/>
          </p:cNvSpPr>
          <p:nvPr>
            <p:ph type="sldNum" sz="quarter" idx="12"/>
          </p:nvPr>
        </p:nvSpPr>
        <p:spPr/>
        <p:txBody>
          <a:bodyPr/>
          <a:lstStyle/>
          <a:p>
            <a:fld id="{E8399D96-E21A-492E-82C1-E8211DEC4A21}" type="slidenum">
              <a:rPr lang="ar-OM" smtClean="0"/>
              <a:t>‹#›</a:t>
            </a:fld>
            <a:endParaRPr lang="ar-OM"/>
          </a:p>
        </p:txBody>
      </p:sp>
    </p:spTree>
    <p:extLst>
      <p:ext uri="{BB962C8B-B14F-4D97-AF65-F5344CB8AC3E}">
        <p14:creationId xmlns:p14="http://schemas.microsoft.com/office/powerpoint/2010/main" val="2129933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endParaRPr lang="ar-OM"/>
          </a:p>
        </p:txBody>
      </p:sp>
      <p:sp>
        <p:nvSpPr>
          <p:cNvPr id="3" name="عنصر نائب للمحتوى 2"/>
          <p:cNvSpPr>
            <a:spLocks noGrp="1"/>
          </p:cNvSpPr>
          <p:nvPr>
            <p:ph idx="1"/>
          </p:nvPr>
        </p:nvSpPr>
        <p:spPr/>
        <p:txBody>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OM"/>
          </a:p>
        </p:txBody>
      </p:sp>
      <p:sp>
        <p:nvSpPr>
          <p:cNvPr id="4" name="عنصر نائب للتاريخ 3"/>
          <p:cNvSpPr>
            <a:spLocks noGrp="1"/>
          </p:cNvSpPr>
          <p:nvPr>
            <p:ph type="dt" sz="half" idx="10"/>
          </p:nvPr>
        </p:nvSpPr>
        <p:spPr/>
        <p:txBody>
          <a:bodyPr/>
          <a:lstStyle/>
          <a:p>
            <a:fld id="{1CE5CD22-22B6-4CCA-9208-AD57A289F950}" type="datetimeFigureOut">
              <a:rPr lang="ar-OM" smtClean="0"/>
              <a:t>22‏/6‏/1443</a:t>
            </a:fld>
            <a:endParaRPr lang="ar-OM"/>
          </a:p>
        </p:txBody>
      </p:sp>
      <p:sp>
        <p:nvSpPr>
          <p:cNvPr id="5" name="عنصر نائب للتذييل 4"/>
          <p:cNvSpPr>
            <a:spLocks noGrp="1"/>
          </p:cNvSpPr>
          <p:nvPr>
            <p:ph type="ftr" sz="quarter" idx="11"/>
          </p:nvPr>
        </p:nvSpPr>
        <p:spPr/>
        <p:txBody>
          <a:bodyPr/>
          <a:lstStyle/>
          <a:p>
            <a:endParaRPr lang="ar-OM"/>
          </a:p>
        </p:txBody>
      </p:sp>
      <p:sp>
        <p:nvSpPr>
          <p:cNvPr id="6" name="عنصر نائب لرقم الشريحة 5"/>
          <p:cNvSpPr>
            <a:spLocks noGrp="1"/>
          </p:cNvSpPr>
          <p:nvPr>
            <p:ph type="sldNum" sz="quarter" idx="12"/>
          </p:nvPr>
        </p:nvSpPr>
        <p:spPr/>
        <p:txBody>
          <a:bodyPr/>
          <a:lstStyle/>
          <a:p>
            <a:fld id="{E8399D96-E21A-492E-82C1-E8211DEC4A21}" type="slidenum">
              <a:rPr lang="ar-OM" smtClean="0"/>
              <a:t>‹#›</a:t>
            </a:fld>
            <a:endParaRPr lang="ar-OM"/>
          </a:p>
        </p:txBody>
      </p:sp>
    </p:spTree>
    <p:extLst>
      <p:ext uri="{BB962C8B-B14F-4D97-AF65-F5344CB8AC3E}">
        <p14:creationId xmlns:p14="http://schemas.microsoft.com/office/powerpoint/2010/main" val="235084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p:cNvSpPr>
            <a:spLocks noGrp="1"/>
          </p:cNvSpPr>
          <p:nvPr>
            <p:ph type="title"/>
          </p:nvPr>
        </p:nvSpPr>
        <p:spPr>
          <a:xfrm>
            <a:off x="722313" y="4406900"/>
            <a:ext cx="7772400" cy="1362075"/>
          </a:xfrm>
        </p:spPr>
        <p:txBody>
          <a:bodyPr anchor="t"/>
          <a:lstStyle>
            <a:lvl1pPr algn="r">
              <a:defRPr sz="4000" b="1" cap="all"/>
            </a:lvl1pPr>
          </a:lstStyle>
          <a:p>
            <a:r>
              <a:rPr lang="ar-SA"/>
              <a:t>انقر لتحرير نمط العنوان الرئيسي</a:t>
            </a:r>
            <a:endParaRPr lang="ar-OM"/>
          </a:p>
        </p:txBody>
      </p:sp>
      <p:sp>
        <p:nvSpPr>
          <p:cNvPr id="3" name="عنصر نائب للنص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a:t>انقر لتحرير أنماط النص الرئيسي</a:t>
            </a:r>
          </a:p>
        </p:txBody>
      </p:sp>
      <p:sp>
        <p:nvSpPr>
          <p:cNvPr id="4" name="عنصر نائب للتاريخ 3"/>
          <p:cNvSpPr>
            <a:spLocks noGrp="1"/>
          </p:cNvSpPr>
          <p:nvPr>
            <p:ph type="dt" sz="half" idx="10"/>
          </p:nvPr>
        </p:nvSpPr>
        <p:spPr/>
        <p:txBody>
          <a:bodyPr/>
          <a:lstStyle/>
          <a:p>
            <a:fld id="{1CE5CD22-22B6-4CCA-9208-AD57A289F950}" type="datetimeFigureOut">
              <a:rPr lang="ar-OM" smtClean="0"/>
              <a:t>22‏/6‏/1443</a:t>
            </a:fld>
            <a:endParaRPr lang="ar-OM"/>
          </a:p>
        </p:txBody>
      </p:sp>
      <p:sp>
        <p:nvSpPr>
          <p:cNvPr id="5" name="عنصر نائب للتذييل 4"/>
          <p:cNvSpPr>
            <a:spLocks noGrp="1"/>
          </p:cNvSpPr>
          <p:nvPr>
            <p:ph type="ftr" sz="quarter" idx="11"/>
          </p:nvPr>
        </p:nvSpPr>
        <p:spPr/>
        <p:txBody>
          <a:bodyPr/>
          <a:lstStyle/>
          <a:p>
            <a:endParaRPr lang="ar-OM"/>
          </a:p>
        </p:txBody>
      </p:sp>
      <p:sp>
        <p:nvSpPr>
          <p:cNvPr id="6" name="عنصر نائب لرقم الشريحة 5"/>
          <p:cNvSpPr>
            <a:spLocks noGrp="1"/>
          </p:cNvSpPr>
          <p:nvPr>
            <p:ph type="sldNum" sz="quarter" idx="12"/>
          </p:nvPr>
        </p:nvSpPr>
        <p:spPr/>
        <p:txBody>
          <a:bodyPr/>
          <a:lstStyle/>
          <a:p>
            <a:fld id="{E8399D96-E21A-492E-82C1-E8211DEC4A21}" type="slidenum">
              <a:rPr lang="ar-OM" smtClean="0"/>
              <a:t>‹#›</a:t>
            </a:fld>
            <a:endParaRPr lang="ar-OM"/>
          </a:p>
        </p:txBody>
      </p:sp>
    </p:spTree>
    <p:extLst>
      <p:ext uri="{BB962C8B-B14F-4D97-AF65-F5344CB8AC3E}">
        <p14:creationId xmlns:p14="http://schemas.microsoft.com/office/powerpoint/2010/main" val="2850599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ين">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endParaRPr lang="ar-OM"/>
          </a:p>
        </p:txBody>
      </p:sp>
      <p:sp>
        <p:nvSpPr>
          <p:cNvPr id="3" name="عنصر نائب للمحتوى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OM"/>
          </a:p>
        </p:txBody>
      </p:sp>
      <p:sp>
        <p:nvSpPr>
          <p:cNvPr id="4" name="عنصر نائب للمحتوى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OM"/>
          </a:p>
        </p:txBody>
      </p:sp>
      <p:sp>
        <p:nvSpPr>
          <p:cNvPr id="5" name="عنصر نائب للتاريخ 4"/>
          <p:cNvSpPr>
            <a:spLocks noGrp="1"/>
          </p:cNvSpPr>
          <p:nvPr>
            <p:ph type="dt" sz="half" idx="10"/>
          </p:nvPr>
        </p:nvSpPr>
        <p:spPr/>
        <p:txBody>
          <a:bodyPr/>
          <a:lstStyle/>
          <a:p>
            <a:fld id="{1CE5CD22-22B6-4CCA-9208-AD57A289F950}" type="datetimeFigureOut">
              <a:rPr lang="ar-OM" smtClean="0"/>
              <a:t>22‏/6‏/1443</a:t>
            </a:fld>
            <a:endParaRPr lang="ar-OM"/>
          </a:p>
        </p:txBody>
      </p:sp>
      <p:sp>
        <p:nvSpPr>
          <p:cNvPr id="6" name="عنصر نائب للتذييل 5"/>
          <p:cNvSpPr>
            <a:spLocks noGrp="1"/>
          </p:cNvSpPr>
          <p:nvPr>
            <p:ph type="ftr" sz="quarter" idx="11"/>
          </p:nvPr>
        </p:nvSpPr>
        <p:spPr/>
        <p:txBody>
          <a:bodyPr/>
          <a:lstStyle/>
          <a:p>
            <a:endParaRPr lang="ar-OM"/>
          </a:p>
        </p:txBody>
      </p:sp>
      <p:sp>
        <p:nvSpPr>
          <p:cNvPr id="7" name="عنصر نائب لرقم الشريحة 6"/>
          <p:cNvSpPr>
            <a:spLocks noGrp="1"/>
          </p:cNvSpPr>
          <p:nvPr>
            <p:ph type="sldNum" sz="quarter" idx="12"/>
          </p:nvPr>
        </p:nvSpPr>
        <p:spPr/>
        <p:txBody>
          <a:bodyPr/>
          <a:lstStyle/>
          <a:p>
            <a:fld id="{E8399D96-E21A-492E-82C1-E8211DEC4A21}" type="slidenum">
              <a:rPr lang="ar-OM" smtClean="0"/>
              <a:t>‹#›</a:t>
            </a:fld>
            <a:endParaRPr lang="ar-OM"/>
          </a:p>
        </p:txBody>
      </p:sp>
    </p:spTree>
    <p:extLst>
      <p:ext uri="{BB962C8B-B14F-4D97-AF65-F5344CB8AC3E}">
        <p14:creationId xmlns:p14="http://schemas.microsoft.com/office/powerpoint/2010/main" val="1905419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lvl1pPr>
              <a:defRPr/>
            </a:lvl1pPr>
          </a:lstStyle>
          <a:p>
            <a:r>
              <a:rPr lang="ar-SA"/>
              <a:t>انقر لتحرير نمط العنوان الرئيسي</a:t>
            </a:r>
            <a:endParaRPr lang="ar-OM"/>
          </a:p>
        </p:txBody>
      </p:sp>
      <p:sp>
        <p:nvSpPr>
          <p:cNvPr id="3" name="عنصر نائب للنص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النص الرئيسي</a:t>
            </a:r>
          </a:p>
        </p:txBody>
      </p:sp>
      <p:sp>
        <p:nvSpPr>
          <p:cNvPr id="4" name="عنصر نائب للمحتوى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OM"/>
          </a:p>
        </p:txBody>
      </p:sp>
      <p:sp>
        <p:nvSpPr>
          <p:cNvPr id="5" name="عنصر نائب للنص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النص الرئيسي</a:t>
            </a:r>
          </a:p>
        </p:txBody>
      </p:sp>
      <p:sp>
        <p:nvSpPr>
          <p:cNvPr id="6" name="عنصر نائب للمحتوى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OM"/>
          </a:p>
        </p:txBody>
      </p:sp>
      <p:sp>
        <p:nvSpPr>
          <p:cNvPr id="7" name="عنصر نائب للتاريخ 6"/>
          <p:cNvSpPr>
            <a:spLocks noGrp="1"/>
          </p:cNvSpPr>
          <p:nvPr>
            <p:ph type="dt" sz="half" idx="10"/>
          </p:nvPr>
        </p:nvSpPr>
        <p:spPr/>
        <p:txBody>
          <a:bodyPr/>
          <a:lstStyle/>
          <a:p>
            <a:fld id="{1CE5CD22-22B6-4CCA-9208-AD57A289F950}" type="datetimeFigureOut">
              <a:rPr lang="ar-OM" smtClean="0"/>
              <a:t>22‏/6‏/1443</a:t>
            </a:fld>
            <a:endParaRPr lang="ar-OM"/>
          </a:p>
        </p:txBody>
      </p:sp>
      <p:sp>
        <p:nvSpPr>
          <p:cNvPr id="8" name="عنصر نائب للتذييل 7"/>
          <p:cNvSpPr>
            <a:spLocks noGrp="1"/>
          </p:cNvSpPr>
          <p:nvPr>
            <p:ph type="ftr" sz="quarter" idx="11"/>
          </p:nvPr>
        </p:nvSpPr>
        <p:spPr/>
        <p:txBody>
          <a:bodyPr/>
          <a:lstStyle/>
          <a:p>
            <a:endParaRPr lang="ar-OM"/>
          </a:p>
        </p:txBody>
      </p:sp>
      <p:sp>
        <p:nvSpPr>
          <p:cNvPr id="9" name="عنصر نائب لرقم الشريحة 8"/>
          <p:cNvSpPr>
            <a:spLocks noGrp="1"/>
          </p:cNvSpPr>
          <p:nvPr>
            <p:ph type="sldNum" sz="quarter" idx="12"/>
          </p:nvPr>
        </p:nvSpPr>
        <p:spPr/>
        <p:txBody>
          <a:bodyPr/>
          <a:lstStyle/>
          <a:p>
            <a:fld id="{E8399D96-E21A-492E-82C1-E8211DEC4A21}" type="slidenum">
              <a:rPr lang="ar-OM" smtClean="0"/>
              <a:t>‹#›</a:t>
            </a:fld>
            <a:endParaRPr lang="ar-OM"/>
          </a:p>
        </p:txBody>
      </p:sp>
    </p:spTree>
    <p:extLst>
      <p:ext uri="{BB962C8B-B14F-4D97-AF65-F5344CB8AC3E}">
        <p14:creationId xmlns:p14="http://schemas.microsoft.com/office/powerpoint/2010/main" val="621748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endParaRPr lang="ar-OM"/>
          </a:p>
        </p:txBody>
      </p:sp>
      <p:sp>
        <p:nvSpPr>
          <p:cNvPr id="3" name="عنصر نائب للتاريخ 2"/>
          <p:cNvSpPr>
            <a:spLocks noGrp="1"/>
          </p:cNvSpPr>
          <p:nvPr>
            <p:ph type="dt" sz="half" idx="10"/>
          </p:nvPr>
        </p:nvSpPr>
        <p:spPr/>
        <p:txBody>
          <a:bodyPr/>
          <a:lstStyle/>
          <a:p>
            <a:fld id="{1CE5CD22-22B6-4CCA-9208-AD57A289F950}" type="datetimeFigureOut">
              <a:rPr lang="ar-OM" smtClean="0"/>
              <a:t>22‏/6‏/1443</a:t>
            </a:fld>
            <a:endParaRPr lang="ar-OM"/>
          </a:p>
        </p:txBody>
      </p:sp>
      <p:sp>
        <p:nvSpPr>
          <p:cNvPr id="4" name="عنصر نائب للتذييل 3"/>
          <p:cNvSpPr>
            <a:spLocks noGrp="1"/>
          </p:cNvSpPr>
          <p:nvPr>
            <p:ph type="ftr" sz="quarter" idx="11"/>
          </p:nvPr>
        </p:nvSpPr>
        <p:spPr/>
        <p:txBody>
          <a:bodyPr/>
          <a:lstStyle/>
          <a:p>
            <a:endParaRPr lang="ar-OM"/>
          </a:p>
        </p:txBody>
      </p:sp>
      <p:sp>
        <p:nvSpPr>
          <p:cNvPr id="5" name="عنصر نائب لرقم الشريحة 4"/>
          <p:cNvSpPr>
            <a:spLocks noGrp="1"/>
          </p:cNvSpPr>
          <p:nvPr>
            <p:ph type="sldNum" sz="quarter" idx="12"/>
          </p:nvPr>
        </p:nvSpPr>
        <p:spPr/>
        <p:txBody>
          <a:bodyPr/>
          <a:lstStyle/>
          <a:p>
            <a:fld id="{E8399D96-E21A-492E-82C1-E8211DEC4A21}" type="slidenum">
              <a:rPr lang="ar-OM" smtClean="0"/>
              <a:t>‹#›</a:t>
            </a:fld>
            <a:endParaRPr lang="ar-OM"/>
          </a:p>
        </p:txBody>
      </p:sp>
    </p:spTree>
    <p:extLst>
      <p:ext uri="{BB962C8B-B14F-4D97-AF65-F5344CB8AC3E}">
        <p14:creationId xmlns:p14="http://schemas.microsoft.com/office/powerpoint/2010/main" val="1343956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p:cNvSpPr>
            <a:spLocks noGrp="1"/>
          </p:cNvSpPr>
          <p:nvPr>
            <p:ph type="dt" sz="half" idx="10"/>
          </p:nvPr>
        </p:nvSpPr>
        <p:spPr/>
        <p:txBody>
          <a:bodyPr/>
          <a:lstStyle/>
          <a:p>
            <a:fld id="{1CE5CD22-22B6-4CCA-9208-AD57A289F950}" type="datetimeFigureOut">
              <a:rPr lang="ar-OM" smtClean="0"/>
              <a:t>22‏/6‏/1443</a:t>
            </a:fld>
            <a:endParaRPr lang="ar-OM"/>
          </a:p>
        </p:txBody>
      </p:sp>
      <p:sp>
        <p:nvSpPr>
          <p:cNvPr id="3" name="عنصر نائب للتذييل 2"/>
          <p:cNvSpPr>
            <a:spLocks noGrp="1"/>
          </p:cNvSpPr>
          <p:nvPr>
            <p:ph type="ftr" sz="quarter" idx="11"/>
          </p:nvPr>
        </p:nvSpPr>
        <p:spPr/>
        <p:txBody>
          <a:bodyPr/>
          <a:lstStyle/>
          <a:p>
            <a:endParaRPr lang="ar-OM"/>
          </a:p>
        </p:txBody>
      </p:sp>
      <p:sp>
        <p:nvSpPr>
          <p:cNvPr id="4" name="عنصر نائب لرقم الشريحة 3"/>
          <p:cNvSpPr>
            <a:spLocks noGrp="1"/>
          </p:cNvSpPr>
          <p:nvPr>
            <p:ph type="sldNum" sz="quarter" idx="12"/>
          </p:nvPr>
        </p:nvSpPr>
        <p:spPr/>
        <p:txBody>
          <a:bodyPr/>
          <a:lstStyle/>
          <a:p>
            <a:fld id="{E8399D96-E21A-492E-82C1-E8211DEC4A21}" type="slidenum">
              <a:rPr lang="ar-OM" smtClean="0"/>
              <a:t>‹#›</a:t>
            </a:fld>
            <a:endParaRPr lang="ar-OM"/>
          </a:p>
        </p:txBody>
      </p:sp>
    </p:spTree>
    <p:extLst>
      <p:ext uri="{BB962C8B-B14F-4D97-AF65-F5344CB8AC3E}">
        <p14:creationId xmlns:p14="http://schemas.microsoft.com/office/powerpoint/2010/main" val="867076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457200" y="273050"/>
            <a:ext cx="3008313" cy="1162050"/>
          </a:xfrm>
        </p:spPr>
        <p:txBody>
          <a:bodyPr anchor="b"/>
          <a:lstStyle>
            <a:lvl1pPr algn="r">
              <a:defRPr sz="2000" b="1"/>
            </a:lvl1pPr>
          </a:lstStyle>
          <a:p>
            <a:r>
              <a:rPr lang="ar-SA"/>
              <a:t>انقر لتحرير نمط العنوان الرئيسي</a:t>
            </a:r>
            <a:endParaRPr lang="ar-OM"/>
          </a:p>
        </p:txBody>
      </p:sp>
      <p:sp>
        <p:nvSpPr>
          <p:cNvPr id="3" name="عنصر نائب للمحتوى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OM"/>
          </a:p>
        </p:txBody>
      </p:sp>
      <p:sp>
        <p:nvSpPr>
          <p:cNvPr id="4" name="عنصر نائب للنص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النص الرئيسي</a:t>
            </a:r>
          </a:p>
        </p:txBody>
      </p:sp>
      <p:sp>
        <p:nvSpPr>
          <p:cNvPr id="5" name="عنصر نائب للتاريخ 4"/>
          <p:cNvSpPr>
            <a:spLocks noGrp="1"/>
          </p:cNvSpPr>
          <p:nvPr>
            <p:ph type="dt" sz="half" idx="10"/>
          </p:nvPr>
        </p:nvSpPr>
        <p:spPr/>
        <p:txBody>
          <a:bodyPr/>
          <a:lstStyle/>
          <a:p>
            <a:fld id="{1CE5CD22-22B6-4CCA-9208-AD57A289F950}" type="datetimeFigureOut">
              <a:rPr lang="ar-OM" smtClean="0"/>
              <a:t>22‏/6‏/1443</a:t>
            </a:fld>
            <a:endParaRPr lang="ar-OM"/>
          </a:p>
        </p:txBody>
      </p:sp>
      <p:sp>
        <p:nvSpPr>
          <p:cNvPr id="6" name="عنصر نائب للتذييل 5"/>
          <p:cNvSpPr>
            <a:spLocks noGrp="1"/>
          </p:cNvSpPr>
          <p:nvPr>
            <p:ph type="ftr" sz="quarter" idx="11"/>
          </p:nvPr>
        </p:nvSpPr>
        <p:spPr/>
        <p:txBody>
          <a:bodyPr/>
          <a:lstStyle/>
          <a:p>
            <a:endParaRPr lang="ar-OM"/>
          </a:p>
        </p:txBody>
      </p:sp>
      <p:sp>
        <p:nvSpPr>
          <p:cNvPr id="7" name="عنصر نائب لرقم الشريحة 6"/>
          <p:cNvSpPr>
            <a:spLocks noGrp="1"/>
          </p:cNvSpPr>
          <p:nvPr>
            <p:ph type="sldNum" sz="quarter" idx="12"/>
          </p:nvPr>
        </p:nvSpPr>
        <p:spPr/>
        <p:txBody>
          <a:bodyPr/>
          <a:lstStyle/>
          <a:p>
            <a:fld id="{E8399D96-E21A-492E-82C1-E8211DEC4A21}" type="slidenum">
              <a:rPr lang="ar-OM" smtClean="0"/>
              <a:t>‹#›</a:t>
            </a:fld>
            <a:endParaRPr lang="ar-OM"/>
          </a:p>
        </p:txBody>
      </p:sp>
    </p:spTree>
    <p:extLst>
      <p:ext uri="{BB962C8B-B14F-4D97-AF65-F5344CB8AC3E}">
        <p14:creationId xmlns:p14="http://schemas.microsoft.com/office/powerpoint/2010/main" val="3250201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1792288" y="4800600"/>
            <a:ext cx="5486400" cy="566738"/>
          </a:xfrm>
        </p:spPr>
        <p:txBody>
          <a:bodyPr anchor="b"/>
          <a:lstStyle>
            <a:lvl1pPr algn="r">
              <a:defRPr sz="2000" b="1"/>
            </a:lvl1pPr>
          </a:lstStyle>
          <a:p>
            <a:r>
              <a:rPr lang="ar-SA"/>
              <a:t>انقر لتحرير نمط العنوان الرئيسي</a:t>
            </a:r>
            <a:endParaRPr lang="ar-OM"/>
          </a:p>
        </p:txBody>
      </p:sp>
      <p:sp>
        <p:nvSpPr>
          <p:cNvPr id="3" name="عنصر نائب للصورة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OM"/>
          </a:p>
        </p:txBody>
      </p:sp>
      <p:sp>
        <p:nvSpPr>
          <p:cNvPr id="4" name="عنصر نائب للنص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النص الرئيسي</a:t>
            </a:r>
          </a:p>
        </p:txBody>
      </p:sp>
      <p:sp>
        <p:nvSpPr>
          <p:cNvPr id="5" name="عنصر نائب للتاريخ 4"/>
          <p:cNvSpPr>
            <a:spLocks noGrp="1"/>
          </p:cNvSpPr>
          <p:nvPr>
            <p:ph type="dt" sz="half" idx="10"/>
          </p:nvPr>
        </p:nvSpPr>
        <p:spPr/>
        <p:txBody>
          <a:bodyPr/>
          <a:lstStyle/>
          <a:p>
            <a:fld id="{1CE5CD22-22B6-4CCA-9208-AD57A289F950}" type="datetimeFigureOut">
              <a:rPr lang="ar-OM" smtClean="0"/>
              <a:t>22‏/6‏/1443</a:t>
            </a:fld>
            <a:endParaRPr lang="ar-OM"/>
          </a:p>
        </p:txBody>
      </p:sp>
      <p:sp>
        <p:nvSpPr>
          <p:cNvPr id="6" name="عنصر نائب للتذييل 5"/>
          <p:cNvSpPr>
            <a:spLocks noGrp="1"/>
          </p:cNvSpPr>
          <p:nvPr>
            <p:ph type="ftr" sz="quarter" idx="11"/>
          </p:nvPr>
        </p:nvSpPr>
        <p:spPr/>
        <p:txBody>
          <a:bodyPr/>
          <a:lstStyle/>
          <a:p>
            <a:endParaRPr lang="ar-OM"/>
          </a:p>
        </p:txBody>
      </p:sp>
      <p:sp>
        <p:nvSpPr>
          <p:cNvPr id="7" name="عنصر نائب لرقم الشريحة 6"/>
          <p:cNvSpPr>
            <a:spLocks noGrp="1"/>
          </p:cNvSpPr>
          <p:nvPr>
            <p:ph type="sldNum" sz="quarter" idx="12"/>
          </p:nvPr>
        </p:nvSpPr>
        <p:spPr/>
        <p:txBody>
          <a:bodyPr/>
          <a:lstStyle/>
          <a:p>
            <a:fld id="{E8399D96-E21A-492E-82C1-E8211DEC4A21}" type="slidenum">
              <a:rPr lang="ar-OM" smtClean="0"/>
              <a:t>‹#›</a:t>
            </a:fld>
            <a:endParaRPr lang="ar-OM"/>
          </a:p>
        </p:txBody>
      </p:sp>
    </p:spTree>
    <p:extLst>
      <p:ext uri="{BB962C8B-B14F-4D97-AF65-F5344CB8AC3E}">
        <p14:creationId xmlns:p14="http://schemas.microsoft.com/office/powerpoint/2010/main" val="1532507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endParaRPr lang="ar-OM"/>
          </a:p>
        </p:txBody>
      </p:sp>
      <p:sp>
        <p:nvSpPr>
          <p:cNvPr id="3" name="عنصر نائب للعنوان العمودي 2"/>
          <p:cNvSpPr>
            <a:spLocks noGrp="1"/>
          </p:cNvSpPr>
          <p:nvPr>
            <p:ph type="body" orient="vert" idx="1"/>
          </p:nvPr>
        </p:nvSpPr>
        <p:spPr/>
        <p:txBody>
          <a:bodyPr vert="eaVert"/>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OM"/>
          </a:p>
        </p:txBody>
      </p:sp>
      <p:sp>
        <p:nvSpPr>
          <p:cNvPr id="4" name="عنصر نائب للتاريخ 3"/>
          <p:cNvSpPr>
            <a:spLocks noGrp="1"/>
          </p:cNvSpPr>
          <p:nvPr>
            <p:ph type="dt" sz="half" idx="10"/>
          </p:nvPr>
        </p:nvSpPr>
        <p:spPr/>
        <p:txBody>
          <a:bodyPr/>
          <a:lstStyle/>
          <a:p>
            <a:fld id="{1CE5CD22-22B6-4CCA-9208-AD57A289F950}" type="datetimeFigureOut">
              <a:rPr lang="ar-OM" smtClean="0"/>
              <a:t>22‏/6‏/1443</a:t>
            </a:fld>
            <a:endParaRPr lang="ar-OM"/>
          </a:p>
        </p:txBody>
      </p:sp>
      <p:sp>
        <p:nvSpPr>
          <p:cNvPr id="5" name="عنصر نائب للتذييل 4"/>
          <p:cNvSpPr>
            <a:spLocks noGrp="1"/>
          </p:cNvSpPr>
          <p:nvPr>
            <p:ph type="ftr" sz="quarter" idx="11"/>
          </p:nvPr>
        </p:nvSpPr>
        <p:spPr/>
        <p:txBody>
          <a:bodyPr/>
          <a:lstStyle/>
          <a:p>
            <a:endParaRPr lang="ar-OM"/>
          </a:p>
        </p:txBody>
      </p:sp>
      <p:sp>
        <p:nvSpPr>
          <p:cNvPr id="6" name="عنصر نائب لرقم الشريحة 5"/>
          <p:cNvSpPr>
            <a:spLocks noGrp="1"/>
          </p:cNvSpPr>
          <p:nvPr>
            <p:ph type="sldNum" sz="quarter" idx="12"/>
          </p:nvPr>
        </p:nvSpPr>
        <p:spPr/>
        <p:txBody>
          <a:bodyPr/>
          <a:lstStyle/>
          <a:p>
            <a:fld id="{E8399D96-E21A-492E-82C1-E8211DEC4A21}" type="slidenum">
              <a:rPr lang="ar-OM" smtClean="0"/>
              <a:t>‹#›</a:t>
            </a:fld>
            <a:endParaRPr lang="ar-OM"/>
          </a:p>
        </p:txBody>
      </p:sp>
    </p:spTree>
    <p:extLst>
      <p:ext uri="{BB962C8B-B14F-4D97-AF65-F5344CB8AC3E}">
        <p14:creationId xmlns:p14="http://schemas.microsoft.com/office/powerpoint/2010/main" val="3760638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p:cNvSpPr>
            <a:spLocks noGrp="1"/>
          </p:cNvSpPr>
          <p:nvPr>
            <p:ph type="title" orient="vert"/>
          </p:nvPr>
        </p:nvSpPr>
        <p:spPr>
          <a:xfrm>
            <a:off x="6629400" y="274638"/>
            <a:ext cx="2057400" cy="5851525"/>
          </a:xfrm>
        </p:spPr>
        <p:txBody>
          <a:bodyPr vert="eaVert"/>
          <a:lstStyle/>
          <a:p>
            <a:r>
              <a:rPr lang="ar-SA"/>
              <a:t>انقر لتحرير نمط العنوان الرئيسي</a:t>
            </a:r>
            <a:endParaRPr lang="ar-OM"/>
          </a:p>
        </p:txBody>
      </p:sp>
      <p:sp>
        <p:nvSpPr>
          <p:cNvPr id="3" name="عنصر نائب للعنوان العمودي 2"/>
          <p:cNvSpPr>
            <a:spLocks noGrp="1"/>
          </p:cNvSpPr>
          <p:nvPr>
            <p:ph type="body" orient="vert" idx="1"/>
          </p:nvPr>
        </p:nvSpPr>
        <p:spPr>
          <a:xfrm>
            <a:off x="457200" y="274638"/>
            <a:ext cx="6019800" cy="5851525"/>
          </a:xfrm>
        </p:spPr>
        <p:txBody>
          <a:bodyPr vert="eaVert"/>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OM"/>
          </a:p>
        </p:txBody>
      </p:sp>
      <p:sp>
        <p:nvSpPr>
          <p:cNvPr id="4" name="عنصر نائب للتاريخ 3"/>
          <p:cNvSpPr>
            <a:spLocks noGrp="1"/>
          </p:cNvSpPr>
          <p:nvPr>
            <p:ph type="dt" sz="half" idx="10"/>
          </p:nvPr>
        </p:nvSpPr>
        <p:spPr/>
        <p:txBody>
          <a:bodyPr/>
          <a:lstStyle/>
          <a:p>
            <a:fld id="{1CE5CD22-22B6-4CCA-9208-AD57A289F950}" type="datetimeFigureOut">
              <a:rPr lang="ar-OM" smtClean="0"/>
              <a:t>22‏/6‏/1443</a:t>
            </a:fld>
            <a:endParaRPr lang="ar-OM"/>
          </a:p>
        </p:txBody>
      </p:sp>
      <p:sp>
        <p:nvSpPr>
          <p:cNvPr id="5" name="عنصر نائب للتذييل 4"/>
          <p:cNvSpPr>
            <a:spLocks noGrp="1"/>
          </p:cNvSpPr>
          <p:nvPr>
            <p:ph type="ftr" sz="quarter" idx="11"/>
          </p:nvPr>
        </p:nvSpPr>
        <p:spPr/>
        <p:txBody>
          <a:bodyPr/>
          <a:lstStyle/>
          <a:p>
            <a:endParaRPr lang="ar-OM"/>
          </a:p>
        </p:txBody>
      </p:sp>
      <p:sp>
        <p:nvSpPr>
          <p:cNvPr id="6" name="عنصر نائب لرقم الشريحة 5"/>
          <p:cNvSpPr>
            <a:spLocks noGrp="1"/>
          </p:cNvSpPr>
          <p:nvPr>
            <p:ph type="sldNum" sz="quarter" idx="12"/>
          </p:nvPr>
        </p:nvSpPr>
        <p:spPr/>
        <p:txBody>
          <a:bodyPr/>
          <a:lstStyle/>
          <a:p>
            <a:fld id="{E8399D96-E21A-492E-82C1-E8211DEC4A21}" type="slidenum">
              <a:rPr lang="ar-OM" smtClean="0"/>
              <a:t>‹#›</a:t>
            </a:fld>
            <a:endParaRPr lang="ar-OM"/>
          </a:p>
        </p:txBody>
      </p:sp>
    </p:spTree>
    <p:extLst>
      <p:ext uri="{BB962C8B-B14F-4D97-AF65-F5344CB8AC3E}">
        <p14:creationId xmlns:p14="http://schemas.microsoft.com/office/powerpoint/2010/main" val="2189911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ar-SA"/>
              <a:t>انقر لتحرير نمط العنوان الرئيسي</a:t>
            </a:r>
            <a:endParaRPr lang="ar-OM"/>
          </a:p>
        </p:txBody>
      </p:sp>
      <p:sp>
        <p:nvSpPr>
          <p:cNvPr id="3" name="عنصر نائب للنص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OM"/>
          </a:p>
        </p:txBody>
      </p:sp>
      <p:sp>
        <p:nvSpPr>
          <p:cNvPr id="4" name="عنصر نائب للتاريخ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1CE5CD22-22B6-4CCA-9208-AD57A289F950}" type="datetimeFigureOut">
              <a:rPr lang="ar-OM" smtClean="0"/>
              <a:t>22‏/6‏/1443</a:t>
            </a:fld>
            <a:endParaRPr lang="ar-OM"/>
          </a:p>
        </p:txBody>
      </p:sp>
      <p:sp>
        <p:nvSpPr>
          <p:cNvPr id="5" name="عنصر نائب للتذييل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ar-OM"/>
          </a:p>
        </p:txBody>
      </p:sp>
      <p:sp>
        <p:nvSpPr>
          <p:cNvPr id="6" name="عنصر نائب لرقم الشريحة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E8399D96-E21A-492E-82C1-E8211DEC4A21}" type="slidenum">
              <a:rPr lang="ar-OM" smtClean="0"/>
              <a:t>‹#›</a:t>
            </a:fld>
            <a:endParaRPr lang="ar-OM"/>
          </a:p>
        </p:txBody>
      </p:sp>
    </p:spTree>
    <p:extLst>
      <p:ext uri="{BB962C8B-B14F-4D97-AF65-F5344CB8AC3E}">
        <p14:creationId xmlns:p14="http://schemas.microsoft.com/office/powerpoint/2010/main" val="15242599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ar-OM"/>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عنوان 1"/>
          <p:cNvSpPr>
            <a:spLocks noGrp="1"/>
          </p:cNvSpPr>
          <p:nvPr>
            <p:ph type="ctrTitle"/>
          </p:nvPr>
        </p:nvSpPr>
        <p:spPr>
          <a:xfrm>
            <a:off x="685800" y="908721"/>
            <a:ext cx="7772400" cy="2691730"/>
          </a:xfrm>
        </p:spPr>
        <p:txBody>
          <a:bodyPr>
            <a:normAutofit fontScale="90000"/>
          </a:bodyPr>
          <a:lstStyle/>
          <a:p>
            <a:r>
              <a:rPr lang="en-US" dirty="0"/>
              <a:t> </a:t>
            </a:r>
            <a:r>
              <a:rPr lang="en-US" sz="7200" dirty="0">
                <a:latin typeface="Arial Black" pitchFamily="34" charset="0"/>
              </a:rPr>
              <a:t>NIV and HFNC weaning protocol</a:t>
            </a:r>
            <a:endParaRPr lang="ar-OM" sz="7200" dirty="0">
              <a:latin typeface="Arial Black" pitchFamily="34" charset="0"/>
            </a:endParaRPr>
          </a:p>
        </p:txBody>
      </p:sp>
      <p:sp>
        <p:nvSpPr>
          <p:cNvPr id="3" name="عنوان فرعي 2"/>
          <p:cNvSpPr>
            <a:spLocks noGrp="1"/>
          </p:cNvSpPr>
          <p:nvPr>
            <p:ph type="subTitle" idx="1"/>
          </p:nvPr>
        </p:nvSpPr>
        <p:spPr>
          <a:xfrm>
            <a:off x="539552" y="5517232"/>
            <a:ext cx="2664296" cy="504056"/>
          </a:xfrm>
        </p:spPr>
        <p:txBody>
          <a:bodyPr>
            <a:normAutofit/>
          </a:bodyPr>
          <a:lstStyle/>
          <a:p>
            <a:r>
              <a:rPr lang="en-US" sz="1400" b="1" dirty="0">
                <a:solidFill>
                  <a:schemeClr val="tx1"/>
                </a:solidFill>
              </a:rPr>
              <a:t>Samah AL-</a:t>
            </a:r>
            <a:r>
              <a:rPr lang="en-US" sz="1400" b="1" dirty="0" err="1">
                <a:solidFill>
                  <a:schemeClr val="tx1"/>
                </a:solidFill>
              </a:rPr>
              <a:t>Yahamdi</a:t>
            </a:r>
            <a:endParaRPr lang="en-US" sz="1400" b="1" dirty="0">
              <a:solidFill>
                <a:schemeClr val="tx1"/>
              </a:solidFill>
            </a:endParaRPr>
          </a:p>
        </p:txBody>
      </p:sp>
      <p:pic>
        <p:nvPicPr>
          <p:cNvPr id="4" name="صورة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2280" y="4149080"/>
            <a:ext cx="1314692" cy="1314692"/>
          </a:xfrm>
          <a:prstGeom prst="rect">
            <a:avLst/>
          </a:prstGeom>
        </p:spPr>
      </p:pic>
      <p:pic>
        <p:nvPicPr>
          <p:cNvPr id="5" name="صورة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2595" y="5013176"/>
            <a:ext cx="883305" cy="1327371"/>
          </a:xfrm>
          <a:prstGeom prst="rect">
            <a:avLst/>
          </a:prstGeom>
        </p:spPr>
      </p:pic>
    </p:spTree>
    <p:extLst>
      <p:ext uri="{BB962C8B-B14F-4D97-AF65-F5344CB8AC3E}">
        <p14:creationId xmlns:p14="http://schemas.microsoft.com/office/powerpoint/2010/main" val="1436657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عنوان 1"/>
          <p:cNvSpPr>
            <a:spLocks noGrp="1"/>
          </p:cNvSpPr>
          <p:nvPr>
            <p:ph type="ctrTitle"/>
          </p:nvPr>
        </p:nvSpPr>
        <p:spPr/>
        <p:txBody>
          <a:bodyPr>
            <a:noAutofit/>
          </a:bodyPr>
          <a:lstStyle/>
          <a:p>
            <a:r>
              <a:rPr lang="en-US" sz="2800" dirty="0"/>
              <a:t>Non-invasion ventilation</a:t>
            </a:r>
            <a:r>
              <a:rPr lang="en-US" sz="2800" b="1" dirty="0"/>
              <a:t>(NlV)</a:t>
            </a:r>
            <a:r>
              <a:rPr lang="en-US" sz="2800" dirty="0"/>
              <a:t>and high flow nasal cannula </a:t>
            </a:r>
            <a:r>
              <a:rPr lang="en-US" sz="2800" b="1" dirty="0"/>
              <a:t>(HFNC) </a:t>
            </a:r>
            <a:r>
              <a:rPr lang="en-US" sz="2800" dirty="0"/>
              <a:t>are used as mods of respiratory treatment in the pediatric population. They are initiated as first line respiratory support patients with respiratory distress.</a:t>
            </a:r>
          </a:p>
        </p:txBody>
      </p:sp>
      <p:pic>
        <p:nvPicPr>
          <p:cNvPr id="4" name="صورة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560" y="3933056"/>
            <a:ext cx="2505423" cy="2492896"/>
          </a:xfrm>
          <a:prstGeom prst="rect">
            <a:avLst/>
          </a:prstGeom>
          <a:ln>
            <a:noFill/>
          </a:ln>
          <a:effectLst>
            <a:softEdge rad="112500"/>
          </a:effectLst>
        </p:spPr>
      </p:pic>
    </p:spTree>
    <p:extLst>
      <p:ext uri="{BB962C8B-B14F-4D97-AF65-F5344CB8AC3E}">
        <p14:creationId xmlns:p14="http://schemas.microsoft.com/office/powerpoint/2010/main" val="8877258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عنوان 1"/>
          <p:cNvSpPr>
            <a:spLocks noGrp="1"/>
          </p:cNvSpPr>
          <p:nvPr>
            <p:ph type="ctrTitle"/>
          </p:nvPr>
        </p:nvSpPr>
        <p:spPr>
          <a:xfrm>
            <a:off x="685800" y="908721"/>
            <a:ext cx="7558608" cy="4464496"/>
          </a:xfrm>
        </p:spPr>
        <p:txBody>
          <a:bodyPr>
            <a:normAutofit fontScale="90000"/>
          </a:bodyPr>
          <a:lstStyle/>
          <a:p>
            <a:pPr algn="l">
              <a:lnSpc>
                <a:spcPct val="150000"/>
              </a:lnSpc>
            </a:pPr>
            <a:r>
              <a:rPr lang="en-US" sz="2400" b="1" dirty="0">
                <a:latin typeface="Arial Black" pitchFamily="34" charset="0"/>
              </a:rPr>
              <a:t>Advantages over invasive ventilation </a:t>
            </a:r>
            <a:br>
              <a:rPr lang="ar-OM" sz="2400" b="1" dirty="0">
                <a:latin typeface="Arial Black" pitchFamily="34" charset="0"/>
              </a:rPr>
            </a:br>
            <a:r>
              <a:rPr lang="en-US" sz="2400" b="1" dirty="0">
                <a:latin typeface="Arial Black" pitchFamily="34" charset="0"/>
              </a:rPr>
              <a:t>include:</a:t>
            </a:r>
            <a:br>
              <a:rPr lang="en-US" sz="2400" b="1" dirty="0">
                <a:latin typeface="Arial Black" pitchFamily="34" charset="0"/>
              </a:rPr>
            </a:br>
            <a:br>
              <a:rPr lang="en-US" sz="2400" b="1" dirty="0">
                <a:latin typeface="Arial Black" pitchFamily="34" charset="0"/>
              </a:rPr>
            </a:br>
            <a:r>
              <a:rPr lang="en-US" sz="2400" dirty="0"/>
              <a:t>1-preserving spontaneous respiratory effort</a:t>
            </a:r>
            <a:br>
              <a:rPr lang="en-US" sz="2400" dirty="0"/>
            </a:br>
            <a:r>
              <a:rPr lang="en-US" sz="2400" dirty="0"/>
              <a:t>2-Reducing acute lung injury related to invasive ventilation.</a:t>
            </a:r>
            <a:br>
              <a:rPr lang="en-US" sz="2400" dirty="0"/>
            </a:br>
            <a:r>
              <a:rPr lang="en-US" sz="2400" dirty="0"/>
              <a:t>3-Reducing need for sedation and analgesia.</a:t>
            </a:r>
            <a:br>
              <a:rPr lang="en-US" sz="2400" dirty="0"/>
            </a:br>
            <a:r>
              <a:rPr lang="en-US" sz="2400" dirty="0"/>
              <a:t>4-Reducing risk of ventilator associated pneumonia.</a:t>
            </a:r>
            <a:br>
              <a:rPr lang="en-US" sz="2400" dirty="0"/>
            </a:br>
            <a:endParaRPr lang="ar-OM" sz="2400" dirty="0"/>
          </a:p>
        </p:txBody>
      </p:sp>
      <p:pic>
        <p:nvPicPr>
          <p:cNvPr id="4" name="صورة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44208" y="4869160"/>
            <a:ext cx="2530535" cy="1423426"/>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Tree>
    <p:extLst>
      <p:ext uri="{BB962C8B-B14F-4D97-AF65-F5344CB8AC3E}">
        <p14:creationId xmlns:p14="http://schemas.microsoft.com/office/powerpoint/2010/main" val="2507477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مستطيل 3"/>
          <p:cNvSpPr/>
          <p:nvPr/>
        </p:nvSpPr>
        <p:spPr>
          <a:xfrm>
            <a:off x="899592" y="908720"/>
            <a:ext cx="7128792" cy="3277820"/>
          </a:xfrm>
          <a:prstGeom prst="rect">
            <a:avLst/>
          </a:prstGeom>
        </p:spPr>
        <p:txBody>
          <a:bodyPr wrap="square">
            <a:spAutoFit/>
          </a:bodyPr>
          <a:lstStyle/>
          <a:p>
            <a:pPr algn="l"/>
            <a:r>
              <a:rPr lang="en-US" dirty="0"/>
              <a:t> </a:t>
            </a:r>
          </a:p>
          <a:p>
            <a:pPr algn="l"/>
            <a:endParaRPr lang="ar-OM" b="1" dirty="0">
              <a:latin typeface="Arial Black" pitchFamily="34" charset="0"/>
            </a:endParaRPr>
          </a:p>
          <a:p>
            <a:pPr algn="l"/>
            <a:r>
              <a:rPr lang="en-US" b="1" dirty="0">
                <a:latin typeface="Arial Black" pitchFamily="34" charset="0"/>
              </a:rPr>
              <a:t>Indication for non-invasive ventilation use:</a:t>
            </a:r>
          </a:p>
          <a:p>
            <a:pPr algn="l"/>
            <a:r>
              <a:rPr lang="en-US" dirty="0"/>
              <a:t> </a:t>
            </a:r>
          </a:p>
          <a:p>
            <a:pPr algn="l">
              <a:lnSpc>
                <a:spcPct val="150000"/>
              </a:lnSpc>
            </a:pPr>
            <a:r>
              <a:rPr lang="en-US" dirty="0"/>
              <a:t>1-Childern presenting with respiratory distress with/ without abnormal blood gas results ( PH &lt; 7.3, pco2 50-60mmhg with spo2 &lt;92% in RA).</a:t>
            </a:r>
          </a:p>
          <a:p>
            <a:pPr algn="l">
              <a:lnSpc>
                <a:spcPct val="150000"/>
              </a:lnSpc>
            </a:pPr>
            <a:r>
              <a:rPr lang="en-US" dirty="0"/>
              <a:t>2-Upper airway obstruction such as sleep apnea or post extubation stridor. </a:t>
            </a:r>
          </a:p>
          <a:p>
            <a:pPr algn="l">
              <a:lnSpc>
                <a:spcPct val="150000"/>
              </a:lnSpc>
            </a:pPr>
            <a:r>
              <a:rPr lang="en-US" dirty="0"/>
              <a:t>3-Apnea with Consideration of early ventilation mechanical ventilation of patients apnea or significant apnea. </a:t>
            </a:r>
          </a:p>
        </p:txBody>
      </p:sp>
      <p:pic>
        <p:nvPicPr>
          <p:cNvPr id="5" name="صورة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6136" y="4157801"/>
            <a:ext cx="1952932" cy="1952932"/>
          </a:xfrm>
          <a:prstGeom prst="rect">
            <a:avLst/>
          </a:prstGeom>
          <a:ln>
            <a:noFill/>
          </a:ln>
          <a:effectLst>
            <a:softEdge rad="112500"/>
          </a:effectLst>
        </p:spPr>
      </p:pic>
    </p:spTree>
    <p:extLst>
      <p:ext uri="{BB962C8B-B14F-4D97-AF65-F5344CB8AC3E}">
        <p14:creationId xmlns:p14="http://schemas.microsoft.com/office/powerpoint/2010/main" val="2105809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مستطيل 3"/>
          <p:cNvSpPr/>
          <p:nvPr/>
        </p:nvSpPr>
        <p:spPr>
          <a:xfrm>
            <a:off x="971600" y="836713"/>
            <a:ext cx="6480720" cy="3554819"/>
          </a:xfrm>
          <a:prstGeom prst="rect">
            <a:avLst/>
          </a:prstGeom>
        </p:spPr>
        <p:txBody>
          <a:bodyPr wrap="square">
            <a:spAutoFit/>
          </a:bodyPr>
          <a:lstStyle/>
          <a:p>
            <a:pPr algn="l"/>
            <a:r>
              <a:rPr lang="en-US" b="1" dirty="0">
                <a:latin typeface="Arial Black" pitchFamily="34" charset="0"/>
              </a:rPr>
              <a:t>Contraindations for use of NIV:</a:t>
            </a:r>
          </a:p>
          <a:p>
            <a:pPr algn="l"/>
            <a:r>
              <a:rPr lang="en-US" dirty="0"/>
              <a:t> </a:t>
            </a:r>
          </a:p>
          <a:p>
            <a:pPr algn="l">
              <a:lnSpc>
                <a:spcPct val="150000"/>
              </a:lnSpc>
            </a:pPr>
            <a:r>
              <a:rPr lang="en-US" dirty="0"/>
              <a:t>1-Need for immediate airway intubation for peri-arrest situations.</a:t>
            </a:r>
          </a:p>
          <a:p>
            <a:pPr algn="l">
              <a:lnSpc>
                <a:spcPct val="150000"/>
              </a:lnSpc>
            </a:pPr>
            <a:r>
              <a:rPr lang="en-US" dirty="0"/>
              <a:t>2-Significant hemodynamic instability and inotropic need.</a:t>
            </a:r>
          </a:p>
          <a:p>
            <a:pPr algn="l">
              <a:lnSpc>
                <a:spcPct val="150000"/>
              </a:lnSpc>
            </a:pPr>
            <a:r>
              <a:rPr lang="en-US" dirty="0"/>
              <a:t>3-Encephalopathy and inability to control airway and secretions.</a:t>
            </a:r>
          </a:p>
          <a:p>
            <a:pPr algn="l">
              <a:lnSpc>
                <a:spcPct val="150000"/>
              </a:lnSpc>
            </a:pPr>
            <a:r>
              <a:rPr lang="en-US" dirty="0"/>
              <a:t>4-Recurent apnea.</a:t>
            </a:r>
          </a:p>
          <a:p>
            <a:pPr algn="l">
              <a:lnSpc>
                <a:spcPct val="150000"/>
              </a:lnSpc>
            </a:pPr>
            <a:r>
              <a:rPr lang="en-US" dirty="0"/>
              <a:t>5-ARDS with severe hypoxia.</a:t>
            </a:r>
          </a:p>
          <a:p>
            <a:pPr algn="l">
              <a:lnSpc>
                <a:spcPct val="150000"/>
              </a:lnSpc>
            </a:pPr>
            <a:r>
              <a:rPr lang="en-US" dirty="0"/>
              <a:t>6-Recent abdominal surgery including unrepaired trachea-esophageal diaphragmatic hernia.</a:t>
            </a:r>
          </a:p>
        </p:txBody>
      </p:sp>
      <p:pic>
        <p:nvPicPr>
          <p:cNvPr id="5" name="صورة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4248" y="3717032"/>
            <a:ext cx="1743075" cy="2619375"/>
          </a:xfrm>
          <a:prstGeom prst="rect">
            <a:avLst/>
          </a:prstGeom>
          <a:ln>
            <a:noFill/>
          </a:ln>
          <a:effectLst>
            <a:softEdge rad="112500"/>
          </a:effectLst>
        </p:spPr>
      </p:pic>
    </p:spTree>
    <p:extLst>
      <p:ext uri="{BB962C8B-B14F-4D97-AF65-F5344CB8AC3E}">
        <p14:creationId xmlns:p14="http://schemas.microsoft.com/office/powerpoint/2010/main" val="2133119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مستطيل 3"/>
          <p:cNvSpPr/>
          <p:nvPr/>
        </p:nvSpPr>
        <p:spPr>
          <a:xfrm>
            <a:off x="1187624" y="908720"/>
            <a:ext cx="7200800" cy="4524315"/>
          </a:xfrm>
          <a:prstGeom prst="rect">
            <a:avLst/>
          </a:prstGeom>
        </p:spPr>
        <p:txBody>
          <a:bodyPr wrap="square">
            <a:spAutoFit/>
          </a:bodyPr>
          <a:lstStyle/>
          <a:p>
            <a:pPr algn="l"/>
            <a:r>
              <a:rPr lang="en-US" b="1" dirty="0">
                <a:latin typeface="Arial Black" pitchFamily="34" charset="0"/>
              </a:rPr>
              <a:t>initiation and monitoring of NIV</a:t>
            </a:r>
            <a:r>
              <a:rPr lang="en-US" dirty="0"/>
              <a:t>:</a:t>
            </a:r>
          </a:p>
          <a:p>
            <a:pPr algn="l"/>
            <a:r>
              <a:rPr lang="en-US" dirty="0"/>
              <a:t> </a:t>
            </a:r>
          </a:p>
          <a:p>
            <a:pPr algn="l"/>
            <a:r>
              <a:rPr lang="en-US" dirty="0"/>
              <a:t>The indication of initiation of NIV should be reviewed with attending consultant. It is advised to start with lower pressure on NIV settings with gradual increase to allow the patient . the patient should be continuously monitored for heart rate, respiratory rate and oxygen saturation.</a:t>
            </a:r>
          </a:p>
          <a:p>
            <a:pPr algn="l"/>
            <a:endParaRPr lang="en-US" dirty="0"/>
          </a:p>
          <a:p>
            <a:pPr algn="l"/>
            <a:r>
              <a:rPr lang="en-US" dirty="0"/>
              <a:t>It is a must that frequent and regular physical assessment are carried for signs of deterioration  or improvement. Most of the responders to NIV show response within the initial 2 hours of start NIV. However, some of the patients may have delayed response. Children with clinical response improve with regard to their respiratory effort, heart rate,  oxygen saturation and  gas exchange.  Pediatric ICU  team should be in patients with significant respiratory distress on presentation and in patients with no clinical response following the initial 2 hours of treatment or eat signs of significant respiratory distress or failure.</a:t>
            </a:r>
          </a:p>
        </p:txBody>
      </p:sp>
    </p:spTree>
    <p:extLst>
      <p:ext uri="{BB962C8B-B14F-4D97-AF65-F5344CB8AC3E}">
        <p14:creationId xmlns:p14="http://schemas.microsoft.com/office/powerpoint/2010/main" val="1771187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مستطيل 3"/>
          <p:cNvSpPr/>
          <p:nvPr/>
        </p:nvSpPr>
        <p:spPr>
          <a:xfrm>
            <a:off x="755576" y="1166843"/>
            <a:ext cx="6552728" cy="3970318"/>
          </a:xfrm>
          <a:prstGeom prst="rect">
            <a:avLst/>
          </a:prstGeom>
        </p:spPr>
        <p:txBody>
          <a:bodyPr wrap="square">
            <a:spAutoFit/>
          </a:bodyPr>
          <a:lstStyle/>
          <a:p>
            <a:pPr algn="l"/>
            <a:r>
              <a:rPr lang="en-US" b="1" u="sng" dirty="0">
                <a:latin typeface="Arial Black" pitchFamily="34" charset="0"/>
              </a:rPr>
              <a:t>For initiation and monitoring</a:t>
            </a:r>
          </a:p>
          <a:p>
            <a:pPr algn="l"/>
            <a:endParaRPr lang="en-US" b="1" u="sng" dirty="0">
              <a:latin typeface="Arial Black" pitchFamily="34" charset="0"/>
            </a:endParaRPr>
          </a:p>
          <a:p>
            <a:pPr algn="l"/>
            <a:r>
              <a:rPr lang="en-US" b="1" dirty="0">
                <a:latin typeface="Arial Black" pitchFamily="34" charset="0"/>
              </a:rPr>
              <a:t>NIV interface</a:t>
            </a:r>
            <a:r>
              <a:rPr lang="en-US" dirty="0"/>
              <a:t>:</a:t>
            </a:r>
          </a:p>
          <a:p>
            <a:pPr algn="l"/>
            <a:endParaRPr lang="en-US" dirty="0"/>
          </a:p>
          <a:p>
            <a:pPr algn="l"/>
            <a:r>
              <a:rPr lang="en-US" dirty="0"/>
              <a:t>The interfaces in use are nasal masks , oro _ nasal masks and total face masks. An ideal interface should be comfortable, has minimal air leak around the mask and cause minimal claustrophobia(irritability).</a:t>
            </a:r>
          </a:p>
          <a:p>
            <a:pPr algn="l"/>
            <a:r>
              <a:rPr lang="en-US" dirty="0"/>
              <a:t>The interface selection should be individualized but, the following suggestions are to be considered:</a:t>
            </a:r>
          </a:p>
          <a:p>
            <a:pPr algn="l"/>
            <a:r>
              <a:rPr lang="en-US" dirty="0"/>
              <a:t>Nasal masks/nasal prongs: They are used for neonates and small infants. Aim to minimize the leak from mouth with use of pacifier. </a:t>
            </a:r>
          </a:p>
          <a:p>
            <a:pPr algn="l"/>
            <a:r>
              <a:rPr lang="en-US" dirty="0"/>
              <a:t>Oro-nasal interfaces and total face masks : for older infants and children</a:t>
            </a:r>
          </a:p>
        </p:txBody>
      </p:sp>
    </p:spTree>
    <p:extLst>
      <p:ext uri="{BB962C8B-B14F-4D97-AF65-F5344CB8AC3E}">
        <p14:creationId xmlns:p14="http://schemas.microsoft.com/office/powerpoint/2010/main" val="1428267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مستطيل 3"/>
          <p:cNvSpPr/>
          <p:nvPr/>
        </p:nvSpPr>
        <p:spPr>
          <a:xfrm>
            <a:off x="1475656" y="1700808"/>
            <a:ext cx="5814392" cy="3416320"/>
          </a:xfrm>
          <a:prstGeom prst="rect">
            <a:avLst/>
          </a:prstGeom>
        </p:spPr>
        <p:txBody>
          <a:bodyPr wrap="square">
            <a:spAutoFit/>
          </a:bodyPr>
          <a:lstStyle/>
          <a:p>
            <a:pPr algn="l"/>
            <a:r>
              <a:rPr lang="en-US" b="1" dirty="0">
                <a:latin typeface="Arial Black" pitchFamily="34" charset="0"/>
              </a:rPr>
              <a:t>NIV devices in use:</a:t>
            </a:r>
          </a:p>
          <a:p>
            <a:pPr algn="l"/>
            <a:endParaRPr lang="en-US" b="1" dirty="0">
              <a:latin typeface="Arial Black" pitchFamily="34" charset="0"/>
            </a:endParaRPr>
          </a:p>
          <a:p>
            <a:pPr algn="l"/>
            <a:r>
              <a:rPr lang="en-US" dirty="0"/>
              <a:t>Available devices include NIV devices such as trilogy and conventional ICU ventilators. NIV modes include CPAP where fixed  continuous positive pressure is used throughout the respiratory cycle and BIPAP mode which use 2 different pressure. Pressure on BIPAP mode include IPAP or PIP ( inspiratory positive pressure) representing peak inspiratory pressure and EPAP( expiratory positive pressure) representing positive airway pressure during expiration. There is minimum difference of 4 between IPAP and EPAP to generate effective tidal volume.</a:t>
            </a:r>
          </a:p>
        </p:txBody>
      </p:sp>
    </p:spTree>
    <p:extLst>
      <p:ext uri="{BB962C8B-B14F-4D97-AF65-F5344CB8AC3E}">
        <p14:creationId xmlns:p14="http://schemas.microsoft.com/office/powerpoint/2010/main" val="2005741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مستطيل 3"/>
          <p:cNvSpPr/>
          <p:nvPr/>
        </p:nvSpPr>
        <p:spPr>
          <a:xfrm>
            <a:off x="683568" y="1124744"/>
            <a:ext cx="5454352" cy="3970318"/>
          </a:xfrm>
          <a:prstGeom prst="rect">
            <a:avLst/>
          </a:prstGeom>
        </p:spPr>
        <p:txBody>
          <a:bodyPr wrap="square">
            <a:spAutoFit/>
          </a:bodyPr>
          <a:lstStyle/>
          <a:p>
            <a:pPr algn="l"/>
            <a:r>
              <a:rPr lang="en-US" dirty="0"/>
              <a:t> </a:t>
            </a:r>
          </a:p>
          <a:p>
            <a:pPr algn="l"/>
            <a:r>
              <a:rPr lang="en-US" b="1" dirty="0">
                <a:latin typeface="Arial Black" pitchFamily="34" charset="0"/>
              </a:rPr>
              <a:t>Caring for a child on NIV</a:t>
            </a:r>
            <a:r>
              <a:rPr lang="en-US" dirty="0"/>
              <a:t>:</a:t>
            </a:r>
          </a:p>
          <a:p>
            <a:pPr algn="l">
              <a:lnSpc>
                <a:spcPct val="150000"/>
              </a:lnSpc>
            </a:pPr>
            <a:endParaRPr lang="en-US" dirty="0"/>
          </a:p>
          <a:p>
            <a:pPr algn="l">
              <a:lnSpc>
                <a:spcPct val="150000"/>
              </a:lnSpc>
            </a:pPr>
            <a:r>
              <a:rPr lang="en-US" dirty="0"/>
              <a:t>Infants and children on NIV should have continuous monitoring of their vital signs with appropriate nursing ration to ensure adequate delivery of care.</a:t>
            </a:r>
          </a:p>
          <a:p>
            <a:pPr algn="l">
              <a:lnSpc>
                <a:spcPct val="150000"/>
              </a:lnSpc>
            </a:pPr>
            <a:r>
              <a:rPr lang="en-US" dirty="0"/>
              <a:t>Medical and nursing care should include the following:</a:t>
            </a:r>
          </a:p>
          <a:p>
            <a:pPr algn="l">
              <a:lnSpc>
                <a:spcPct val="150000"/>
              </a:lnSpc>
            </a:pPr>
            <a:r>
              <a:rPr lang="en-US" dirty="0"/>
              <a:t>* use of artificial tears every 4-6hours when face masks are used to prevent dryness of eyes.</a:t>
            </a:r>
          </a:p>
          <a:p>
            <a:pPr algn="l">
              <a:lnSpc>
                <a:spcPct val="150000"/>
              </a:lnSpc>
            </a:pPr>
            <a:r>
              <a:rPr lang="en-US" dirty="0"/>
              <a:t>*Use of nasogastric feeding tube for air decompression. </a:t>
            </a:r>
          </a:p>
        </p:txBody>
      </p:sp>
      <p:pic>
        <p:nvPicPr>
          <p:cNvPr id="5" name="صورة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2200" y="4725144"/>
            <a:ext cx="2439134" cy="172930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749663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عنوان 1"/>
          <p:cNvSpPr>
            <a:spLocks noGrp="1"/>
          </p:cNvSpPr>
          <p:nvPr>
            <p:ph type="ctrTitle"/>
          </p:nvPr>
        </p:nvSpPr>
        <p:spPr>
          <a:xfrm>
            <a:off x="539552" y="1772816"/>
            <a:ext cx="7772400" cy="3096344"/>
          </a:xfrm>
        </p:spPr>
        <p:txBody>
          <a:bodyPr>
            <a:normAutofit/>
          </a:bodyPr>
          <a:lstStyle/>
          <a:p>
            <a:r>
              <a:rPr lang="en-US" dirty="0"/>
              <a:t>Weaning of NIV:</a:t>
            </a:r>
            <a:br>
              <a:rPr lang="en-US" dirty="0"/>
            </a:br>
            <a:r>
              <a:rPr lang="en-US" sz="3200" dirty="0"/>
              <a:t>weaning is initiated once the child's respiratory improves</a:t>
            </a:r>
            <a:r>
              <a:rPr lang="en-US" dirty="0"/>
              <a:t>.</a:t>
            </a:r>
            <a:endParaRPr lang="ar-OM" dirty="0"/>
          </a:p>
        </p:txBody>
      </p:sp>
      <p:pic>
        <p:nvPicPr>
          <p:cNvPr id="4" name="صورة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4287" y="4145916"/>
            <a:ext cx="1359731" cy="2043311"/>
          </a:xfrm>
          <a:prstGeom prst="rect">
            <a:avLst/>
          </a:prstGeom>
        </p:spPr>
      </p:pic>
      <p:pic>
        <p:nvPicPr>
          <p:cNvPr id="5" name="صورة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52120" y="4797152"/>
            <a:ext cx="1647626" cy="1647626"/>
          </a:xfrm>
          <a:prstGeom prst="rect">
            <a:avLst/>
          </a:prstGeom>
          <a:ln>
            <a:noFill/>
          </a:ln>
          <a:effectLst>
            <a:softEdge rad="112500"/>
          </a:effectLst>
        </p:spPr>
      </p:pic>
    </p:spTree>
    <p:extLst>
      <p:ext uri="{BB962C8B-B14F-4D97-AF65-F5344CB8AC3E}">
        <p14:creationId xmlns:p14="http://schemas.microsoft.com/office/powerpoint/2010/main" val="349248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صورة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08504" cy="6813376"/>
          </a:xfrm>
          <a:prstGeom prst="rect">
            <a:avLst/>
          </a:prstGeom>
        </p:spPr>
      </p:pic>
    </p:spTree>
    <p:extLst>
      <p:ext uri="{BB962C8B-B14F-4D97-AF65-F5344CB8AC3E}">
        <p14:creationId xmlns:p14="http://schemas.microsoft.com/office/powerpoint/2010/main" val="2668546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عنوان 1"/>
          <p:cNvSpPr>
            <a:spLocks noGrp="1"/>
          </p:cNvSpPr>
          <p:nvPr>
            <p:ph type="ctrTitle"/>
          </p:nvPr>
        </p:nvSpPr>
        <p:spPr>
          <a:xfrm>
            <a:off x="611560" y="620688"/>
            <a:ext cx="7772400" cy="3816424"/>
          </a:xfrm>
        </p:spPr>
        <p:txBody>
          <a:bodyPr>
            <a:normAutofit fontScale="90000"/>
          </a:bodyPr>
          <a:lstStyle/>
          <a:p>
            <a:pPr>
              <a:lnSpc>
                <a:spcPct val="150000"/>
              </a:lnSpc>
            </a:pPr>
            <a:r>
              <a:rPr lang="en-US" sz="2400" b="1" dirty="0">
                <a:latin typeface="Arial Black" pitchFamily="34" charset="0"/>
              </a:rPr>
              <a:t>High flow nasal cannula treatment:</a:t>
            </a:r>
            <a:br>
              <a:rPr lang="en-US" sz="2400" b="1" dirty="0">
                <a:latin typeface="Arial Black" pitchFamily="34" charset="0"/>
              </a:rPr>
            </a:br>
            <a:br>
              <a:rPr lang="en-US" sz="1800" dirty="0"/>
            </a:br>
            <a:r>
              <a:rPr lang="en-US" sz="1800" dirty="0"/>
              <a:t>HFNC delivers a humidified oxygen and gas mixture heated to approximately 34*c, allowing higher air flow rates exceeding 2L/minute . These feature enable the delivery of air flow equal greater than the inspiratory flow of a spontaneously patient. The use of HFNC has board indications, including different causes of respiratory distress. Overall ,HFNC is most common used among children with bronchiolitis and pneumonia. In this instuation, we reserve use of HFNC for infants and children with milder respiratory distress.</a:t>
            </a:r>
            <a:endParaRPr lang="ar-OM" sz="1800" dirty="0"/>
          </a:p>
        </p:txBody>
      </p:sp>
      <p:pic>
        <p:nvPicPr>
          <p:cNvPr id="5" name="صورة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6096" y="4324350"/>
            <a:ext cx="2552700" cy="17907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626620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pic>
        <p:nvPicPr>
          <p:cNvPr id="2" name="صورة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3608" y="332656"/>
            <a:ext cx="7344816" cy="6048672"/>
          </a:xfrm>
          <a:prstGeom prst="rect">
            <a:avLst/>
          </a:prstGeom>
        </p:spPr>
      </p:pic>
    </p:spTree>
    <p:extLst>
      <p:ext uri="{BB962C8B-B14F-4D97-AF65-F5344CB8AC3E}">
        <p14:creationId xmlns:p14="http://schemas.microsoft.com/office/powerpoint/2010/main" val="2277060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صورة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7664" y="313569"/>
            <a:ext cx="5832648" cy="6283784"/>
          </a:xfrm>
          <a:prstGeom prst="rect">
            <a:avLst/>
          </a:prstGeom>
        </p:spPr>
      </p:pic>
    </p:spTree>
    <p:extLst>
      <p:ext uri="{BB962C8B-B14F-4D97-AF65-F5344CB8AC3E}">
        <p14:creationId xmlns:p14="http://schemas.microsoft.com/office/powerpoint/2010/main" val="938743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1278774"/>
      </p:ext>
    </p:extLst>
  </p:cSld>
  <p:clrMapOvr>
    <a:masterClrMapping/>
  </p:clrMapOvr>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