
<file path=[Content_Types].xml><?xml version="1.0" encoding="utf-8"?>
<Types xmlns="http://schemas.openxmlformats.org/package/2006/content-types">
  <Default ContentType="image/jpeg" Extension="jpg"/>
  <Default ContentType="image/vnd.ms-photo" Extension="wdp"/>
  <Default ContentType="application/xml" Extension="xml"/>
  <Default ContentType="image/png" Extension="png"/>
  <Default ContentType="image/jpeg" Extension="jpe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presentation.main+xml" PartName="/ppt/presentation.xml"/>
  <Override ContentType="application/vnd.openxmlformats-officedocument.presentationml.commentAuthors+xml" PartName="/ppt/commentAuthors1.xml"/>
  <Override ContentType="application/vnd.openxmlformats-officedocument.presentationml.presProps+xml" PartName="/ppt/presProps1.xml"/>
  <Override ContentType="application/vnd.openxmlformats-officedocument.theme+xml" PartName="/ppt/theme/theme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6858000" cx="12192000"/>
  <p:notesSz cx="6858000" cy="9144000"/>
  <p:defaultTextStyle>
    <a:defPPr lvl="0">
      <a:defRPr lang="en-US"/>
    </a:defPPr>
    <a:lvl1pPr defTabSz="457200" eaLnBrk="1" hangingPunct="1" latinLnBrk="0" lvl="0" marL="0" rtl="0" algn="l">
      <a:defRPr kern="1200" sz="1800">
        <a:solidFill>
          <a:schemeClr val="tx1"/>
        </a:solidFill>
        <a:latin typeface="+mn-lt"/>
        <a:ea typeface="+mn-ea"/>
        <a:cs typeface="+mn-cs"/>
      </a:defRPr>
    </a:lvl1pPr>
    <a:lvl2pPr defTabSz="457200" eaLnBrk="1" hangingPunct="1" latinLnBrk="0" lvl="1" marL="457200" rtl="0" algn="l">
      <a:defRPr kern="1200" sz="1800">
        <a:solidFill>
          <a:schemeClr val="tx1"/>
        </a:solidFill>
        <a:latin typeface="+mn-lt"/>
        <a:ea typeface="+mn-ea"/>
        <a:cs typeface="+mn-cs"/>
      </a:defRPr>
    </a:lvl2pPr>
    <a:lvl3pPr defTabSz="457200" eaLnBrk="1" hangingPunct="1" latinLnBrk="0" lvl="2" marL="914400" rtl="0" algn="l">
      <a:defRPr kern="1200" sz="1800">
        <a:solidFill>
          <a:schemeClr val="tx1"/>
        </a:solidFill>
        <a:latin typeface="+mn-lt"/>
        <a:ea typeface="+mn-ea"/>
        <a:cs typeface="+mn-cs"/>
      </a:defRPr>
    </a:lvl3pPr>
    <a:lvl4pPr defTabSz="457200" eaLnBrk="1" hangingPunct="1" latinLnBrk="0" lvl="3" marL="1371600" rtl="0" algn="l">
      <a:defRPr kern="1200" sz="1800">
        <a:solidFill>
          <a:schemeClr val="tx1"/>
        </a:solidFill>
        <a:latin typeface="+mn-lt"/>
        <a:ea typeface="+mn-ea"/>
        <a:cs typeface="+mn-cs"/>
      </a:defRPr>
    </a:lvl4pPr>
    <a:lvl5pPr defTabSz="457200" eaLnBrk="1" hangingPunct="1" latinLnBrk="0" lvl="4" marL="1828800" rtl="0" algn="l">
      <a:defRPr kern="1200" sz="1800">
        <a:solidFill>
          <a:schemeClr val="tx1"/>
        </a:solidFill>
        <a:latin typeface="+mn-lt"/>
        <a:ea typeface="+mn-ea"/>
        <a:cs typeface="+mn-cs"/>
      </a:defRPr>
    </a:lvl5pPr>
    <a:lvl6pPr defTabSz="457200" eaLnBrk="1" hangingPunct="1" latinLnBrk="0" lvl="5" marL="2286000" rtl="0" algn="l">
      <a:defRPr kern="1200" sz="1800">
        <a:solidFill>
          <a:schemeClr val="tx1"/>
        </a:solidFill>
        <a:latin typeface="+mn-lt"/>
        <a:ea typeface="+mn-ea"/>
        <a:cs typeface="+mn-cs"/>
      </a:defRPr>
    </a:lvl6pPr>
    <a:lvl7pPr defTabSz="457200" eaLnBrk="1" hangingPunct="1" latinLnBrk="0" lvl="6" marL="2743200" rtl="0" algn="l">
      <a:defRPr kern="1200" sz="1800">
        <a:solidFill>
          <a:schemeClr val="tx1"/>
        </a:solidFill>
        <a:latin typeface="+mn-lt"/>
        <a:ea typeface="+mn-ea"/>
        <a:cs typeface="+mn-cs"/>
      </a:defRPr>
    </a:lvl7pPr>
    <a:lvl8pPr defTabSz="457200" eaLnBrk="1" hangingPunct="1" latinLnBrk="0" lvl="7" marL="3200400" rtl="0" algn="l">
      <a:defRPr kern="1200" sz="1800">
        <a:solidFill>
          <a:schemeClr val="tx1"/>
        </a:solidFill>
        <a:latin typeface="+mn-lt"/>
        <a:ea typeface="+mn-ea"/>
        <a:cs typeface="+mn-cs"/>
      </a:defRPr>
    </a:lvl8pPr>
    <a:lvl9pPr defTabSz="457200" eaLnBrk="1" hangingPunct="1" latinLnBrk="0" lvl="8" marL="3657600" rtl="0" algn="l">
      <a:defRPr kern="1200" sz="1800">
        <a:solidFill>
          <a:schemeClr val="tx1"/>
        </a:solidFill>
        <a:latin typeface="+mn-lt"/>
        <a:ea typeface="+mn-ea"/>
        <a:cs typeface="+mn-cs"/>
      </a:defRPr>
    </a:lvl9pPr>
  </p:defaultTextStyle>
</p:presentation>
</file>

<file path=ppt/commentAuthors1.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1" id="1" initials="" lastIdx="2" name="Musaab Ali JumaAl-Qartoubi"/>
</p:cmAuthorLst>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commentAuthors" Target="commentAuthors1.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01-15T02:45:52.912" idx="1">
    <p:pos x="10" y="10"/>
    <p:text/>
    <p:extLst>
      <p:ext uri="{C676402C-5697-4E1C-873F-D02D1690AC5C}">
        <p15:threadingInfo xmlns:p15="http://schemas.microsoft.com/office/powerpoint/2012/main" timeZoneBias="-240"/>
      </p:ext>
    </p:extLst>
  </p:cm>
</p:cmLst>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ar-SA"/>
              <a:t>انقر لتحرير نمط عنوان الشكل الرئيسي</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ar-SA"/>
              <a:t>انقر لتحرير نمط العنوان الفرعي للشكل الرئيسي</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smtClean="0"/>
              <a:pPr/>
              <a:t>1/17/2021</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smtClean="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99696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Content Placeholder 2"/>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smtClean="0"/>
              <a:t>1/17/2021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smtClean="0"/>
              <a:t>‹#›</a:t>
            </a:fld>
            <a:endParaRPr lang="en-US" dirty="0"/>
          </a:p>
        </p:txBody>
      </p:sp>
    </p:spTree>
    <p:extLst>
      <p:ext uri="{BB962C8B-B14F-4D97-AF65-F5344CB8AC3E}">
        <p14:creationId xmlns:p14="http://schemas.microsoft.com/office/powerpoint/2010/main" val="3179014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a:t>انقر لتحرير أنماط نص الشكل الرئيسي</a:t>
            </a:r>
          </a:p>
        </p:txBody>
      </p:sp>
      <p:sp>
        <p:nvSpPr>
          <p:cNvPr id="4" name="Date Placeholder 3"/>
          <p:cNvSpPr>
            <a:spLocks noGrp="1"/>
          </p:cNvSpPr>
          <p:nvPr>
            <p:ph type="dt" sz="half" idx="10"/>
          </p:nvPr>
        </p:nvSpPr>
        <p:spPr/>
        <p:txBody>
          <a:bodyPr/>
          <a:lstStyle/>
          <a:p>
            <a:fld id="{B61BEF0D-F0BB-DE4B-95CE-6DB70DBA9567}" type="datetimeFigureOut">
              <a:rPr lang="en-US" smtClean="0"/>
              <a:pPr/>
              <a:t>1/17/2021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5799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1/17/2021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2162262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1/17/2021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06481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1/17/2021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21339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1/17/2021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73135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ar-SA"/>
              <a:t>انقر لتحرير نمط عنوان الشكل الرئيسي</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B61BEF0D-F0BB-DE4B-95CE-6DB70DBA9567}" type="datetimeFigureOut">
              <a:rPr lang="en-US" smtClean="0"/>
              <a:pPr/>
              <a:t>1/17/2021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63259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ar-SA"/>
              <a:t>انقر لتحرير نمط عنوان الشكل الرئيسي</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ar-SA"/>
              <a:t>انقر فوق الأيقونة لإضافة صورة</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B61BEF0D-F0BB-DE4B-95CE-6DB70DBA9567}" type="datetimeFigureOut">
              <a:rPr lang="en-US" smtClean="0"/>
              <a:pPr/>
              <a:t>1/17/2021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832991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صورة بانورامية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ar-SA"/>
              <a:t>انقر لتحرير نمط عنوان الشكل الرئيسي</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ar-SA"/>
              <a:t>انقر فوق الأيقونة لإضافة صورة</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B61BEF0D-F0BB-DE4B-95CE-6DB70DBA9567}" type="datetimeFigureOut">
              <a:rPr lang="en-US" smtClean="0"/>
              <a:pPr/>
              <a:t>1/17/2021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74130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العنوان والتسمية ال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a:t>انقر لتحرير أنماط نص الشكل الرئيسي</a:t>
            </a:r>
          </a:p>
        </p:txBody>
      </p:sp>
      <p:sp>
        <p:nvSpPr>
          <p:cNvPr id="4" name="Date Placeholder 3"/>
          <p:cNvSpPr>
            <a:spLocks noGrp="1"/>
          </p:cNvSpPr>
          <p:nvPr>
            <p:ph type="dt" sz="half" idx="10"/>
          </p:nvPr>
        </p:nvSpPr>
        <p:spPr/>
        <p:txBody>
          <a:bodyPr/>
          <a:lstStyle/>
          <a:p>
            <a:fld id="{B61BEF0D-F0BB-DE4B-95CE-6DB70DBA9567}" type="datetimeFigureOut">
              <a:rPr lang="en-US" smtClean="0"/>
              <a:pPr/>
              <a:t>1/17/2021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36489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اقتباس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ar-SA"/>
              <a:t>انقر لتحرير نمط عنوان الشكل الرئيسي</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ar-SA"/>
              <a:t>انقر لتحرير أنماط نص الشكل الرئيسي</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a:t>انقر لتحرير أنماط نص الشكل الرئيسي</a:t>
            </a:r>
          </a:p>
        </p:txBody>
      </p:sp>
      <p:sp>
        <p:nvSpPr>
          <p:cNvPr id="4" name="Date Placeholder 3"/>
          <p:cNvSpPr>
            <a:spLocks noGrp="1"/>
          </p:cNvSpPr>
          <p:nvPr>
            <p:ph type="dt" sz="half" idx="10"/>
          </p:nvPr>
        </p:nvSpPr>
        <p:spPr/>
        <p:txBody>
          <a:bodyPr/>
          <a:lstStyle/>
          <a:p>
            <a:fld id="{B61BEF0D-F0BB-DE4B-95CE-6DB70DBA9567}" type="datetimeFigureOut">
              <a:rPr lang="en-US" smtClean="0"/>
              <a:pPr/>
              <a:t>1/17/2021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542003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بطاقة اسم">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a:t>انقر لتحرير أنماط نص الشكل الرئيسي</a:t>
            </a:r>
          </a:p>
        </p:txBody>
      </p:sp>
      <p:sp>
        <p:nvSpPr>
          <p:cNvPr id="4" name="Date Placeholder 3"/>
          <p:cNvSpPr>
            <a:spLocks noGrp="1"/>
          </p:cNvSpPr>
          <p:nvPr>
            <p:ph type="dt" sz="half" idx="10"/>
          </p:nvPr>
        </p:nvSpPr>
        <p:spPr/>
        <p:txBody>
          <a:bodyPr/>
          <a:lstStyle/>
          <a:p>
            <a:fld id="{B61BEF0D-F0BB-DE4B-95CE-6DB70DBA9567}" type="datetimeFigureOut">
              <a:rPr lang="en-US" smtClean="0"/>
              <a:pPr/>
              <a:t>1/17/2021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14967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بطاقة اسم ذات اقتباس">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ar-SA"/>
              <a:t>انقر لتحرير نمط عنوان الشكل الرئيسي</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a:t>انقر لتحرير أنماط نص الشكل الرئيسي</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a:t>انقر لتحرير أنماط نص الشكل الرئيسي</a:t>
            </a:r>
          </a:p>
        </p:txBody>
      </p:sp>
      <p:sp>
        <p:nvSpPr>
          <p:cNvPr id="4" name="Date Placeholder 3"/>
          <p:cNvSpPr>
            <a:spLocks noGrp="1"/>
          </p:cNvSpPr>
          <p:nvPr>
            <p:ph type="dt" sz="half" idx="10"/>
          </p:nvPr>
        </p:nvSpPr>
        <p:spPr/>
        <p:txBody>
          <a:bodyPr/>
          <a:lstStyle/>
          <a:p>
            <a:fld id="{B61BEF0D-F0BB-DE4B-95CE-6DB70DBA9567}" type="datetimeFigureOut">
              <a:rPr lang="en-US" smtClean="0"/>
              <a:pPr/>
              <a:t>1/17/2021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28382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صواب أو خطأ">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ar-SA"/>
              <a:t>انقر لتحرير نمط عنوان الشكل الرئيسي</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a:t>انقر لتحرير أنماط نص الشكل الرئيسي</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a:t>انقر لتحرير أنماط نص الشكل الرئيسي</a:t>
            </a:r>
          </a:p>
        </p:txBody>
      </p:sp>
      <p:sp>
        <p:nvSpPr>
          <p:cNvPr id="4" name="Date Placeholder 3"/>
          <p:cNvSpPr>
            <a:spLocks noGrp="1"/>
          </p:cNvSpPr>
          <p:nvPr>
            <p:ph type="dt" sz="half" idx="10"/>
          </p:nvPr>
        </p:nvSpPr>
        <p:spPr/>
        <p:txBody>
          <a:bodyPr/>
          <a:lstStyle/>
          <a:p>
            <a:fld id="{B61BEF0D-F0BB-DE4B-95CE-6DB70DBA9567}" type="datetimeFigureOut">
              <a:rPr lang="en-US" smtClean="0"/>
              <a:pPr/>
              <a:t>1/17/2021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349928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p:txBody>
          <a:bodyPr vert="eaVert" ancho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53108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88374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5.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srcRect/>
          <a:tile tx="0" ty="0" sx="100000" sy="100000" flip="none" algn="tl"/>
        </a:blipFill>
        <a:effectLst/>
      </p:bgPr>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smtClean="0"/>
              <a:pPr/>
              <a:t>1/17/2021</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17624329"/>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p:txStyles>
    <p:titleStyle>
      <a:lvl1pPr algn="ctr" defTabSz="457200" rtl="1"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285750" indent="-285750" algn="r" defTabSz="457200" rtl="1"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r" defTabSz="457200" rtl="1"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r" defTabSz="457200" rtl="1"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r" defTabSz="457200" rtl="1"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tel:800" TargetMode="External"/><Relationship Id="rId2" Type="http://schemas.openxmlformats.org/officeDocument/2006/relationships/hyperlink" Target="tel:1866" TargetMode="External"/><Relationship Id="rId1" Type="http://schemas.openxmlformats.org/officeDocument/2006/relationships/slideLayout" Target="../slideLayouts/slideLayout2.xml"/><Relationship Id="rId4" Type="http://schemas.openxmlformats.org/officeDocument/2006/relationships/hyperlink" Target="tel:1000"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tel:3-4" TargetMode="External"/><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tel:100"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tel:100" TargetMode="Externa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hyperlink" Target="tel:2012"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صورة 6">
            <a:extLst>
              <a:ext uri="{FF2B5EF4-FFF2-40B4-BE49-F238E27FC236}">
                <a16:creationId xmlns:a16="http://schemas.microsoft.com/office/drawing/2014/main" id="{2F31E601-8CB8-4F0E-99FE-014842A2F470}"/>
              </a:ext>
            </a:extLst>
          </p:cNvPr>
          <p:cNvPicPr>
            <a:picLocks noChangeAspect="1"/>
          </p:cNvPicPr>
          <p:nvPr/>
        </p:nvPicPr>
        <p:blipFill>
          <a:blip r:embed="rId2"/>
          <a:stretch>
            <a:fillRect/>
          </a:stretch>
        </p:blipFill>
        <p:spPr>
          <a:xfrm>
            <a:off x="683623" y="669354"/>
            <a:ext cx="2555966" cy="5519292"/>
          </a:xfrm>
          <a:prstGeom prst="rect">
            <a:avLst/>
          </a:prstGeom>
        </p:spPr>
      </p:pic>
      <p:sp>
        <p:nvSpPr>
          <p:cNvPr id="2" name="عنوان 1">
            <a:extLst>
              <a:ext uri="{FF2B5EF4-FFF2-40B4-BE49-F238E27FC236}">
                <a16:creationId xmlns:a16="http://schemas.microsoft.com/office/drawing/2014/main" id="{2AAE9C01-1C49-4335-AB7B-8A584749A8FD}"/>
              </a:ext>
            </a:extLst>
          </p:cNvPr>
          <p:cNvSpPr>
            <a:spLocks noGrp="1"/>
          </p:cNvSpPr>
          <p:nvPr>
            <p:ph type="ctrTitle"/>
          </p:nvPr>
        </p:nvSpPr>
        <p:spPr>
          <a:xfrm>
            <a:off x="2364377" y="669354"/>
            <a:ext cx="8778241" cy="2348166"/>
          </a:xfrm>
        </p:spPr>
        <p:txBody>
          <a:bodyPr/>
          <a:lstStyle/>
          <a:p>
            <a:r>
              <a:rPr lang="en-US" sz="8000" dirty="0">
                <a:latin typeface="Algerian" panose="04020705040A02060702" pitchFamily="82" charset="0"/>
              </a:rPr>
              <a:t>        </a:t>
            </a:r>
            <a:r>
              <a:rPr lang="en-US" sz="4400" dirty="0">
                <a:latin typeface="Algerian" panose="04020705040A02060702" pitchFamily="82" charset="0"/>
              </a:rPr>
              <a:t>Down   Syndrome                             </a:t>
            </a:r>
            <a:endParaRPr lang="ar-SA" sz="4400" dirty="0">
              <a:latin typeface="Algerian" panose="04020705040A02060702" pitchFamily="82" charset="0"/>
            </a:endParaRPr>
          </a:p>
        </p:txBody>
      </p:sp>
      <p:sp>
        <p:nvSpPr>
          <p:cNvPr id="3" name="عنوان فرعي 2">
            <a:extLst>
              <a:ext uri="{FF2B5EF4-FFF2-40B4-BE49-F238E27FC236}">
                <a16:creationId xmlns:a16="http://schemas.microsoft.com/office/drawing/2014/main" id="{A6EF247C-8947-41A8-B69B-CADBA53A050F}"/>
              </a:ext>
            </a:extLst>
          </p:cNvPr>
          <p:cNvSpPr>
            <a:spLocks noGrp="1"/>
          </p:cNvSpPr>
          <p:nvPr>
            <p:ph type="subTitle" idx="1"/>
          </p:nvPr>
        </p:nvSpPr>
        <p:spPr/>
        <p:txBody>
          <a:bodyPr/>
          <a:lstStyle/>
          <a:p>
            <a:pPr algn="r"/>
            <a:r>
              <a:rPr lang="en-US" dirty="0"/>
              <a:t>Fatema Ali Al-Qartoubi </a:t>
            </a:r>
          </a:p>
        </p:txBody>
      </p:sp>
      <p:pic>
        <p:nvPicPr>
          <p:cNvPr id="5" name="صورة 4">
            <a:extLst>
              <a:ext uri="{FF2B5EF4-FFF2-40B4-BE49-F238E27FC236}">
                <a16:creationId xmlns:a16="http://schemas.microsoft.com/office/drawing/2014/main" id="{1678475A-18A3-408D-90D1-0C3B6336D1A2}"/>
              </a:ext>
            </a:extLst>
          </p:cNvPr>
          <p:cNvPicPr>
            <a:picLocks noChangeAspect="1"/>
          </p:cNvPicPr>
          <p:nvPr/>
        </p:nvPicPr>
        <p:blipFill>
          <a:blip r:embed="rId3"/>
          <a:stretch>
            <a:fillRect/>
          </a:stretch>
        </p:blipFill>
        <p:spPr>
          <a:xfrm>
            <a:off x="6884126" y="2108198"/>
            <a:ext cx="1867989" cy="1320802"/>
          </a:xfrm>
          <a:prstGeom prst="rect">
            <a:avLst/>
          </a:prstGeom>
        </p:spPr>
      </p:pic>
    </p:spTree>
    <p:extLst>
      <p:ext uri="{BB962C8B-B14F-4D97-AF65-F5344CB8AC3E}">
        <p14:creationId xmlns:p14="http://schemas.microsoft.com/office/powerpoint/2010/main" val="1789109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8C1682DE-C30C-41F2-BA86-37CEDFD5E141}"/>
              </a:ext>
            </a:extLst>
          </p:cNvPr>
          <p:cNvSpPr>
            <a:spLocks noGrp="1"/>
          </p:cNvSpPr>
          <p:nvPr>
            <p:ph type="title"/>
          </p:nvPr>
        </p:nvSpPr>
        <p:spPr>
          <a:xfrm>
            <a:off x="1295402" y="982133"/>
            <a:ext cx="9601196" cy="1343056"/>
          </a:xfrm>
        </p:spPr>
        <p:txBody>
          <a:bodyPr>
            <a:normAutofit/>
          </a:bodyPr>
          <a:lstStyle/>
          <a:p>
            <a:pPr rtl="0"/>
            <a:r>
              <a:rPr lang="en-US" sz="4000" b="0" i="0" u="none" strike="noStrike" dirty="0">
                <a:solidFill>
                  <a:srgbClr val="000000"/>
                </a:solidFill>
                <a:effectLst/>
                <a:latin typeface="Times New Roman" panose="02020603050405020304" pitchFamily="18" charset="0"/>
              </a:rPr>
              <a:t>When Down Syndrome Discovered? </a:t>
            </a:r>
            <a:endParaRPr lang="ar-SA" sz="4000" dirty="0"/>
          </a:p>
        </p:txBody>
      </p:sp>
      <p:sp>
        <p:nvSpPr>
          <p:cNvPr id="7" name="عنصر نائب للمحتوى 6">
            <a:extLst>
              <a:ext uri="{FF2B5EF4-FFF2-40B4-BE49-F238E27FC236}">
                <a16:creationId xmlns:a16="http://schemas.microsoft.com/office/drawing/2014/main" id="{21B30E89-578A-4B4F-97C2-78AE7292BC9E}"/>
              </a:ext>
            </a:extLst>
          </p:cNvPr>
          <p:cNvSpPr>
            <a:spLocks noGrp="1"/>
          </p:cNvSpPr>
          <p:nvPr>
            <p:ph idx="1"/>
          </p:nvPr>
        </p:nvSpPr>
        <p:spPr>
          <a:xfrm>
            <a:off x="1295401" y="2573382"/>
            <a:ext cx="9601196" cy="3302485"/>
          </a:xfrm>
        </p:spPr>
        <p:txBody>
          <a:bodyPr/>
          <a:lstStyle/>
          <a:p>
            <a:pPr algn="l" rtl="0"/>
            <a:r>
              <a:rPr lang="en-US" b="0" i="0" u="none" strike="noStrike" dirty="0">
                <a:solidFill>
                  <a:srgbClr val="000000"/>
                </a:solidFill>
                <a:effectLst/>
                <a:latin typeface="Times New Roman" panose="02020603050405020304" pitchFamily="18" charset="0"/>
              </a:rPr>
              <a:t>Down syndrome, named after John Langdon Down, the British physician who described the syndrome in </a:t>
            </a:r>
            <a:r>
              <a:rPr lang="en-US" b="0" i="0" u="sng" dirty="0">
                <a:solidFill>
                  <a:srgbClr val="0066CC"/>
                </a:solidFill>
                <a:effectLst/>
                <a:latin typeface="Times New Roman" panose="02020603050405020304" pitchFamily="18" charset="0"/>
                <a:hlinkClick r:id="rId2"/>
              </a:rPr>
              <a:t>1866</a:t>
            </a:r>
            <a:r>
              <a:rPr lang="en-US" b="0" i="0" u="none" strike="noStrike" dirty="0">
                <a:solidFill>
                  <a:srgbClr val="000000"/>
                </a:solidFill>
                <a:effectLst/>
                <a:latin typeface="Times New Roman" panose="02020603050405020304" pitchFamily="18" charset="0"/>
              </a:rPr>
              <a:t>.</a:t>
            </a:r>
          </a:p>
          <a:p>
            <a:pPr algn="l" rtl="0"/>
            <a:r>
              <a:rPr lang="en-US" b="0" i="0" u="none" strike="noStrike" dirty="0">
                <a:solidFill>
                  <a:srgbClr val="000000"/>
                </a:solidFill>
                <a:effectLst/>
                <a:latin typeface="Times New Roman" panose="02020603050405020304" pitchFamily="18" charset="0"/>
              </a:rPr>
              <a:t> Down syndrome is the commonest autosomal chromosomal anomaly with an incidence of 1 in </a:t>
            </a:r>
            <a:r>
              <a:rPr lang="en-US" b="0" i="0" u="sng" dirty="0">
                <a:solidFill>
                  <a:srgbClr val="0066CC"/>
                </a:solidFill>
                <a:effectLst/>
                <a:latin typeface="Times New Roman" panose="02020603050405020304" pitchFamily="18" charset="0"/>
                <a:hlinkClick r:id="rId3"/>
              </a:rPr>
              <a:t>800</a:t>
            </a:r>
            <a:r>
              <a:rPr lang="en-US" b="0" i="0" u="none" strike="noStrike" dirty="0">
                <a:solidFill>
                  <a:srgbClr val="000000"/>
                </a:solidFill>
                <a:effectLst/>
                <a:latin typeface="Times New Roman" panose="02020603050405020304" pitchFamily="18" charset="0"/>
              </a:rPr>
              <a:t> to </a:t>
            </a:r>
            <a:r>
              <a:rPr lang="en-US" b="0" i="0" u="sng" dirty="0">
                <a:solidFill>
                  <a:srgbClr val="0066CC"/>
                </a:solidFill>
                <a:effectLst/>
                <a:latin typeface="Times New Roman" panose="02020603050405020304" pitchFamily="18" charset="0"/>
                <a:hlinkClick r:id="rId4"/>
              </a:rPr>
              <a:t>1000</a:t>
            </a:r>
            <a:r>
              <a:rPr lang="en-US" b="0" i="0" u="none" strike="noStrike" dirty="0">
                <a:solidFill>
                  <a:srgbClr val="000000"/>
                </a:solidFill>
                <a:effectLst/>
                <a:latin typeface="Times New Roman" panose="02020603050405020304" pitchFamily="18" charset="0"/>
              </a:rPr>
              <a:t> live births in all races and economic groups.  </a:t>
            </a:r>
          </a:p>
          <a:p>
            <a:pPr algn="l" rtl="0"/>
            <a:r>
              <a:rPr lang="en-US" b="0" i="0" u="none" strike="noStrike" dirty="0">
                <a:solidFill>
                  <a:srgbClr val="000000"/>
                </a:solidFill>
                <a:effectLst/>
                <a:latin typeface="Times New Roman" panose="02020603050405020304" pitchFamily="18" charset="0"/>
              </a:rPr>
              <a:t>It is a chromosomal disorder caused by an error in cell division resulting in the presence of an additional third chromosome 21 or trisomy 21.</a:t>
            </a:r>
            <a:endParaRPr lang="ar-SA" dirty="0"/>
          </a:p>
        </p:txBody>
      </p:sp>
    </p:spTree>
    <p:extLst>
      <p:ext uri="{BB962C8B-B14F-4D97-AF65-F5344CB8AC3E}">
        <p14:creationId xmlns:p14="http://schemas.microsoft.com/office/powerpoint/2010/main" val="4107350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صورة 4">
            <a:extLst>
              <a:ext uri="{FF2B5EF4-FFF2-40B4-BE49-F238E27FC236}">
                <a16:creationId xmlns:a16="http://schemas.microsoft.com/office/drawing/2014/main" id="{96213EC2-6F34-496A-8235-17CD11E96746}"/>
              </a:ext>
            </a:extLst>
          </p:cNvPr>
          <p:cNvPicPr>
            <a:picLocks noChangeAspect="1"/>
          </p:cNvPicPr>
          <p:nvPr/>
        </p:nvPicPr>
        <p:blipFill>
          <a:blip r:embed="rId2"/>
          <a:stretch>
            <a:fillRect/>
          </a:stretch>
        </p:blipFill>
        <p:spPr>
          <a:xfrm>
            <a:off x="3095897" y="561703"/>
            <a:ext cx="6021977" cy="1995229"/>
          </a:xfrm>
          <a:prstGeom prst="rect">
            <a:avLst/>
          </a:prstGeom>
        </p:spPr>
      </p:pic>
      <p:sp>
        <p:nvSpPr>
          <p:cNvPr id="2" name="عنوان 1">
            <a:extLst>
              <a:ext uri="{FF2B5EF4-FFF2-40B4-BE49-F238E27FC236}">
                <a16:creationId xmlns:a16="http://schemas.microsoft.com/office/drawing/2014/main" id="{BB3C9A5E-4574-474E-9037-9AB8B636ED72}"/>
              </a:ext>
            </a:extLst>
          </p:cNvPr>
          <p:cNvSpPr>
            <a:spLocks noGrp="1"/>
          </p:cNvSpPr>
          <p:nvPr>
            <p:ph type="title"/>
          </p:nvPr>
        </p:nvSpPr>
        <p:spPr/>
        <p:txBody>
          <a:bodyPr/>
          <a:lstStyle/>
          <a:p>
            <a:pPr rtl="0"/>
            <a:r>
              <a:rPr lang="en-US" sz="4400" b="0" i="0" u="none" strike="noStrike" dirty="0">
                <a:solidFill>
                  <a:srgbClr val="000000"/>
                </a:solidFill>
                <a:effectLst/>
                <a:latin typeface="Times New Roman" panose="02020603050405020304" pitchFamily="18" charset="0"/>
              </a:rPr>
              <a:t>What is Down Syndrome? </a:t>
            </a:r>
            <a:endParaRPr lang="ar-SA" dirty="0"/>
          </a:p>
        </p:txBody>
      </p:sp>
      <p:sp>
        <p:nvSpPr>
          <p:cNvPr id="3" name="عنصر نائب للمحتوى 2">
            <a:extLst>
              <a:ext uri="{FF2B5EF4-FFF2-40B4-BE49-F238E27FC236}">
                <a16:creationId xmlns:a16="http://schemas.microsoft.com/office/drawing/2014/main" id="{B029060E-10B5-401E-85E3-BF79CC853A9E}"/>
              </a:ext>
            </a:extLst>
          </p:cNvPr>
          <p:cNvSpPr>
            <a:spLocks noGrp="1"/>
          </p:cNvSpPr>
          <p:nvPr>
            <p:ph idx="1"/>
          </p:nvPr>
        </p:nvSpPr>
        <p:spPr>
          <a:xfrm>
            <a:off x="1295401" y="2556932"/>
            <a:ext cx="9601196" cy="3582611"/>
          </a:xfrm>
        </p:spPr>
        <p:txBody>
          <a:bodyPr>
            <a:normAutofit fontScale="92500" lnSpcReduction="20000"/>
          </a:bodyPr>
          <a:lstStyle/>
          <a:p>
            <a:pPr algn="l" rtl="0">
              <a:buFont typeface="Wingdings" panose="05000000000000000000" pitchFamily="2" charset="2"/>
              <a:buChar char="ü"/>
            </a:pPr>
            <a:r>
              <a:rPr lang="en-US" b="0" i="0" u="none" strike="noStrike" dirty="0">
                <a:solidFill>
                  <a:srgbClr val="000000"/>
                </a:solidFill>
                <a:effectLst/>
                <a:latin typeface="Times New Roman" panose="02020603050405020304" pitchFamily="18" charset="0"/>
              </a:rPr>
              <a:t>The problem occurs sometime shortly after fertilization;  during the phase when cells are dividing rapidly.  </a:t>
            </a:r>
          </a:p>
          <a:p>
            <a:pPr algn="l" rtl="0">
              <a:buFont typeface="Wingdings" panose="05000000000000000000" pitchFamily="2" charset="2"/>
              <a:buChar char="ü"/>
            </a:pPr>
            <a:r>
              <a:rPr lang="en-US" b="0" i="0" u="none" strike="noStrike" dirty="0">
                <a:solidFill>
                  <a:srgbClr val="000000"/>
                </a:solidFill>
                <a:effectLst/>
                <a:latin typeface="Times New Roman" panose="02020603050405020304" pitchFamily="18" charset="0"/>
              </a:rPr>
              <a:t>One cell divides abnormally, creating a line of cells with an extra chromosome 21.  </a:t>
            </a:r>
          </a:p>
          <a:p>
            <a:pPr algn="l" rtl="0">
              <a:buFont typeface="Wingdings" panose="05000000000000000000" pitchFamily="2" charset="2"/>
              <a:buChar char="ü"/>
            </a:pPr>
            <a:r>
              <a:rPr lang="en-US" b="0" i="0" u="none" strike="noStrike" dirty="0">
                <a:solidFill>
                  <a:srgbClr val="000000"/>
                </a:solidFill>
                <a:effectLst/>
                <a:latin typeface="Times New Roman" panose="02020603050405020304" pitchFamily="18" charset="0"/>
              </a:rPr>
              <a:t>This form of genetic disorder is called a </a:t>
            </a:r>
            <a:r>
              <a:rPr lang="en-US" b="1" i="0" u="none" strike="noStrike" dirty="0">
                <a:solidFill>
                  <a:srgbClr val="000000"/>
                </a:solidFill>
                <a:effectLst/>
                <a:latin typeface="Times New Roman" panose="02020603050405020304" pitchFamily="18" charset="0"/>
              </a:rPr>
              <a:t>Mosaic</a:t>
            </a:r>
            <a:r>
              <a:rPr lang="en-US" b="0" i="0" u="none" strike="noStrike" dirty="0">
                <a:solidFill>
                  <a:srgbClr val="000000"/>
                </a:solidFill>
                <a:effectLst/>
                <a:latin typeface="Times New Roman" panose="02020603050405020304" pitchFamily="18" charset="0"/>
              </a:rPr>
              <a:t>.</a:t>
            </a:r>
          </a:p>
          <a:p>
            <a:pPr algn="l" rtl="0">
              <a:buFont typeface="Wingdings" panose="05000000000000000000" pitchFamily="2" charset="2"/>
              <a:buChar char="ü"/>
            </a:pPr>
            <a:r>
              <a:rPr lang="en-US" b="1" i="0" u="none" strike="noStrike" dirty="0">
                <a:solidFill>
                  <a:srgbClr val="000000"/>
                </a:solidFill>
                <a:effectLst/>
                <a:latin typeface="Times New Roman" panose="02020603050405020304" pitchFamily="18" charset="0"/>
              </a:rPr>
              <a:t>Translocation</a:t>
            </a:r>
            <a:r>
              <a:rPr lang="en-US" b="0" i="0" u="none" strike="noStrike" dirty="0">
                <a:solidFill>
                  <a:srgbClr val="000000"/>
                </a:solidFill>
                <a:effectLst/>
                <a:latin typeface="Times New Roman" panose="02020603050405020304" pitchFamily="18" charset="0"/>
              </a:rPr>
              <a:t> - During cell division, the number 21 chromosome somehow breaks.  A piece of the number 21 chromosome then becomes attached to another chromosome.  Each cell still has 46 chromosomes, but the extra piece of chromosome 21 results in the signs and symptoms of Down syndrome.  Translocations occur in about </a:t>
            </a:r>
            <a:r>
              <a:rPr lang="en-US" b="0" i="0" u="sng" dirty="0">
                <a:solidFill>
                  <a:srgbClr val="0066CC"/>
                </a:solidFill>
                <a:effectLst/>
                <a:latin typeface="Times New Roman" panose="02020603050405020304" pitchFamily="18" charset="0"/>
                <a:hlinkClick r:id="rId3"/>
              </a:rPr>
              <a:t>3-4</a:t>
            </a:r>
            <a:r>
              <a:rPr lang="en-US" b="0" i="0" u="none" strike="noStrike" dirty="0">
                <a:solidFill>
                  <a:srgbClr val="000000"/>
                </a:solidFill>
                <a:effectLst/>
                <a:latin typeface="Times New Roman" panose="02020603050405020304" pitchFamily="18" charset="0"/>
              </a:rPr>
              <a:t> percent of cases of Down syndrome.</a:t>
            </a:r>
            <a:endParaRPr lang="ar-SA" dirty="0"/>
          </a:p>
        </p:txBody>
      </p:sp>
    </p:spTree>
    <p:extLst>
      <p:ext uri="{BB962C8B-B14F-4D97-AF65-F5344CB8AC3E}">
        <p14:creationId xmlns:p14="http://schemas.microsoft.com/office/powerpoint/2010/main" val="190065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162F800-8590-4935-89FA-A16C5120761F}"/>
              </a:ext>
            </a:extLst>
          </p:cNvPr>
          <p:cNvSpPr>
            <a:spLocks noGrp="1"/>
          </p:cNvSpPr>
          <p:nvPr>
            <p:ph type="title"/>
          </p:nvPr>
        </p:nvSpPr>
        <p:spPr/>
        <p:txBody>
          <a:bodyPr/>
          <a:lstStyle/>
          <a:p>
            <a:pPr rtl="0"/>
            <a:r>
              <a:rPr lang="en-US" sz="4400" b="0" i="0" u="none" strike="noStrike" dirty="0">
                <a:solidFill>
                  <a:srgbClr val="000000"/>
                </a:solidFill>
                <a:effectLst/>
                <a:latin typeface="Times New Roman" panose="02020603050405020304" pitchFamily="18" charset="0"/>
              </a:rPr>
              <a:t>What is Down Syndrome? </a:t>
            </a:r>
            <a:endParaRPr lang="ar-SA" dirty="0"/>
          </a:p>
        </p:txBody>
      </p:sp>
      <p:sp>
        <p:nvSpPr>
          <p:cNvPr id="3" name="عنصر نائب للمحتوى 2">
            <a:extLst>
              <a:ext uri="{FF2B5EF4-FFF2-40B4-BE49-F238E27FC236}">
                <a16:creationId xmlns:a16="http://schemas.microsoft.com/office/drawing/2014/main" id="{D683E511-A268-4517-A2BB-287C78763FB4}"/>
              </a:ext>
            </a:extLst>
          </p:cNvPr>
          <p:cNvSpPr>
            <a:spLocks noGrp="1"/>
          </p:cNvSpPr>
          <p:nvPr>
            <p:ph idx="1"/>
          </p:nvPr>
        </p:nvSpPr>
        <p:spPr/>
        <p:txBody>
          <a:bodyPr>
            <a:normAutofit/>
          </a:bodyPr>
          <a:lstStyle/>
          <a:p>
            <a:pPr algn="l" rtl="0"/>
            <a:r>
              <a:rPr lang="en-US" b="0" i="0" u="none" strike="noStrike" dirty="0">
                <a:solidFill>
                  <a:srgbClr val="000000"/>
                </a:solidFill>
                <a:effectLst/>
                <a:latin typeface="Times New Roman" panose="02020603050405020304" pitchFamily="18" charset="0"/>
              </a:rPr>
              <a:t>It is typically associated with a delay in cognitive ability (mental retardation, or MR) and physical growth, and a particular set of facial characteristics.  </a:t>
            </a:r>
          </a:p>
          <a:p>
            <a:pPr algn="l" rtl="0"/>
            <a:r>
              <a:rPr lang="en-US" b="0" i="0" u="none" strike="noStrike" dirty="0">
                <a:solidFill>
                  <a:srgbClr val="000000"/>
                </a:solidFill>
                <a:effectLst/>
                <a:latin typeface="Times New Roman" panose="02020603050405020304" pitchFamily="18" charset="0"/>
              </a:rPr>
              <a:t>The average IQ of young adults with Down syndrome is around </a:t>
            </a:r>
            <a:r>
              <a:rPr lang="en-US" b="1" i="0" u="none" strike="noStrike" dirty="0">
                <a:solidFill>
                  <a:srgbClr val="000000"/>
                </a:solidFill>
                <a:effectLst/>
                <a:latin typeface="Times New Roman" panose="02020603050405020304" pitchFamily="18" charset="0"/>
              </a:rPr>
              <a:t>50</a:t>
            </a:r>
            <a:r>
              <a:rPr lang="en-US" b="0" i="0" u="none" strike="noStrike" dirty="0">
                <a:solidFill>
                  <a:srgbClr val="000000"/>
                </a:solidFill>
                <a:effectLst/>
                <a:latin typeface="Times New Roman" panose="02020603050405020304" pitchFamily="18" charset="0"/>
              </a:rPr>
              <a:t>, compared to children with an IQ of </a:t>
            </a:r>
            <a:r>
              <a:rPr lang="en-US" b="1" i="0" u="sng" dirty="0">
                <a:solidFill>
                  <a:srgbClr val="0066CC"/>
                </a:solidFill>
                <a:effectLst/>
                <a:latin typeface="Times New Roman" panose="02020603050405020304" pitchFamily="18" charset="0"/>
                <a:hlinkClick r:id="rId2"/>
              </a:rPr>
              <a:t>100</a:t>
            </a:r>
            <a:r>
              <a:rPr lang="en-US" b="0" i="0" u="none" strike="noStrike" dirty="0">
                <a:solidFill>
                  <a:srgbClr val="000000"/>
                </a:solidFill>
                <a:effectLst/>
                <a:latin typeface="Times New Roman" panose="02020603050405020304" pitchFamily="18" charset="0"/>
              </a:rPr>
              <a:t>.</a:t>
            </a:r>
            <a:endParaRPr lang="ar-SA" dirty="0"/>
          </a:p>
        </p:txBody>
      </p:sp>
    </p:spTree>
    <p:extLst>
      <p:ext uri="{BB962C8B-B14F-4D97-AF65-F5344CB8AC3E}">
        <p14:creationId xmlns:p14="http://schemas.microsoft.com/office/powerpoint/2010/main" val="1832357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صورة 6">
            <a:extLst>
              <a:ext uri="{FF2B5EF4-FFF2-40B4-BE49-F238E27FC236}">
                <a16:creationId xmlns:a16="http://schemas.microsoft.com/office/drawing/2014/main" id="{DDBE0F75-E3C1-4740-9F63-7DF1ADC3B8D6}"/>
              </a:ext>
            </a:extLst>
          </p:cNvPr>
          <p:cNvPicPr>
            <a:picLocks noChangeAspect="1"/>
          </p:cNvPicPr>
          <p:nvPr/>
        </p:nvPicPr>
        <p:blipFill>
          <a:blip r:embed="rId2"/>
          <a:stretch>
            <a:fillRect/>
          </a:stretch>
        </p:blipFill>
        <p:spPr>
          <a:xfrm>
            <a:off x="3421107" y="2677885"/>
            <a:ext cx="4795430" cy="2795451"/>
          </a:xfrm>
          <a:prstGeom prst="rect">
            <a:avLst/>
          </a:prstGeom>
        </p:spPr>
      </p:pic>
      <p:sp>
        <p:nvSpPr>
          <p:cNvPr id="4" name="عنوان 3">
            <a:extLst>
              <a:ext uri="{FF2B5EF4-FFF2-40B4-BE49-F238E27FC236}">
                <a16:creationId xmlns:a16="http://schemas.microsoft.com/office/drawing/2014/main" id="{9BDFDACC-9DDB-4DB8-9314-A6988ECBE3BB}"/>
              </a:ext>
            </a:extLst>
          </p:cNvPr>
          <p:cNvSpPr>
            <a:spLocks noGrp="1"/>
          </p:cNvSpPr>
          <p:nvPr>
            <p:ph type="title"/>
          </p:nvPr>
        </p:nvSpPr>
        <p:spPr/>
        <p:txBody>
          <a:bodyPr>
            <a:normAutofit fontScale="90000"/>
          </a:bodyPr>
          <a:lstStyle/>
          <a:p>
            <a:r>
              <a:rPr lang="en-US"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How Common is Down Syndrome?</a:t>
            </a:r>
            <a:br>
              <a:rPr lang="en-US" sz="1800" b="1" dirty="0">
                <a:effectLst/>
                <a:latin typeface="Times New Roman" panose="02020603050405020304" pitchFamily="18" charset="0"/>
                <a:ea typeface="Calibri" panose="020F0502020204030204" pitchFamily="34" charset="0"/>
                <a:cs typeface="Times New Roman" panose="02020603050405020304" pitchFamily="18" charset="0"/>
              </a:rPr>
            </a:br>
            <a:endParaRPr lang="ar-SA" b="1" dirty="0">
              <a:latin typeface="Times New Roman" panose="02020603050405020304" pitchFamily="18" charset="0"/>
              <a:cs typeface="Times New Roman" panose="02020603050405020304" pitchFamily="18" charset="0"/>
            </a:endParaRPr>
          </a:p>
        </p:txBody>
      </p:sp>
      <p:sp>
        <p:nvSpPr>
          <p:cNvPr id="5" name="عنصر نائب للمحتوى 4">
            <a:extLst>
              <a:ext uri="{FF2B5EF4-FFF2-40B4-BE49-F238E27FC236}">
                <a16:creationId xmlns:a16="http://schemas.microsoft.com/office/drawing/2014/main" id="{D0AAD7C7-720C-4777-AB20-7CEA1D61EADF}"/>
              </a:ext>
            </a:extLst>
          </p:cNvPr>
          <p:cNvSpPr>
            <a:spLocks noGrp="1"/>
          </p:cNvSpPr>
          <p:nvPr>
            <p:ph idx="1"/>
          </p:nvPr>
        </p:nvSpPr>
        <p:spPr/>
        <p:txBody>
          <a:bodyPr>
            <a:noAutofit/>
          </a:bodyPr>
          <a:lstStyle/>
          <a:p>
            <a:pPr marL="0" indent="0" algn="l" rtl="0">
              <a:buNone/>
            </a:pPr>
            <a:r>
              <a:rPr lang="en-US" dirty="0"/>
              <a:t>Down syndrome is one of the commonest chromosomal abnormalities known today.  Internationally, the birth prevalence is estimated to be 1 in 600 to 1 in 800.  In Oman, it is 2.4 in 1000 which  leads to about 120 affected births / year. (MOH, [2011]).  Individuals born with Down syndrome are at risk for a number of associated medical </a:t>
            </a:r>
          </a:p>
          <a:p>
            <a:pPr marL="0" indent="0" algn="l" rtl="0">
              <a:buNone/>
            </a:pPr>
            <a:r>
              <a:rPr lang="en-US" dirty="0"/>
              <a:t>conditions such as congenital heart disease, impaired hearing, gastrointestinal tract anomalies, thyroid disorders and cataracts.  Health care providers need to be aware of these conditions as some warrant immediate intervention and medical treatment</a:t>
            </a:r>
            <a:endParaRPr lang="ar-SA" dirty="0"/>
          </a:p>
        </p:txBody>
      </p:sp>
    </p:spTree>
    <p:extLst>
      <p:ext uri="{BB962C8B-B14F-4D97-AF65-F5344CB8AC3E}">
        <p14:creationId xmlns:p14="http://schemas.microsoft.com/office/powerpoint/2010/main" val="4039960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DB72AB2-5FFD-4483-940A-828406E6839C}"/>
              </a:ext>
            </a:extLst>
          </p:cNvPr>
          <p:cNvSpPr>
            <a:spLocks noGrp="1"/>
          </p:cNvSpPr>
          <p:nvPr>
            <p:ph type="title"/>
          </p:nvPr>
        </p:nvSpPr>
        <p:spPr/>
        <p:txBody>
          <a:bodyPr>
            <a:noAutofit/>
          </a:bodyPr>
          <a:lstStyle/>
          <a:p>
            <a:r>
              <a:rPr lang="en-US" sz="40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Are There Different Types of Down Syndrome?</a:t>
            </a:r>
            <a:br>
              <a:rPr lang="en-US" sz="4000" dirty="0">
                <a:effectLst/>
                <a:latin typeface="Times New Roman" panose="02020603050405020304" pitchFamily="18" charset="0"/>
                <a:ea typeface="Calibri" panose="020F0502020204030204" pitchFamily="34" charset="0"/>
                <a:cs typeface="Times New Roman" panose="02020603050405020304" pitchFamily="18" charset="0"/>
              </a:rPr>
            </a:br>
            <a:endParaRPr lang="ar-SA" sz="4000" dirty="0">
              <a:latin typeface="Times New Roman" panose="02020603050405020304" pitchFamily="18" charset="0"/>
              <a:cs typeface="Times New Roman" panose="02020603050405020304" pitchFamily="18" charset="0"/>
            </a:endParaRPr>
          </a:p>
        </p:txBody>
      </p:sp>
      <p:sp>
        <p:nvSpPr>
          <p:cNvPr id="6" name="عنصر نائب للمحتوى 5">
            <a:extLst>
              <a:ext uri="{FF2B5EF4-FFF2-40B4-BE49-F238E27FC236}">
                <a16:creationId xmlns:a16="http://schemas.microsoft.com/office/drawing/2014/main" id="{B16FA979-0340-418B-A8D6-A79569A8E2FD}"/>
              </a:ext>
            </a:extLst>
          </p:cNvPr>
          <p:cNvSpPr>
            <a:spLocks noGrp="1"/>
          </p:cNvSpPr>
          <p:nvPr>
            <p:ph idx="1"/>
          </p:nvPr>
        </p:nvSpPr>
        <p:spPr>
          <a:effectLst>
            <a:reflection stA="61000" endPos="65000" dist="50800" dir="5400000" sy="-100000" algn="bl" rotWithShape="0"/>
          </a:effectLst>
        </p:spPr>
        <p:txBody>
          <a:bodyPr/>
          <a:lstStyle/>
          <a:p>
            <a:pPr algn="l" rtl="0">
              <a:lnSpc>
                <a:spcPct val="107000"/>
              </a:lnSpc>
              <a:spcAft>
                <a:spcPts val="1500"/>
              </a:spcAft>
            </a:pPr>
            <a:r>
              <a:rPr lang="en-US" sz="1800" b="1" dirty="0">
                <a:solidFill>
                  <a:srgbClr val="333333"/>
                </a:solidFill>
                <a:effectLst/>
                <a:latin typeface="&amp;quot"/>
                <a:ea typeface="Times New Roman" panose="02020603050405020304" pitchFamily="18" charset="0"/>
                <a:cs typeface="Times New Roman" panose="02020603050405020304" pitchFamily="18" charset="0"/>
              </a:rPr>
              <a:t>TRISOMY 21 (NONDISJUNCTION) </a:t>
            </a:r>
          </a:p>
          <a:p>
            <a:pPr algn="l" rtl="0">
              <a:lnSpc>
                <a:spcPct val="107000"/>
              </a:lnSpc>
              <a:spcAft>
                <a:spcPts val="1500"/>
              </a:spcAft>
            </a:pPr>
            <a:r>
              <a:rPr lang="en-US" dirty="0">
                <a:solidFill>
                  <a:srgbClr val="333333"/>
                </a:solidFill>
                <a:effectLst/>
                <a:latin typeface="&amp;quot"/>
                <a:ea typeface="Times New Roman" panose="02020603050405020304" pitchFamily="18" charset="0"/>
              </a:rPr>
              <a:t>this is the most common type, as it is detected in about 95% of individuals with Down syndrome.  It indicates that all the cells have an extra chromosome 21.  The most common error is maternal nondisjunction in the first meiotic division, with meiosis I errors occurring 3 times as frequently as meiosis II errors.  The remaining causes are paternal in origin, and meiosis II errors predominate.</a:t>
            </a:r>
          </a:p>
          <a:p>
            <a:pPr algn="l" rtl="0">
              <a:lnSpc>
                <a:spcPct val="107000"/>
              </a:lnSpc>
              <a:spcAft>
                <a:spcPts val="1500"/>
              </a:spcAft>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l" rtl="0"/>
            <a:endParaRPr lang="ar-SA" dirty="0"/>
          </a:p>
        </p:txBody>
      </p:sp>
      <p:pic>
        <p:nvPicPr>
          <p:cNvPr id="8" name="صورة 7">
            <a:extLst>
              <a:ext uri="{FF2B5EF4-FFF2-40B4-BE49-F238E27FC236}">
                <a16:creationId xmlns:a16="http://schemas.microsoft.com/office/drawing/2014/main" id="{3C186F1D-4D9C-452C-8FF0-017A5C336F3E}"/>
              </a:ext>
            </a:extLst>
          </p:cNvPr>
          <p:cNvPicPr/>
          <p:nvPr/>
        </p:nvPicPr>
        <p:blipFill>
          <a:blip r:embed="rId2">
            <a:duotone>
              <a:schemeClr val="accent3">
                <a:shade val="45000"/>
                <a:satMod val="135000"/>
              </a:schemeClr>
              <a:prstClr val="white"/>
            </a:duotone>
            <a:extLst>
              <a:ext uri="{BEBA8EAE-BF5A-486C-A8C5-ECC9F3942E4B}">
                <a14:imgProps xmlns:a14="http://schemas.microsoft.com/office/drawing/2010/main">
                  <a14:imgLayer r:embed="rId3">
                    <a14:imgEffect>
                      <a14:colorTemperature colorTemp="7301"/>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8699181" y="1214845"/>
            <a:ext cx="2657475" cy="1953624"/>
          </a:xfrm>
          <a:prstGeom prst="rect">
            <a:avLst/>
          </a:prstGeom>
          <a:noFill/>
          <a:ln>
            <a:noFill/>
          </a:ln>
          <a:effectLst>
            <a:reflection stA="52000" endPos="17000" dir="5400000" sy="-100000" algn="bl" rotWithShape="0"/>
            <a:softEdge rad="0"/>
          </a:effectLst>
        </p:spPr>
      </p:pic>
    </p:spTree>
    <p:extLst>
      <p:ext uri="{BB962C8B-B14F-4D97-AF65-F5344CB8AC3E}">
        <p14:creationId xmlns:p14="http://schemas.microsoft.com/office/powerpoint/2010/main" val="1899289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صورة 4">
            <a:extLst>
              <a:ext uri="{FF2B5EF4-FFF2-40B4-BE49-F238E27FC236}">
                <a16:creationId xmlns:a16="http://schemas.microsoft.com/office/drawing/2014/main" id="{67C748FA-2BFE-4150-B06F-D158C622F7D9}"/>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7914729" y="687841"/>
            <a:ext cx="2981868" cy="2225176"/>
          </a:xfrm>
          <a:prstGeom prst="rect">
            <a:avLst/>
          </a:prstGeom>
          <a:noFill/>
          <a:ln>
            <a:noFill/>
          </a:ln>
        </p:spPr>
      </p:pic>
      <p:sp>
        <p:nvSpPr>
          <p:cNvPr id="4" name="عنوان 3">
            <a:extLst>
              <a:ext uri="{FF2B5EF4-FFF2-40B4-BE49-F238E27FC236}">
                <a16:creationId xmlns:a16="http://schemas.microsoft.com/office/drawing/2014/main" id="{027E3290-E1C8-41DA-930D-38160FDE2B05}"/>
              </a:ext>
            </a:extLst>
          </p:cNvPr>
          <p:cNvSpPr>
            <a:spLocks noGrp="1"/>
          </p:cNvSpPr>
          <p:nvPr>
            <p:ph type="title"/>
          </p:nvPr>
        </p:nvSpPr>
        <p:spPr/>
        <p:txBody>
          <a:bodyPr>
            <a:normAutofit/>
          </a:bodyPr>
          <a:lstStyle/>
          <a:p>
            <a:pPr algn="l" rtl="0">
              <a:lnSpc>
                <a:spcPct val="107000"/>
              </a:lnSpc>
              <a:spcAft>
                <a:spcPts val="1500"/>
              </a:spcAft>
            </a:pPr>
            <a:r>
              <a:rPr lang="en-US" sz="6600" dirty="0">
                <a:latin typeface="Times New Roman" panose="02020603050405020304" pitchFamily="18" charset="0"/>
                <a:cs typeface="Times New Roman" panose="02020603050405020304" pitchFamily="18" charset="0"/>
              </a:rPr>
              <a:t>Other type:</a:t>
            </a:r>
            <a:endParaRPr lang="ar-SA" sz="6600" dirty="0">
              <a:latin typeface="Times New Roman" panose="02020603050405020304" pitchFamily="18" charset="0"/>
              <a:cs typeface="Times New Roman" panose="02020603050405020304" pitchFamily="18" charset="0"/>
            </a:endParaRPr>
          </a:p>
        </p:txBody>
      </p:sp>
      <p:sp>
        <p:nvSpPr>
          <p:cNvPr id="6" name="عنصر نائب للمحتوى 5">
            <a:extLst>
              <a:ext uri="{FF2B5EF4-FFF2-40B4-BE49-F238E27FC236}">
                <a16:creationId xmlns:a16="http://schemas.microsoft.com/office/drawing/2014/main" id="{4881221C-AF0B-470F-925F-654FD0960C7B}"/>
              </a:ext>
            </a:extLst>
          </p:cNvPr>
          <p:cNvSpPr>
            <a:spLocks noGrp="1"/>
          </p:cNvSpPr>
          <p:nvPr>
            <p:ph idx="1"/>
          </p:nvPr>
        </p:nvSpPr>
        <p:spPr/>
        <p:txBody>
          <a:bodyPr>
            <a:normAutofit/>
          </a:bodyPr>
          <a:lstStyle/>
          <a:p>
            <a:pPr algn="l" rtl="0">
              <a:buFont typeface="Wingdings" panose="05000000000000000000" pitchFamily="2" charset="2"/>
              <a:buChar char="§"/>
            </a:pPr>
            <a:r>
              <a:rPr lang="en-US" sz="24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MOSAICISM</a:t>
            </a:r>
            <a:br>
              <a:rPr lang="en-US" sz="2400" dirty="0">
                <a:effectLst/>
                <a:latin typeface="Times New Roman" panose="02020603050405020304" pitchFamily="18" charset="0"/>
                <a:ea typeface="Calibri" panose="020F0502020204030204" pitchFamily="34" charset="0"/>
                <a:cs typeface="Times New Roman" panose="02020603050405020304" pitchFamily="18" charset="0"/>
              </a:rPr>
            </a:br>
            <a:r>
              <a:rPr lang="en-US" sz="2200" dirty="0" err="1">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Mosaicism</a:t>
            </a:r>
            <a:r>
              <a:rPr lang="en-US" sz="22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(or mosaic Down syndrome) is diagnosed when there is a mixture of two types of cells, some containing the usual 46 chromosomes and some containing 47. Those cells with 47 chromosomes contain an extra chromosome 21.</a:t>
            </a:r>
            <a:br>
              <a:rPr lang="en-US" sz="2200" dirty="0">
                <a:effectLst/>
                <a:latin typeface="Times New Roman" panose="02020603050405020304" pitchFamily="18" charset="0"/>
                <a:ea typeface="Calibri" panose="020F0502020204030204" pitchFamily="34" charset="0"/>
                <a:cs typeface="Times New Roman" panose="02020603050405020304" pitchFamily="18" charset="0"/>
              </a:rPr>
            </a:br>
            <a:endParaRPr lang="ar-SA" sz="2200" dirty="0">
              <a:latin typeface="Times New Roman" panose="02020603050405020304" pitchFamily="18" charset="0"/>
              <a:cs typeface="Times New Roman" panose="02020603050405020304" pitchFamily="18" charset="0"/>
            </a:endParaRPr>
          </a:p>
          <a:p>
            <a:pPr algn="l" rtl="0">
              <a:buFont typeface="Wingdings" panose="05000000000000000000" pitchFamily="2" charset="2"/>
              <a:buChar char="§"/>
            </a:pPr>
            <a:r>
              <a:rPr lang="en-US" dirty="0"/>
              <a:t>affecting 1-2% of individuals with Down syndrome, by which individuals have 2 cell lines; one is normal and one is trisomy 21</a:t>
            </a:r>
            <a:endParaRPr lang="ar-SA" dirty="0"/>
          </a:p>
        </p:txBody>
      </p:sp>
    </p:spTree>
    <p:extLst>
      <p:ext uri="{BB962C8B-B14F-4D97-AF65-F5344CB8AC3E}">
        <p14:creationId xmlns:p14="http://schemas.microsoft.com/office/powerpoint/2010/main" val="351109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0EF3C311-E579-4DAE-B51E-1EA35AA01AED}"/>
              </a:ext>
            </a:extLst>
          </p:cNvPr>
          <p:cNvSpPr>
            <a:spLocks noGrp="1"/>
          </p:cNvSpPr>
          <p:nvPr>
            <p:ph type="title"/>
          </p:nvPr>
        </p:nvSpPr>
        <p:spPr/>
        <p:txBody>
          <a:bodyPr>
            <a:normAutofit fontScale="90000"/>
          </a:bodyPr>
          <a:lstStyle/>
          <a:p>
            <a:r>
              <a:rPr lang="en-US" sz="40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TRANSLOCATION</a:t>
            </a:r>
            <a:br>
              <a:rPr lang="en-US" sz="1800" dirty="0">
                <a:effectLst/>
                <a:latin typeface="Times New Roman" panose="02020603050405020304" pitchFamily="18" charset="0"/>
                <a:ea typeface="Calibri" panose="020F0502020204030204" pitchFamily="34" charset="0"/>
                <a:cs typeface="Times New Roman" panose="02020603050405020304" pitchFamily="18" charset="0"/>
              </a:rPr>
            </a:br>
            <a:endParaRPr lang="ar-SA" dirty="0">
              <a:latin typeface="Times New Roman" panose="02020603050405020304" pitchFamily="18" charset="0"/>
              <a:cs typeface="Times New Roman" panose="02020603050405020304" pitchFamily="18" charset="0"/>
            </a:endParaRPr>
          </a:p>
        </p:txBody>
      </p:sp>
      <p:sp>
        <p:nvSpPr>
          <p:cNvPr id="3" name="عنصر نائب للمحتوى 2">
            <a:extLst>
              <a:ext uri="{FF2B5EF4-FFF2-40B4-BE49-F238E27FC236}">
                <a16:creationId xmlns:a16="http://schemas.microsoft.com/office/drawing/2014/main" id="{9308DC00-8A8D-4993-81A0-C4C89FA3112D}"/>
              </a:ext>
            </a:extLst>
          </p:cNvPr>
          <p:cNvSpPr>
            <a:spLocks noGrp="1"/>
          </p:cNvSpPr>
          <p:nvPr>
            <p:ph idx="1"/>
          </p:nvPr>
        </p:nvSpPr>
        <p:spPr/>
        <p:txBody>
          <a:bodyPr/>
          <a:lstStyle/>
          <a:p>
            <a:pPr algn="l" rtl="0"/>
            <a:r>
              <a:rPr lang="en-US" sz="2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In translocation, which accounts for about 4% of cases of Down syndrome, the total number of chromosomes in the cells remains 46; however, an additional full or partial copy of chromosome 21 attaches to another chromosome, usually chromosome 14. The presence of the extra full or partial chromosome 21 causes the characteristics of Down syndrome.</a:t>
            </a:r>
            <a:endParaRPr lang="en-US" sz="2800" dirty="0">
              <a:effectLst/>
              <a:latin typeface="Times New Roman" panose="02020603050405020304" pitchFamily="18" charset="0"/>
              <a:ea typeface="Calibri" panose="020F0502020204030204" pitchFamily="34" charset="0"/>
              <a:cs typeface="Times New Roman" panose="02020603050405020304" pitchFamily="18" charset="0"/>
            </a:endParaRPr>
          </a:p>
          <a:p>
            <a:pPr algn="l" rtl="0"/>
            <a:endParaRPr lang="ar-SA" dirty="0"/>
          </a:p>
        </p:txBody>
      </p:sp>
    </p:spTree>
    <p:extLst>
      <p:ext uri="{BB962C8B-B14F-4D97-AF65-F5344CB8AC3E}">
        <p14:creationId xmlns:p14="http://schemas.microsoft.com/office/powerpoint/2010/main" val="2804056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8026E5E0-4862-4915-9AE2-73DF15456E9F}"/>
              </a:ext>
            </a:extLst>
          </p:cNvPr>
          <p:cNvSpPr>
            <a:spLocks noGrp="1"/>
          </p:cNvSpPr>
          <p:nvPr>
            <p:ph type="title"/>
          </p:nvPr>
        </p:nvSpPr>
        <p:spPr/>
        <p:txBody>
          <a:bodyPr>
            <a:noAutofit/>
          </a:bodyPr>
          <a:lstStyle/>
          <a:p>
            <a:r>
              <a:rPr lang="en-US" sz="40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What Causes Down Syndrome?</a:t>
            </a:r>
            <a:br>
              <a:rPr lang="en-US" sz="4000" dirty="0">
                <a:effectLst/>
                <a:latin typeface="Times New Roman" panose="02020603050405020304" pitchFamily="18" charset="0"/>
                <a:ea typeface="Calibri" panose="020F0502020204030204" pitchFamily="34" charset="0"/>
                <a:cs typeface="Times New Roman" panose="02020603050405020304" pitchFamily="18" charset="0"/>
              </a:rPr>
            </a:br>
            <a:endParaRPr lang="ar-SA" sz="4000" dirty="0">
              <a:latin typeface="Times New Roman" panose="02020603050405020304" pitchFamily="18" charset="0"/>
              <a:cs typeface="Times New Roman" panose="02020603050405020304" pitchFamily="18" charset="0"/>
            </a:endParaRPr>
          </a:p>
        </p:txBody>
      </p:sp>
      <p:sp>
        <p:nvSpPr>
          <p:cNvPr id="3" name="عنصر نائب للمحتوى 2">
            <a:extLst>
              <a:ext uri="{FF2B5EF4-FFF2-40B4-BE49-F238E27FC236}">
                <a16:creationId xmlns:a16="http://schemas.microsoft.com/office/drawing/2014/main" id="{98C7DFA8-E830-4735-810E-489D36A4F406}"/>
              </a:ext>
            </a:extLst>
          </p:cNvPr>
          <p:cNvSpPr>
            <a:spLocks noGrp="1"/>
          </p:cNvSpPr>
          <p:nvPr>
            <p:ph idx="1"/>
          </p:nvPr>
        </p:nvSpPr>
        <p:spPr/>
        <p:txBody>
          <a:bodyPr/>
          <a:lstStyle/>
          <a:p>
            <a:pPr algn="l" rtl="0"/>
            <a:r>
              <a:rPr lang="en-US" sz="1800" dirty="0">
                <a:solidFill>
                  <a:srgbClr val="333333"/>
                </a:solidFill>
                <a:effectLst/>
                <a:latin typeface="&amp;quot"/>
                <a:ea typeface="Times New Roman" panose="02020603050405020304" pitchFamily="18" charset="0"/>
                <a:cs typeface="Times New Roman" panose="02020603050405020304" pitchFamily="18" charset="0"/>
              </a:rPr>
              <a:t>Maternal age is the only factor that has been linked to an increased chance of having a baby with Down syndrome resulting from nondisjunction or mosaicism.</a:t>
            </a:r>
          </a:p>
          <a:p>
            <a:pPr algn="l" rtl="0"/>
            <a:r>
              <a:rPr lang="en-US" sz="1800" dirty="0">
                <a:solidFill>
                  <a:srgbClr val="333333"/>
                </a:solidFill>
                <a:effectLst/>
                <a:latin typeface="&amp;quot"/>
                <a:ea typeface="Times New Roman" panose="02020603050405020304" pitchFamily="18" charset="0"/>
                <a:cs typeface="Times New Roman" panose="02020603050405020304" pitchFamily="18" charset="0"/>
              </a:rPr>
              <a:t>80% of children with Down syndrome are born to women under 35 years of age.</a:t>
            </a:r>
          </a:p>
          <a:p>
            <a:pPr algn="l" rtl="0"/>
            <a:r>
              <a:rPr lang="en-US" sz="1800" dirty="0">
                <a:solidFill>
                  <a:srgbClr val="333333"/>
                </a:solidFill>
                <a:effectLst/>
                <a:latin typeface="&amp;quot"/>
                <a:ea typeface="Times New Roman" panose="02020603050405020304" pitchFamily="18" charset="0"/>
                <a:cs typeface="Times New Roman" panose="02020603050405020304" pitchFamily="18" charset="0"/>
              </a:rPr>
              <a:t>There is no definitive scientific research that indicates that Down syndrome is caused by environmental factors or the parents’ activities before or during pregnancy.</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l" rtl="0"/>
            <a:r>
              <a:rPr lang="en-US" sz="1800" dirty="0">
                <a:solidFill>
                  <a:srgbClr val="333333"/>
                </a:solidFill>
                <a:effectLst/>
                <a:latin typeface="&amp;quot"/>
                <a:ea typeface="Times New Roman" panose="02020603050405020304" pitchFamily="18" charset="0"/>
                <a:cs typeface="Times New Roman" panose="02020603050405020304" pitchFamily="18" charset="0"/>
              </a:rPr>
              <a:t>can originate from either the father or the mother. Approximately 5% of the cases have been traced to the father.</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l" rtl="0"/>
            <a:endParaRPr lang="ar-SA" dirty="0"/>
          </a:p>
        </p:txBody>
      </p:sp>
    </p:spTree>
    <p:extLst>
      <p:ext uri="{BB962C8B-B14F-4D97-AF65-F5344CB8AC3E}">
        <p14:creationId xmlns:p14="http://schemas.microsoft.com/office/powerpoint/2010/main" val="2584258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550E3F0A-89E8-4A0B-AAA9-3B0FBE696002}"/>
              </a:ext>
            </a:extLst>
          </p:cNvPr>
          <p:cNvSpPr>
            <a:spLocks noGrp="1"/>
          </p:cNvSpPr>
          <p:nvPr>
            <p:ph type="title"/>
          </p:nvPr>
        </p:nvSpPr>
        <p:spPr/>
        <p:txBody>
          <a:bodyPr/>
          <a:lstStyle/>
          <a:p>
            <a:r>
              <a:rPr lang="en-US" b="0" i="0" u="none" strike="noStrike" dirty="0">
                <a:solidFill>
                  <a:srgbClr val="000000"/>
                </a:solidFill>
                <a:effectLst/>
                <a:latin typeface="Times New Roman" panose="02020603050405020304" pitchFamily="18" charset="0"/>
              </a:rPr>
              <a:t>Signs And Symptoms</a:t>
            </a:r>
            <a:endParaRPr lang="ar-SA" dirty="0"/>
          </a:p>
        </p:txBody>
      </p:sp>
      <p:sp>
        <p:nvSpPr>
          <p:cNvPr id="3" name="عنصر نائب للمحتوى 2">
            <a:extLst>
              <a:ext uri="{FF2B5EF4-FFF2-40B4-BE49-F238E27FC236}">
                <a16:creationId xmlns:a16="http://schemas.microsoft.com/office/drawing/2014/main" id="{9DCA49AF-CD27-40CC-B314-FE4F2A7FC312}"/>
              </a:ext>
            </a:extLst>
          </p:cNvPr>
          <p:cNvSpPr>
            <a:spLocks noGrp="1"/>
          </p:cNvSpPr>
          <p:nvPr>
            <p:ph sz="half" idx="1"/>
          </p:nvPr>
        </p:nvSpPr>
        <p:spPr/>
        <p:txBody>
          <a:bodyPr>
            <a:normAutofit fontScale="92500" lnSpcReduction="10000"/>
          </a:bodyPr>
          <a:lstStyle/>
          <a:p>
            <a:pPr algn="l" rtl="0"/>
            <a:r>
              <a:rPr lang="en-US" b="0" i="0" u="none" strike="noStrike" dirty="0">
                <a:solidFill>
                  <a:srgbClr val="000000"/>
                </a:solidFill>
                <a:effectLst/>
                <a:latin typeface="Times New Roman" panose="02020603050405020304" pitchFamily="18" charset="0"/>
              </a:rPr>
              <a:t>Flat appearing face.</a:t>
            </a:r>
          </a:p>
          <a:p>
            <a:pPr algn="l" rtl="0"/>
            <a:r>
              <a:rPr lang="en-US" b="0" i="0" u="none" strike="noStrike" dirty="0">
                <a:solidFill>
                  <a:srgbClr val="000000"/>
                </a:solidFill>
                <a:effectLst/>
                <a:latin typeface="Times New Roman" panose="02020603050405020304" pitchFamily="18" charset="0"/>
              </a:rPr>
              <a:t>Small head.  </a:t>
            </a:r>
          </a:p>
          <a:p>
            <a:pPr algn="l" rtl="0"/>
            <a:r>
              <a:rPr lang="en-US" b="0" i="0" u="none" strike="noStrike" dirty="0">
                <a:solidFill>
                  <a:srgbClr val="000000"/>
                </a:solidFill>
                <a:effectLst/>
                <a:latin typeface="Times New Roman" panose="02020603050405020304" pitchFamily="18" charset="0"/>
              </a:rPr>
              <a:t>Small mouth, which causes the tongue to stick out and to appear overly large. </a:t>
            </a:r>
          </a:p>
          <a:p>
            <a:pPr algn="l" rtl="0"/>
            <a:r>
              <a:rPr lang="en-US" b="0" i="0" u="none" strike="noStrike" dirty="0">
                <a:solidFill>
                  <a:srgbClr val="000000"/>
                </a:solidFill>
                <a:effectLst/>
                <a:latin typeface="Times New Roman" panose="02020603050405020304" pitchFamily="18" charset="0"/>
              </a:rPr>
              <a:t>Upward slanting eyes.  </a:t>
            </a:r>
          </a:p>
          <a:p>
            <a:pPr algn="l" rtl="0"/>
            <a:r>
              <a:rPr lang="en-US" b="0" i="0" u="none" strike="noStrike" dirty="0">
                <a:solidFill>
                  <a:srgbClr val="000000"/>
                </a:solidFill>
                <a:effectLst/>
                <a:latin typeface="Times New Roman" panose="02020603050405020304" pitchFamily="18" charset="0"/>
              </a:rPr>
              <a:t>Rounded cheeks.  </a:t>
            </a:r>
          </a:p>
          <a:p>
            <a:pPr algn="l" rtl="0"/>
            <a:r>
              <a:rPr lang="en-US" b="0" i="0" u="none" strike="noStrike" dirty="0">
                <a:solidFill>
                  <a:srgbClr val="000000"/>
                </a:solidFill>
                <a:effectLst/>
                <a:latin typeface="Times New Roman" panose="02020603050405020304" pitchFamily="18" charset="0"/>
              </a:rPr>
              <a:t>Weak, Floppy muscles(hypotonia)</a:t>
            </a:r>
            <a:endParaRPr lang="ar-SA" dirty="0"/>
          </a:p>
        </p:txBody>
      </p:sp>
      <p:pic>
        <p:nvPicPr>
          <p:cNvPr id="10" name="عنصر نائب للمحتوى 9" descr="Signs And Symptoms&#10; Flat appearing face&#10; Small head.&#10; Small mouth, which causes&#10;&#10;the tongue to stick out and&#10;to appear ...">
            <a:extLst>
              <a:ext uri="{FF2B5EF4-FFF2-40B4-BE49-F238E27FC236}">
                <a16:creationId xmlns:a16="http://schemas.microsoft.com/office/drawing/2014/main" id="{D0223211-0ACC-4923-8BF0-03B69AC1C0B7}"/>
              </a:ext>
            </a:extLst>
          </p:cNvPr>
          <p:cNvPicPr>
            <a:picLocks noGrp="1"/>
          </p:cNvPicPr>
          <p:nvPr>
            <p:ph sz="half" idx="2"/>
          </p:nvPr>
        </p:nvPicPr>
        <p:blipFill rotWithShape="1">
          <a:blip r:embed="rId2">
            <a:extLst>
              <a:ext uri="{28A0092B-C50C-407E-A947-70E740481C1C}">
                <a14:useLocalDpi xmlns:a14="http://schemas.microsoft.com/office/drawing/2010/main" val="0"/>
              </a:ext>
            </a:extLst>
          </a:blip>
          <a:srcRect l="61075" t="31836" r="6979" b="15966"/>
          <a:stretch/>
        </p:blipFill>
        <p:spPr bwMode="auto">
          <a:xfrm>
            <a:off x="7014753" y="2698787"/>
            <a:ext cx="3553098" cy="3406792"/>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53640926-AAD7-44D8-BBD7-CCE9431645EC}">
              <a14:shadowObscured xmlns:a14="http://schemas.microsoft.com/office/drawing/2010/main"/>
            </a:ext>
          </a:extLst>
        </p:spPr>
      </p:pic>
    </p:spTree>
    <p:extLst>
      <p:ext uri="{BB962C8B-B14F-4D97-AF65-F5344CB8AC3E}">
        <p14:creationId xmlns:p14="http://schemas.microsoft.com/office/powerpoint/2010/main" val="1992738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وان 3">
            <a:extLst>
              <a:ext uri="{FF2B5EF4-FFF2-40B4-BE49-F238E27FC236}">
                <a16:creationId xmlns:a16="http://schemas.microsoft.com/office/drawing/2014/main" id="{38208185-0C69-4FC9-8CA3-D16DCC16861E}"/>
              </a:ext>
            </a:extLst>
          </p:cNvPr>
          <p:cNvSpPr>
            <a:spLocks noGrp="1"/>
          </p:cNvSpPr>
          <p:nvPr>
            <p:ph type="title"/>
          </p:nvPr>
        </p:nvSpPr>
        <p:spPr/>
        <p:txBody>
          <a:bodyPr/>
          <a:lstStyle/>
          <a:p>
            <a:pPr rtl="0"/>
            <a:r>
              <a:rPr lang="en-US" b="0" i="0" u="none" strike="noStrike" dirty="0">
                <a:solidFill>
                  <a:srgbClr val="000000"/>
                </a:solidFill>
                <a:effectLst/>
                <a:latin typeface="Times New Roman" panose="02020603050405020304" pitchFamily="18" charset="0"/>
              </a:rPr>
              <a:t>Signs And Symptoms</a:t>
            </a:r>
            <a:endParaRPr lang="ar-SA" dirty="0"/>
          </a:p>
        </p:txBody>
      </p:sp>
      <p:pic>
        <p:nvPicPr>
          <p:cNvPr id="7" name="عنصر نائب للمحتوى 6">
            <a:extLst>
              <a:ext uri="{FF2B5EF4-FFF2-40B4-BE49-F238E27FC236}">
                <a16:creationId xmlns:a16="http://schemas.microsoft.com/office/drawing/2014/main" id="{F9420AF3-48AE-49FD-B7FF-A0133B6C256B}"/>
              </a:ext>
            </a:extLst>
          </p:cNvPr>
          <p:cNvPicPr>
            <a:picLocks noGrp="1" noChangeAspect="1"/>
          </p:cNvPicPr>
          <p:nvPr>
            <p:ph sz="half" idx="1"/>
          </p:nvPr>
        </p:nvPicPr>
        <p:blipFill>
          <a:blip r:embed="rId2"/>
          <a:stretch>
            <a:fillRect/>
          </a:stretch>
        </p:blipFill>
        <p:spPr>
          <a:xfrm>
            <a:off x="1292351" y="2560321"/>
            <a:ext cx="2900825" cy="3310128"/>
          </a:xfrm>
          <a:prstGeom prst="rect">
            <a:avLst/>
          </a:prstGeom>
        </p:spPr>
      </p:pic>
      <p:sp>
        <p:nvSpPr>
          <p:cNvPr id="6" name="عنصر نائب للمحتوى 5">
            <a:extLst>
              <a:ext uri="{FF2B5EF4-FFF2-40B4-BE49-F238E27FC236}">
                <a16:creationId xmlns:a16="http://schemas.microsoft.com/office/drawing/2014/main" id="{3823ACD5-888C-4000-8523-EA3AA1767AA9}"/>
              </a:ext>
            </a:extLst>
          </p:cNvPr>
          <p:cNvSpPr>
            <a:spLocks noGrp="1"/>
          </p:cNvSpPr>
          <p:nvPr>
            <p:ph sz="half" idx="2"/>
          </p:nvPr>
        </p:nvSpPr>
        <p:spPr>
          <a:xfrm>
            <a:off x="4193177" y="2560320"/>
            <a:ext cx="6706472" cy="3310128"/>
          </a:xfrm>
        </p:spPr>
        <p:txBody>
          <a:bodyPr>
            <a:normAutofit fontScale="85000" lnSpcReduction="20000"/>
          </a:bodyPr>
          <a:lstStyle/>
          <a:p>
            <a:pPr algn="l" rtl="0"/>
            <a:r>
              <a:rPr lang="en-US" b="0" i="0" u="none" strike="noStrike" dirty="0">
                <a:solidFill>
                  <a:srgbClr val="000000"/>
                </a:solidFill>
                <a:effectLst/>
                <a:latin typeface="Times New Roman" panose="02020603050405020304" pitchFamily="18" charset="0"/>
              </a:rPr>
              <a:t>Small, misshapen ears.  </a:t>
            </a:r>
          </a:p>
          <a:p>
            <a:pPr algn="l" rtl="0"/>
            <a:r>
              <a:rPr lang="en-US" b="0" i="0" u="none" strike="noStrike" dirty="0">
                <a:solidFill>
                  <a:srgbClr val="000000"/>
                </a:solidFill>
                <a:effectLst/>
                <a:latin typeface="Times New Roman" panose="02020603050405020304" pitchFamily="18" charset="0"/>
              </a:rPr>
              <a:t>Small, wide hands.  </a:t>
            </a:r>
          </a:p>
          <a:p>
            <a:pPr algn="l" rtl="0"/>
            <a:r>
              <a:rPr lang="en-US" b="0" i="0" u="none" strike="noStrike" dirty="0">
                <a:solidFill>
                  <a:srgbClr val="000000"/>
                </a:solidFill>
                <a:effectLst/>
                <a:latin typeface="Times New Roman" panose="02020603050405020304" pitchFamily="18" charset="0"/>
              </a:rPr>
              <a:t>An unusual, deep crease across the center of the palm (called a Simian Crease).  </a:t>
            </a:r>
          </a:p>
          <a:p>
            <a:pPr algn="l" rtl="0"/>
            <a:r>
              <a:rPr lang="en-US" b="0" i="0" u="none" strike="noStrike" dirty="0">
                <a:solidFill>
                  <a:srgbClr val="000000"/>
                </a:solidFill>
                <a:effectLst/>
                <a:latin typeface="Times New Roman" panose="02020603050405020304" pitchFamily="18" charset="0"/>
              </a:rPr>
              <a:t>A malformed fifth finger.  , </a:t>
            </a:r>
          </a:p>
          <a:p>
            <a:pPr algn="l" rtl="0"/>
            <a:r>
              <a:rPr lang="en-US" b="0" i="0" u="none" strike="noStrike" dirty="0">
                <a:solidFill>
                  <a:srgbClr val="000000"/>
                </a:solidFill>
                <a:effectLst/>
                <a:latin typeface="Times New Roman" panose="02020603050405020304" pitchFamily="18" charset="0"/>
              </a:rPr>
              <a:t>A wide space between the big and the second toes.  </a:t>
            </a:r>
          </a:p>
          <a:p>
            <a:pPr algn="l" rtl="0"/>
            <a:r>
              <a:rPr lang="en-US" b="0" i="0" u="none" strike="noStrike" dirty="0">
                <a:solidFill>
                  <a:srgbClr val="000000"/>
                </a:solidFill>
                <a:effectLst/>
                <a:latin typeface="Times New Roman" panose="02020603050405020304" pitchFamily="18" charset="0"/>
              </a:rPr>
              <a:t>Unusual creases on the soles of the feet Overly flexible joints.  </a:t>
            </a:r>
          </a:p>
          <a:p>
            <a:pPr algn="l" rtl="0"/>
            <a:r>
              <a:rPr lang="en-US" b="0" i="0" u="none" strike="noStrike" dirty="0">
                <a:solidFill>
                  <a:srgbClr val="000000"/>
                </a:solidFill>
                <a:effectLst/>
                <a:latin typeface="Times New Roman" panose="02020603050405020304" pitchFamily="18" charset="0"/>
              </a:rPr>
              <a:t>Shorter than normal height.</a:t>
            </a:r>
            <a:endParaRPr lang="ar-SA" dirty="0"/>
          </a:p>
        </p:txBody>
      </p:sp>
    </p:spTree>
    <p:extLst>
      <p:ext uri="{BB962C8B-B14F-4D97-AF65-F5344CB8AC3E}">
        <p14:creationId xmlns:p14="http://schemas.microsoft.com/office/powerpoint/2010/main" val="1849165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عنوان 4">
            <a:extLst>
              <a:ext uri="{FF2B5EF4-FFF2-40B4-BE49-F238E27FC236}">
                <a16:creationId xmlns:a16="http://schemas.microsoft.com/office/drawing/2014/main" id="{68159878-70B5-445C-811C-BB6C19A579A9}"/>
              </a:ext>
            </a:extLst>
          </p:cNvPr>
          <p:cNvSpPr>
            <a:spLocks noGrp="1"/>
          </p:cNvSpPr>
          <p:nvPr>
            <p:ph type="title"/>
          </p:nvPr>
        </p:nvSpPr>
        <p:spPr/>
        <p:txBody>
          <a:bodyPr/>
          <a:lstStyle/>
          <a:p>
            <a:pPr rtl="0"/>
            <a:r>
              <a:rPr lang="en-US" b="0" i="0" u="none" strike="noStrike" dirty="0">
                <a:solidFill>
                  <a:srgbClr val="000000"/>
                </a:solidFill>
                <a:effectLst/>
                <a:latin typeface="Times New Roman" panose="02020603050405020304" pitchFamily="18" charset="0"/>
              </a:rPr>
              <a:t>Other Defects</a:t>
            </a:r>
            <a:endParaRPr lang="ar-SA" dirty="0"/>
          </a:p>
        </p:txBody>
      </p:sp>
      <p:sp>
        <p:nvSpPr>
          <p:cNvPr id="6" name="عنصر نائب للمحتوى 5">
            <a:extLst>
              <a:ext uri="{FF2B5EF4-FFF2-40B4-BE49-F238E27FC236}">
                <a16:creationId xmlns:a16="http://schemas.microsoft.com/office/drawing/2014/main" id="{AB4A8FB6-ECC0-4F7B-892B-41F99CD9670D}"/>
              </a:ext>
            </a:extLst>
          </p:cNvPr>
          <p:cNvSpPr>
            <a:spLocks noGrp="1"/>
          </p:cNvSpPr>
          <p:nvPr>
            <p:ph idx="1"/>
          </p:nvPr>
        </p:nvSpPr>
        <p:spPr/>
        <p:txBody>
          <a:bodyPr>
            <a:normAutofit lnSpcReduction="10000"/>
          </a:bodyPr>
          <a:lstStyle/>
          <a:p>
            <a:pPr algn="ctr" rtl="0"/>
            <a:r>
              <a:rPr lang="en-US" sz="2800" b="1" i="0" u="none" strike="noStrike" dirty="0">
                <a:solidFill>
                  <a:srgbClr val="000000"/>
                </a:solidFill>
                <a:effectLst/>
                <a:latin typeface="Baskerville Old Face" panose="02020602080505020303" pitchFamily="18" charset="0"/>
              </a:rPr>
              <a:t>Congenital Heart Disease </a:t>
            </a:r>
          </a:p>
          <a:p>
            <a:pPr algn="l" rtl="0">
              <a:buFont typeface="Wingdings" panose="05000000000000000000" pitchFamily="2" charset="2"/>
              <a:buChar char="ü"/>
            </a:pPr>
            <a:r>
              <a:rPr lang="en-US" sz="2800" b="0" i="0" u="none" strike="noStrike" dirty="0">
                <a:solidFill>
                  <a:srgbClr val="000000"/>
                </a:solidFill>
                <a:effectLst/>
                <a:latin typeface="Times New Roman" panose="02020603050405020304" pitchFamily="18" charset="0"/>
              </a:rPr>
              <a:t>Abnormal openings (holes) in the walls that separate the heart's chambers (Atrial septal defect).</a:t>
            </a:r>
          </a:p>
          <a:p>
            <a:pPr algn="l" rtl="0">
              <a:buFont typeface="Wingdings" panose="05000000000000000000" pitchFamily="2" charset="2"/>
              <a:buChar char="ü"/>
            </a:pPr>
            <a:r>
              <a:rPr lang="en-US" sz="2800" b="0" i="0" u="none" strike="noStrike" dirty="0">
                <a:solidFill>
                  <a:srgbClr val="000000"/>
                </a:solidFill>
                <a:effectLst/>
                <a:latin typeface="Times New Roman" panose="02020603050405020304" pitchFamily="18" charset="0"/>
              </a:rPr>
              <a:t>These result in abnormal patterns of blood flow within the heart.</a:t>
            </a:r>
          </a:p>
          <a:p>
            <a:pPr algn="l" rtl="0">
              <a:buFont typeface="Wingdings" panose="05000000000000000000" pitchFamily="2" charset="2"/>
              <a:buChar char="ü"/>
            </a:pPr>
            <a:r>
              <a:rPr lang="en-US" sz="2800" b="0" i="0" u="none" strike="noStrike" dirty="0">
                <a:solidFill>
                  <a:srgbClr val="000000"/>
                </a:solidFill>
                <a:effectLst/>
                <a:latin typeface="Times New Roman" panose="02020603050405020304" pitchFamily="18" charset="0"/>
              </a:rPr>
              <a:t>The abnormal blood flow often means that less oxygen is sent into circulation throughout the body.</a:t>
            </a:r>
            <a:endParaRPr lang="ar-SA" sz="2800" dirty="0"/>
          </a:p>
        </p:txBody>
      </p:sp>
    </p:spTree>
    <p:extLst>
      <p:ext uri="{BB962C8B-B14F-4D97-AF65-F5344CB8AC3E}">
        <p14:creationId xmlns:p14="http://schemas.microsoft.com/office/powerpoint/2010/main" val="2292862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47EB442-A1D9-40D8-A4FC-D371CB27318D}"/>
              </a:ext>
            </a:extLst>
          </p:cNvPr>
          <p:cNvSpPr>
            <a:spLocks noGrp="1"/>
          </p:cNvSpPr>
          <p:nvPr>
            <p:ph type="title"/>
          </p:nvPr>
        </p:nvSpPr>
        <p:spPr/>
        <p:txBody>
          <a:bodyPr/>
          <a:lstStyle/>
          <a:p>
            <a:pPr rtl="0"/>
            <a:r>
              <a:rPr lang="en-US" b="0" i="0" u="none" strike="noStrike" dirty="0">
                <a:solidFill>
                  <a:srgbClr val="000000"/>
                </a:solidFill>
                <a:effectLst/>
                <a:latin typeface="Times New Roman" panose="02020603050405020304" pitchFamily="18" charset="0"/>
              </a:rPr>
              <a:t>Other Defects</a:t>
            </a:r>
            <a:endParaRPr lang="ar-SA" dirty="0"/>
          </a:p>
        </p:txBody>
      </p:sp>
      <p:sp>
        <p:nvSpPr>
          <p:cNvPr id="3" name="عنصر نائب للمحتوى 2">
            <a:extLst>
              <a:ext uri="{FF2B5EF4-FFF2-40B4-BE49-F238E27FC236}">
                <a16:creationId xmlns:a16="http://schemas.microsoft.com/office/drawing/2014/main" id="{E2A97644-329E-4D94-A9D6-D69EA29F6901}"/>
              </a:ext>
            </a:extLst>
          </p:cNvPr>
          <p:cNvSpPr>
            <a:spLocks noGrp="1"/>
          </p:cNvSpPr>
          <p:nvPr>
            <p:ph idx="1"/>
          </p:nvPr>
        </p:nvSpPr>
        <p:spPr/>
        <p:txBody>
          <a:bodyPr/>
          <a:lstStyle/>
          <a:p>
            <a:pPr algn="ctr" rtl="0"/>
            <a:r>
              <a:rPr lang="en-US" b="1" i="0" u="none" strike="noStrike" dirty="0">
                <a:solidFill>
                  <a:srgbClr val="000000"/>
                </a:solidFill>
                <a:effectLst/>
                <a:latin typeface="Baskerville Old Face" panose="02020602080505020303" pitchFamily="18" charset="0"/>
              </a:rPr>
              <a:t>Malformations of the Gastrointestinal </a:t>
            </a:r>
          </a:p>
          <a:p>
            <a:pPr algn="l" rtl="0">
              <a:buFont typeface="Wingdings" panose="05000000000000000000" pitchFamily="2" charset="2"/>
              <a:buChar char="§"/>
            </a:pPr>
            <a:r>
              <a:rPr lang="en-US" b="0" i="0" u="none" strike="noStrike" dirty="0">
                <a:solidFill>
                  <a:srgbClr val="000000"/>
                </a:solidFill>
                <a:effectLst/>
                <a:latin typeface="Times New Roman" panose="02020603050405020304" pitchFamily="18" charset="0"/>
              </a:rPr>
              <a:t>Tract The most common malformation is a narrowed, obstructed duodenum (the part of the intestine into which the stomach empties). </a:t>
            </a:r>
          </a:p>
          <a:p>
            <a:pPr marL="0" indent="0" algn="ctr" rtl="0">
              <a:buNone/>
            </a:pPr>
            <a:r>
              <a:rPr lang="en-US" b="1" i="0" u="none" strike="noStrike" dirty="0">
                <a:solidFill>
                  <a:srgbClr val="000000"/>
                </a:solidFill>
                <a:effectLst/>
                <a:latin typeface="Times New Roman" panose="02020603050405020304" pitchFamily="18" charset="0"/>
              </a:rPr>
              <a:t> Duodena Atresia</a:t>
            </a:r>
          </a:p>
          <a:p>
            <a:pPr algn="l" rtl="0">
              <a:buFont typeface="Wingdings" panose="05000000000000000000" pitchFamily="2" charset="2"/>
              <a:buChar char="§"/>
            </a:pPr>
            <a:r>
              <a:rPr lang="en-US" b="0" i="0" u="none" strike="noStrike" dirty="0">
                <a:solidFill>
                  <a:srgbClr val="000000"/>
                </a:solidFill>
                <a:effectLst/>
                <a:latin typeface="Times New Roman" panose="02020603050405020304" pitchFamily="18" charset="0"/>
              </a:rPr>
              <a:t> The baby often vomits forcibly after feeding and cannot gain weight appropriately until the defect is repaired</a:t>
            </a:r>
            <a:endParaRPr lang="ar-SA" dirty="0"/>
          </a:p>
        </p:txBody>
      </p:sp>
    </p:spTree>
    <p:extLst>
      <p:ext uri="{BB962C8B-B14F-4D97-AF65-F5344CB8AC3E}">
        <p14:creationId xmlns:p14="http://schemas.microsoft.com/office/powerpoint/2010/main" val="3278911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0C332ACB-7E0B-469B-8214-78E55C008E0F}"/>
              </a:ext>
            </a:extLst>
          </p:cNvPr>
          <p:cNvSpPr>
            <a:spLocks noGrp="1"/>
          </p:cNvSpPr>
          <p:nvPr>
            <p:ph type="title"/>
          </p:nvPr>
        </p:nvSpPr>
        <p:spPr/>
        <p:txBody>
          <a:bodyPr/>
          <a:lstStyle/>
          <a:p>
            <a:pPr rtl="0"/>
            <a:r>
              <a:rPr lang="en-US" b="0" i="0" u="none" strike="noStrike" dirty="0">
                <a:solidFill>
                  <a:srgbClr val="000000"/>
                </a:solidFill>
                <a:effectLst/>
                <a:latin typeface="Times New Roman" panose="02020603050405020304" pitchFamily="18" charset="0"/>
              </a:rPr>
              <a:t>Other Defects</a:t>
            </a:r>
            <a:endParaRPr lang="ar-SA" dirty="0"/>
          </a:p>
        </p:txBody>
      </p:sp>
      <p:sp>
        <p:nvSpPr>
          <p:cNvPr id="3" name="عنصر نائب للمحتوى 2">
            <a:extLst>
              <a:ext uri="{FF2B5EF4-FFF2-40B4-BE49-F238E27FC236}">
                <a16:creationId xmlns:a16="http://schemas.microsoft.com/office/drawing/2014/main" id="{760C8064-D547-4DFD-8BBE-85713F6C790E}"/>
              </a:ext>
            </a:extLst>
          </p:cNvPr>
          <p:cNvSpPr>
            <a:spLocks noGrp="1"/>
          </p:cNvSpPr>
          <p:nvPr>
            <p:ph idx="1"/>
          </p:nvPr>
        </p:nvSpPr>
        <p:spPr/>
        <p:txBody>
          <a:bodyPr>
            <a:normAutofit fontScale="85000" lnSpcReduction="20000"/>
          </a:bodyPr>
          <a:lstStyle/>
          <a:p>
            <a:pPr algn="l" rtl="0"/>
            <a:r>
              <a:rPr lang="en-US" b="0" i="0" u="none" strike="noStrike" dirty="0">
                <a:solidFill>
                  <a:srgbClr val="000000"/>
                </a:solidFill>
                <a:effectLst/>
                <a:latin typeface="Times New Roman" panose="02020603050405020304" pitchFamily="18" charset="0"/>
              </a:rPr>
              <a:t>Increased chance of developing Infections, especially ear infections and Pneumonia.</a:t>
            </a:r>
          </a:p>
          <a:p>
            <a:pPr algn="l" rtl="0"/>
            <a:r>
              <a:rPr lang="en-US" b="0" i="0" u="none" strike="noStrike" dirty="0">
                <a:solidFill>
                  <a:srgbClr val="000000"/>
                </a:solidFill>
                <a:effectLst/>
                <a:latin typeface="Times New Roman" panose="02020603050405020304" pitchFamily="18" charset="0"/>
              </a:rPr>
              <a:t>Certain Kidney disorders.</a:t>
            </a:r>
          </a:p>
          <a:p>
            <a:pPr algn="l" rtl="0"/>
            <a:r>
              <a:rPr lang="en-US" b="0" i="0" u="none" strike="noStrike" dirty="0">
                <a:solidFill>
                  <a:srgbClr val="000000"/>
                </a:solidFill>
                <a:effectLst/>
                <a:latin typeface="Times New Roman" panose="02020603050405020304" pitchFamily="18" charset="0"/>
              </a:rPr>
              <a:t>Thyroid disease (especially low or hypothyroid).</a:t>
            </a:r>
          </a:p>
          <a:p>
            <a:pPr algn="l" rtl="0"/>
            <a:r>
              <a:rPr lang="en-US" b="0" i="0" u="none" strike="noStrike" dirty="0">
                <a:solidFill>
                  <a:srgbClr val="000000"/>
                </a:solidFill>
                <a:effectLst/>
                <a:latin typeface="Times New Roman" panose="02020603050405020304" pitchFamily="18" charset="0"/>
              </a:rPr>
              <a:t>Hearing loss.  </a:t>
            </a:r>
          </a:p>
          <a:p>
            <a:pPr algn="l" rtl="0"/>
            <a:r>
              <a:rPr lang="en-US" b="0" i="0" u="none" strike="noStrike" dirty="0">
                <a:solidFill>
                  <a:srgbClr val="000000"/>
                </a:solidFill>
                <a:effectLst/>
                <a:latin typeface="Times New Roman" panose="02020603050405020304" pitchFamily="18" charset="0"/>
              </a:rPr>
              <a:t>Vision impairment that requires corrective lenses.</a:t>
            </a:r>
          </a:p>
          <a:p>
            <a:pPr algn="l" rtl="0"/>
            <a:r>
              <a:rPr lang="en-US" b="0" i="0" u="none" strike="noStrike" dirty="0">
                <a:solidFill>
                  <a:srgbClr val="000000"/>
                </a:solidFill>
                <a:effectLst/>
                <a:latin typeface="Times New Roman" panose="02020603050405020304" pitchFamily="18" charset="0"/>
              </a:rPr>
              <a:t> A 20 - times greater chance of developing Leukemia (a blood disorder).</a:t>
            </a:r>
          </a:p>
          <a:p>
            <a:pPr algn="l" rtl="0"/>
            <a:r>
              <a:rPr lang="en-US" b="0" i="0" u="none" strike="noStrike" dirty="0">
                <a:solidFill>
                  <a:srgbClr val="000000"/>
                </a:solidFill>
                <a:effectLst/>
                <a:latin typeface="Times New Roman" panose="02020603050405020304" pitchFamily="18" charset="0"/>
              </a:rPr>
              <a:t>Because of hypotonia, babies learn to sit up, crawl, and walk much later than their normal peers.  </a:t>
            </a:r>
          </a:p>
          <a:p>
            <a:pPr algn="l" rtl="0"/>
            <a:r>
              <a:rPr lang="en-US" b="0" i="0" u="none" strike="noStrike" dirty="0">
                <a:solidFill>
                  <a:srgbClr val="000000"/>
                </a:solidFill>
                <a:effectLst/>
                <a:latin typeface="Times New Roman" panose="02020603050405020304" pitchFamily="18" charset="0"/>
              </a:rPr>
              <a:t>Talking is also quite delayed</a:t>
            </a:r>
            <a:endParaRPr lang="ar-SA" dirty="0"/>
          </a:p>
        </p:txBody>
      </p:sp>
    </p:spTree>
    <p:extLst>
      <p:ext uri="{BB962C8B-B14F-4D97-AF65-F5344CB8AC3E}">
        <p14:creationId xmlns:p14="http://schemas.microsoft.com/office/powerpoint/2010/main" val="2595778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599E0EC-8F34-440E-A224-40BF3BF1FB06}"/>
              </a:ext>
            </a:extLst>
          </p:cNvPr>
          <p:cNvSpPr>
            <a:spLocks noGrp="1"/>
          </p:cNvSpPr>
          <p:nvPr>
            <p:ph type="title"/>
          </p:nvPr>
        </p:nvSpPr>
        <p:spPr/>
        <p:txBody>
          <a:bodyPr/>
          <a:lstStyle/>
          <a:p>
            <a:r>
              <a:rPr lang="en-US" b="0" i="0" u="none" strike="noStrike" dirty="0">
                <a:solidFill>
                  <a:srgbClr val="000000"/>
                </a:solidFill>
                <a:effectLst/>
                <a:latin typeface="Times New Roman" panose="02020603050405020304" pitchFamily="18" charset="0"/>
              </a:rPr>
              <a:t>Diagnosis</a:t>
            </a:r>
            <a:endParaRPr lang="ar-SA" dirty="0"/>
          </a:p>
        </p:txBody>
      </p:sp>
      <p:sp>
        <p:nvSpPr>
          <p:cNvPr id="3" name="عنصر نائب للمحتوى 2">
            <a:extLst>
              <a:ext uri="{FF2B5EF4-FFF2-40B4-BE49-F238E27FC236}">
                <a16:creationId xmlns:a16="http://schemas.microsoft.com/office/drawing/2014/main" id="{0921C0A1-1667-4FBF-9CC7-F71F5208AEB6}"/>
              </a:ext>
            </a:extLst>
          </p:cNvPr>
          <p:cNvSpPr>
            <a:spLocks noGrp="1"/>
          </p:cNvSpPr>
          <p:nvPr>
            <p:ph sz="half" idx="1"/>
          </p:nvPr>
        </p:nvSpPr>
        <p:spPr>
          <a:xfrm>
            <a:off x="1298447" y="2560320"/>
            <a:ext cx="6761335" cy="3310128"/>
          </a:xfrm>
        </p:spPr>
        <p:txBody>
          <a:bodyPr>
            <a:normAutofit/>
          </a:bodyPr>
          <a:lstStyle/>
          <a:p>
            <a:pPr algn="l" rtl="0"/>
            <a:r>
              <a:rPr lang="en-US" b="0" i="0" u="none" strike="noStrike" dirty="0">
                <a:solidFill>
                  <a:srgbClr val="000000"/>
                </a:solidFill>
                <a:effectLst/>
                <a:latin typeface="Times New Roman" panose="02020603050405020304" pitchFamily="18" charset="0"/>
              </a:rPr>
              <a:t>Usually suspected at birth.  </a:t>
            </a:r>
          </a:p>
          <a:p>
            <a:pPr algn="l" rtl="0"/>
            <a:r>
              <a:rPr lang="en-US" b="0" i="0" u="none" strike="noStrike" dirty="0">
                <a:solidFill>
                  <a:srgbClr val="000000"/>
                </a:solidFill>
                <a:effectLst/>
                <a:latin typeface="Times New Roman" panose="02020603050405020304" pitchFamily="18" charset="0"/>
              </a:rPr>
              <a:t>Genetic testing (chromosome analysis) is done to verify the presence of the disorder.  </a:t>
            </a:r>
          </a:p>
          <a:p>
            <a:pPr algn="l" rtl="0"/>
            <a:r>
              <a:rPr lang="en-US" b="0" i="0" u="none" strike="noStrike" dirty="0">
                <a:solidFill>
                  <a:srgbClr val="000000"/>
                </a:solidFill>
                <a:effectLst/>
                <a:latin typeface="Times New Roman" panose="02020603050405020304" pitchFamily="18" charset="0"/>
              </a:rPr>
              <a:t>The final result of such testing, with the photographed chromosomes paired and organized by shape and size, is called the individual's </a:t>
            </a:r>
            <a:r>
              <a:rPr lang="en-US" b="1" i="0" u="none" strike="noStrike" dirty="0">
                <a:solidFill>
                  <a:srgbClr val="000000"/>
                </a:solidFill>
                <a:effectLst/>
                <a:latin typeface="Times New Roman" panose="02020603050405020304" pitchFamily="18" charset="0"/>
              </a:rPr>
              <a:t>Karyotype</a:t>
            </a:r>
            <a:r>
              <a:rPr lang="en-US" b="0" i="0" u="none" strike="noStrike" dirty="0">
                <a:solidFill>
                  <a:srgbClr val="000000"/>
                </a:solidFill>
                <a:effectLst/>
                <a:latin typeface="Times New Roman" panose="02020603050405020304" pitchFamily="18" charset="0"/>
              </a:rPr>
              <a:t>.</a:t>
            </a:r>
            <a:endParaRPr lang="ar-SA" dirty="0"/>
          </a:p>
        </p:txBody>
      </p:sp>
      <p:pic>
        <p:nvPicPr>
          <p:cNvPr id="5" name="عنصر نائب للمحتوى 4">
            <a:extLst>
              <a:ext uri="{FF2B5EF4-FFF2-40B4-BE49-F238E27FC236}">
                <a16:creationId xmlns:a16="http://schemas.microsoft.com/office/drawing/2014/main" id="{99F90032-45AF-46F1-85E9-C884842B9012}"/>
              </a:ext>
            </a:extLst>
          </p:cNvPr>
          <p:cNvPicPr>
            <a:picLocks noGrp="1" noChangeAspect="1"/>
          </p:cNvPicPr>
          <p:nvPr>
            <p:ph sz="half" idx="2"/>
          </p:nvPr>
        </p:nvPicPr>
        <p:blipFill>
          <a:blip r:embed="rId2"/>
          <a:stretch>
            <a:fillRect/>
          </a:stretch>
        </p:blipFill>
        <p:spPr>
          <a:xfrm>
            <a:off x="8059783" y="2936237"/>
            <a:ext cx="2833770" cy="2558293"/>
          </a:xfrm>
          <a:prstGeom prst="rect">
            <a:avLst/>
          </a:prstGeom>
        </p:spPr>
      </p:pic>
    </p:spTree>
    <p:extLst>
      <p:ext uri="{BB962C8B-B14F-4D97-AF65-F5344CB8AC3E}">
        <p14:creationId xmlns:p14="http://schemas.microsoft.com/office/powerpoint/2010/main" val="878674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عنوان 4">
            <a:extLst>
              <a:ext uri="{FF2B5EF4-FFF2-40B4-BE49-F238E27FC236}">
                <a16:creationId xmlns:a16="http://schemas.microsoft.com/office/drawing/2014/main" id="{99F0B651-8415-4281-AF74-3E0BF7550777}"/>
              </a:ext>
            </a:extLst>
          </p:cNvPr>
          <p:cNvSpPr>
            <a:spLocks noGrp="1"/>
          </p:cNvSpPr>
          <p:nvPr>
            <p:ph type="title"/>
          </p:nvPr>
        </p:nvSpPr>
        <p:spPr/>
        <p:txBody>
          <a:bodyPr/>
          <a:lstStyle/>
          <a:p>
            <a:pPr rtl="0"/>
            <a:r>
              <a:rPr lang="en-US" b="0" i="0" u="none" strike="noStrike" dirty="0">
                <a:solidFill>
                  <a:srgbClr val="000000"/>
                </a:solidFill>
                <a:effectLst/>
                <a:latin typeface="Times New Roman" panose="02020603050405020304" pitchFamily="18" charset="0"/>
              </a:rPr>
              <a:t>Prognosis</a:t>
            </a:r>
            <a:endParaRPr lang="ar-SA" dirty="0"/>
          </a:p>
        </p:txBody>
      </p:sp>
      <p:sp>
        <p:nvSpPr>
          <p:cNvPr id="6" name="عنصر نائب للمحتوى 5">
            <a:extLst>
              <a:ext uri="{FF2B5EF4-FFF2-40B4-BE49-F238E27FC236}">
                <a16:creationId xmlns:a16="http://schemas.microsoft.com/office/drawing/2014/main" id="{866B46B5-CE72-44E7-AD19-DEE3FEE8FA47}"/>
              </a:ext>
            </a:extLst>
          </p:cNvPr>
          <p:cNvSpPr>
            <a:spLocks noGrp="1"/>
          </p:cNvSpPr>
          <p:nvPr>
            <p:ph idx="1"/>
          </p:nvPr>
        </p:nvSpPr>
        <p:spPr>
          <a:xfrm>
            <a:off x="1295401" y="2455817"/>
            <a:ext cx="9601196" cy="3735977"/>
          </a:xfrm>
        </p:spPr>
        <p:txBody>
          <a:bodyPr>
            <a:normAutofit fontScale="85000" lnSpcReduction="10000"/>
          </a:bodyPr>
          <a:lstStyle/>
          <a:p>
            <a:pPr algn="l" rtl="0"/>
            <a:r>
              <a:rPr lang="en-US" b="0" i="0" u="none" strike="noStrike" dirty="0">
                <a:solidFill>
                  <a:srgbClr val="000000"/>
                </a:solidFill>
                <a:effectLst/>
                <a:latin typeface="Times New Roman" panose="02020603050405020304" pitchFamily="18" charset="0"/>
              </a:rPr>
              <a:t>Is variable depending on the types of complications of each individual baby.  </a:t>
            </a:r>
          </a:p>
          <a:p>
            <a:pPr algn="l" rtl="0"/>
            <a:r>
              <a:rPr lang="en-US" b="0" i="0" u="none" strike="noStrike" dirty="0">
                <a:solidFill>
                  <a:srgbClr val="000000"/>
                </a:solidFill>
                <a:effectLst/>
                <a:latin typeface="Times New Roman" panose="02020603050405020304" pitchFamily="18" charset="0"/>
              </a:rPr>
              <a:t>The severity of the retardation can also vary significantly. </a:t>
            </a:r>
          </a:p>
          <a:p>
            <a:pPr algn="l" rtl="0"/>
            <a:r>
              <a:rPr lang="en-US" b="0" i="0" u="none" strike="noStrike" dirty="0">
                <a:solidFill>
                  <a:srgbClr val="000000"/>
                </a:solidFill>
                <a:effectLst/>
                <a:latin typeface="Times New Roman" panose="02020603050405020304" pitchFamily="18" charset="0"/>
              </a:rPr>
              <a:t> Without the presence of heart defects, about 90 percent of children with Down syndrome live into their teens.  </a:t>
            </a:r>
          </a:p>
          <a:p>
            <a:pPr algn="l" rtl="0"/>
            <a:r>
              <a:rPr lang="en-US" b="0" i="0" u="none" strike="noStrike" dirty="0">
                <a:solidFill>
                  <a:srgbClr val="000000"/>
                </a:solidFill>
                <a:effectLst/>
                <a:latin typeface="Times New Roman" panose="02020603050405020304" pitchFamily="18" charset="0"/>
              </a:rPr>
              <a:t>People with Down syndrome appear to go through the normal physical changes of aging more rapidly, however.  </a:t>
            </a:r>
          </a:p>
          <a:p>
            <a:pPr algn="l" rtl="0"/>
            <a:r>
              <a:rPr lang="en-US" b="0" i="0" u="none" strike="noStrike" dirty="0">
                <a:solidFill>
                  <a:srgbClr val="000000"/>
                </a:solidFill>
                <a:effectLst/>
                <a:latin typeface="Times New Roman" panose="02020603050405020304" pitchFamily="18" charset="0"/>
              </a:rPr>
              <a:t>The average age at death for an individual with Down syndrome is about 50 to 55 years.  </a:t>
            </a:r>
          </a:p>
          <a:p>
            <a:pPr algn="l" rtl="0"/>
            <a:r>
              <a:rPr lang="en-US" b="0" i="0" u="none" strike="noStrike" dirty="0">
                <a:solidFill>
                  <a:srgbClr val="000000"/>
                </a:solidFill>
                <a:effectLst/>
                <a:latin typeface="Times New Roman" panose="02020603050405020304" pitchFamily="18" charset="0"/>
              </a:rPr>
              <a:t>Because of modern medical treatments, including antibiotics to treat infections and surgery to treat heart defects and duodenal atresia, life expectancy has greatly increased</a:t>
            </a:r>
            <a:endParaRPr lang="ar-SA" dirty="0"/>
          </a:p>
        </p:txBody>
      </p:sp>
    </p:spTree>
    <p:extLst>
      <p:ext uri="{BB962C8B-B14F-4D97-AF65-F5344CB8AC3E}">
        <p14:creationId xmlns:p14="http://schemas.microsoft.com/office/powerpoint/2010/main" val="13591789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وان 3">
            <a:extLst>
              <a:ext uri="{FF2B5EF4-FFF2-40B4-BE49-F238E27FC236}">
                <a16:creationId xmlns:a16="http://schemas.microsoft.com/office/drawing/2014/main" id="{82603344-555C-49D5-B871-FC1857B67759}"/>
              </a:ext>
            </a:extLst>
          </p:cNvPr>
          <p:cNvSpPr>
            <a:spLocks noGrp="1"/>
          </p:cNvSpPr>
          <p:nvPr>
            <p:ph type="title"/>
          </p:nvPr>
        </p:nvSpPr>
        <p:spPr/>
        <p:txBody>
          <a:bodyPr/>
          <a:lstStyle/>
          <a:p>
            <a:pPr rtl="0"/>
            <a:r>
              <a:rPr lang="en-US" b="0" i="0" u="none" strike="noStrike" dirty="0">
                <a:solidFill>
                  <a:srgbClr val="000000"/>
                </a:solidFill>
                <a:effectLst/>
                <a:latin typeface="Times New Roman" panose="02020603050405020304" pitchFamily="18" charset="0"/>
              </a:rPr>
              <a:t>Prognosis</a:t>
            </a:r>
            <a:endParaRPr lang="ar-SA" dirty="0"/>
          </a:p>
        </p:txBody>
      </p:sp>
      <p:sp>
        <p:nvSpPr>
          <p:cNvPr id="5" name="عنصر نائب للمحتوى 4">
            <a:extLst>
              <a:ext uri="{FF2B5EF4-FFF2-40B4-BE49-F238E27FC236}">
                <a16:creationId xmlns:a16="http://schemas.microsoft.com/office/drawing/2014/main" id="{8E11282E-CB18-428B-81A8-163D9024DF6A}"/>
              </a:ext>
            </a:extLst>
          </p:cNvPr>
          <p:cNvSpPr>
            <a:spLocks noGrp="1"/>
          </p:cNvSpPr>
          <p:nvPr>
            <p:ph sz="half" idx="1"/>
          </p:nvPr>
        </p:nvSpPr>
        <p:spPr>
          <a:xfrm>
            <a:off x="1298448" y="2560319"/>
            <a:ext cx="4882896" cy="3584449"/>
          </a:xfrm>
        </p:spPr>
        <p:txBody>
          <a:bodyPr>
            <a:normAutofit/>
          </a:bodyPr>
          <a:lstStyle/>
          <a:p>
            <a:pPr algn="l" rtl="0"/>
            <a:endParaRPr lang="en-US" dirty="0"/>
          </a:p>
          <a:p>
            <a:pPr algn="l" rtl="0"/>
            <a:endParaRPr lang="en-US" dirty="0"/>
          </a:p>
          <a:p>
            <a:pPr marL="0" indent="0" algn="l" rtl="0">
              <a:buNone/>
            </a:pPr>
            <a:r>
              <a:rPr lang="en-US" dirty="0"/>
              <a:t>     </a:t>
            </a:r>
          </a:p>
          <a:p>
            <a:pPr algn="l" rtl="0"/>
            <a:endParaRPr lang="en-US" dirty="0"/>
          </a:p>
          <a:p>
            <a:pPr algn="l" rtl="0"/>
            <a:r>
              <a:rPr lang="en-US" b="0" i="0" u="none" strike="noStrike" dirty="0">
                <a:solidFill>
                  <a:srgbClr val="000000"/>
                </a:solidFill>
                <a:effectLst/>
                <a:latin typeface="Times New Roman" panose="02020603050405020304" pitchFamily="18" charset="0"/>
              </a:rPr>
              <a:t>• Men with Down syndrome appear to be uniformly sterile (unable to have offspring). </a:t>
            </a:r>
            <a:endParaRPr lang="en-US" dirty="0"/>
          </a:p>
        </p:txBody>
      </p:sp>
      <p:sp>
        <p:nvSpPr>
          <p:cNvPr id="6" name="عنصر نائب للمحتوى 5">
            <a:extLst>
              <a:ext uri="{FF2B5EF4-FFF2-40B4-BE49-F238E27FC236}">
                <a16:creationId xmlns:a16="http://schemas.microsoft.com/office/drawing/2014/main" id="{3537DB0B-D245-4187-BCE1-F553B17EFD84}"/>
              </a:ext>
            </a:extLst>
          </p:cNvPr>
          <p:cNvSpPr>
            <a:spLocks noGrp="1"/>
          </p:cNvSpPr>
          <p:nvPr>
            <p:ph sz="half" idx="2"/>
          </p:nvPr>
        </p:nvSpPr>
        <p:spPr>
          <a:xfrm>
            <a:off x="6010657" y="2560320"/>
            <a:ext cx="4888991" cy="3310128"/>
          </a:xfrm>
        </p:spPr>
        <p:txBody>
          <a:bodyPr>
            <a:normAutofit/>
          </a:bodyPr>
          <a:lstStyle/>
          <a:p>
            <a:pPr algn="l" rtl="0"/>
            <a:r>
              <a:rPr lang="en-US" b="0" i="0" u="none" strike="noStrike" dirty="0">
                <a:solidFill>
                  <a:srgbClr val="000000"/>
                </a:solidFill>
                <a:effectLst/>
                <a:latin typeface="Times New Roman" panose="02020603050405020304" pitchFamily="18" charset="0"/>
              </a:rPr>
              <a:t>• Women with Down syndrome, however, are fully capable of having babies.  About 50 percent of these babies, however, will also be born with Down syndrome.</a:t>
            </a:r>
            <a:endParaRPr lang="en-US" dirty="0"/>
          </a:p>
          <a:p>
            <a:pPr algn="l" rtl="0"/>
            <a:endParaRPr lang="en-US" dirty="0"/>
          </a:p>
          <a:p>
            <a:pPr algn="l" rtl="0"/>
            <a:endParaRPr lang="en-US" dirty="0"/>
          </a:p>
          <a:p>
            <a:pPr algn="l" rtl="0"/>
            <a:endParaRPr lang="ar-SA" dirty="0"/>
          </a:p>
        </p:txBody>
      </p:sp>
      <p:pic>
        <p:nvPicPr>
          <p:cNvPr id="7" name="صورة 6">
            <a:extLst>
              <a:ext uri="{FF2B5EF4-FFF2-40B4-BE49-F238E27FC236}">
                <a16:creationId xmlns:a16="http://schemas.microsoft.com/office/drawing/2014/main" id="{D4587508-7FA0-4EEB-ABA8-16D70695195D}"/>
              </a:ext>
            </a:extLst>
          </p:cNvPr>
          <p:cNvPicPr>
            <a:picLocks noChangeAspect="1"/>
          </p:cNvPicPr>
          <p:nvPr/>
        </p:nvPicPr>
        <p:blipFill>
          <a:blip r:embed="rId2"/>
          <a:stretch>
            <a:fillRect/>
          </a:stretch>
        </p:blipFill>
        <p:spPr>
          <a:xfrm>
            <a:off x="6621562" y="4532811"/>
            <a:ext cx="3837868" cy="161195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8" name="صورة 7">
            <a:extLst>
              <a:ext uri="{FF2B5EF4-FFF2-40B4-BE49-F238E27FC236}">
                <a16:creationId xmlns:a16="http://schemas.microsoft.com/office/drawing/2014/main" id="{3B32086A-E242-47AD-826F-067D61AB44A8}"/>
              </a:ext>
            </a:extLst>
          </p:cNvPr>
          <p:cNvPicPr>
            <a:picLocks noChangeAspect="1"/>
          </p:cNvPicPr>
          <p:nvPr/>
        </p:nvPicPr>
        <p:blipFill>
          <a:blip r:embed="rId3"/>
          <a:stretch>
            <a:fillRect/>
          </a:stretch>
        </p:blipFill>
        <p:spPr>
          <a:xfrm>
            <a:off x="1545076" y="2743140"/>
            <a:ext cx="4389639" cy="1789671"/>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002623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5684F02-DF28-48E6-B2C0-FBA67E865AC1}"/>
              </a:ext>
            </a:extLst>
          </p:cNvPr>
          <p:cNvSpPr>
            <a:spLocks noGrp="1"/>
          </p:cNvSpPr>
          <p:nvPr>
            <p:ph type="title"/>
          </p:nvPr>
        </p:nvSpPr>
        <p:spPr/>
        <p:txBody>
          <a:bodyPr/>
          <a:lstStyle/>
          <a:p>
            <a:r>
              <a:rPr lang="en-US" b="0" i="0" u="none" strike="noStrike" dirty="0">
                <a:solidFill>
                  <a:srgbClr val="000000"/>
                </a:solidFill>
                <a:effectLst/>
                <a:latin typeface="Times New Roman" panose="02020603050405020304" pitchFamily="18" charset="0"/>
              </a:rPr>
              <a:t>Prognosis</a:t>
            </a:r>
            <a:endParaRPr lang="ar-SA" dirty="0"/>
          </a:p>
        </p:txBody>
      </p:sp>
      <p:sp>
        <p:nvSpPr>
          <p:cNvPr id="3" name="عنصر نائب للمحتوى 2">
            <a:extLst>
              <a:ext uri="{FF2B5EF4-FFF2-40B4-BE49-F238E27FC236}">
                <a16:creationId xmlns:a16="http://schemas.microsoft.com/office/drawing/2014/main" id="{ED1D3DAF-5913-4C3E-BB22-5267BCBF0A10}"/>
              </a:ext>
            </a:extLst>
          </p:cNvPr>
          <p:cNvSpPr>
            <a:spLocks noGrp="1"/>
          </p:cNvSpPr>
          <p:nvPr>
            <p:ph sz="half" idx="1"/>
          </p:nvPr>
        </p:nvSpPr>
        <p:spPr>
          <a:xfrm>
            <a:off x="1298447" y="2560319"/>
            <a:ext cx="5063163" cy="3605349"/>
          </a:xfrm>
        </p:spPr>
        <p:txBody>
          <a:bodyPr>
            <a:normAutofit fontScale="92500" lnSpcReduction="20000"/>
          </a:bodyPr>
          <a:lstStyle/>
          <a:p>
            <a:pPr algn="l" rtl="0"/>
            <a:endParaRPr lang="en-US" dirty="0"/>
          </a:p>
          <a:p>
            <a:pPr algn="l" rtl="0"/>
            <a:endParaRPr lang="en-US" dirty="0"/>
          </a:p>
          <a:p>
            <a:pPr algn="l" rtl="0"/>
            <a:endParaRPr lang="en-US" dirty="0"/>
          </a:p>
          <a:p>
            <a:pPr marL="0" indent="0" algn="l" rtl="0">
              <a:buNone/>
            </a:pPr>
            <a:endParaRPr lang="en-US" dirty="0"/>
          </a:p>
          <a:p>
            <a:pPr marL="0" indent="0" algn="l" rtl="0">
              <a:buNone/>
            </a:pPr>
            <a:endParaRPr lang="en-US" dirty="0"/>
          </a:p>
          <a:p>
            <a:pPr algn="l" rtl="0"/>
            <a:r>
              <a:rPr lang="en-US" b="0" i="0" u="none" strike="noStrike" dirty="0">
                <a:solidFill>
                  <a:srgbClr val="000000"/>
                </a:solidFill>
                <a:effectLst/>
                <a:latin typeface="Times New Roman" panose="02020603050405020304" pitchFamily="18" charset="0"/>
              </a:rPr>
              <a:t>As people with Down syndrome age, they face an increased chance of developing the brain disease called Alzheimer's (sometimes referred to Dementia or Senility).</a:t>
            </a:r>
            <a:endParaRPr lang="ar-SA" dirty="0"/>
          </a:p>
        </p:txBody>
      </p:sp>
      <p:sp>
        <p:nvSpPr>
          <p:cNvPr id="4" name="عنصر نائب للمحتوى 3">
            <a:extLst>
              <a:ext uri="{FF2B5EF4-FFF2-40B4-BE49-F238E27FC236}">
                <a16:creationId xmlns:a16="http://schemas.microsoft.com/office/drawing/2014/main" id="{FCD9D23B-DA2C-47B1-A6D6-982EA885BEF9}"/>
              </a:ext>
            </a:extLst>
          </p:cNvPr>
          <p:cNvSpPr>
            <a:spLocks noGrp="1"/>
          </p:cNvSpPr>
          <p:nvPr>
            <p:ph sz="half" idx="2"/>
          </p:nvPr>
        </p:nvSpPr>
        <p:spPr>
          <a:xfrm>
            <a:off x="6635930" y="2560320"/>
            <a:ext cx="4263718" cy="3310128"/>
          </a:xfrm>
        </p:spPr>
        <p:txBody>
          <a:bodyPr>
            <a:normAutofit fontScale="92500" lnSpcReduction="20000"/>
          </a:bodyPr>
          <a:lstStyle/>
          <a:p>
            <a:pPr algn="l" rtl="0"/>
            <a:r>
              <a:rPr lang="en-US" b="0" i="0" u="none" strike="noStrike" dirty="0">
                <a:solidFill>
                  <a:srgbClr val="000000"/>
                </a:solidFill>
                <a:effectLst/>
                <a:latin typeface="Times New Roman" panose="02020603050405020304" pitchFamily="18" charset="0"/>
              </a:rPr>
              <a:t>Most people have a six in </a:t>
            </a:r>
            <a:r>
              <a:rPr lang="en-US" b="0" i="0" u="sng" dirty="0">
                <a:solidFill>
                  <a:srgbClr val="0066CC"/>
                </a:solidFill>
                <a:effectLst/>
                <a:latin typeface="Times New Roman" panose="02020603050405020304" pitchFamily="18" charset="0"/>
                <a:hlinkClick r:id="rId2"/>
              </a:rPr>
              <a:t>100</a:t>
            </a:r>
            <a:r>
              <a:rPr lang="en-US" b="0" i="0" u="none" strike="noStrike" dirty="0">
                <a:solidFill>
                  <a:srgbClr val="000000"/>
                </a:solidFill>
                <a:effectLst/>
                <a:latin typeface="Times New Roman" panose="02020603050405020304" pitchFamily="18" charset="0"/>
              </a:rPr>
              <a:t> risk of developing Alzheimer's, but people with Down syndrome have a one - in - four chance of the disease</a:t>
            </a:r>
            <a:endParaRPr lang="ar-SA" dirty="0"/>
          </a:p>
        </p:txBody>
      </p:sp>
      <p:pic>
        <p:nvPicPr>
          <p:cNvPr id="5" name="صورة 4">
            <a:extLst>
              <a:ext uri="{FF2B5EF4-FFF2-40B4-BE49-F238E27FC236}">
                <a16:creationId xmlns:a16="http://schemas.microsoft.com/office/drawing/2014/main" id="{B36F3521-843E-4E3F-8B32-D67348EC14D8}"/>
              </a:ext>
            </a:extLst>
          </p:cNvPr>
          <p:cNvPicPr>
            <a:picLocks noChangeAspect="1"/>
          </p:cNvPicPr>
          <p:nvPr/>
        </p:nvPicPr>
        <p:blipFill>
          <a:blip r:embed="rId3"/>
          <a:stretch>
            <a:fillRect/>
          </a:stretch>
        </p:blipFill>
        <p:spPr>
          <a:xfrm>
            <a:off x="1574074" y="2560319"/>
            <a:ext cx="4167051" cy="2037806"/>
          </a:xfrm>
          <a:prstGeom prst="rect">
            <a:avLst/>
          </a:prstGeom>
        </p:spPr>
      </p:pic>
      <p:pic>
        <p:nvPicPr>
          <p:cNvPr id="6" name="صورة 5">
            <a:extLst>
              <a:ext uri="{FF2B5EF4-FFF2-40B4-BE49-F238E27FC236}">
                <a16:creationId xmlns:a16="http://schemas.microsoft.com/office/drawing/2014/main" id="{39B75F98-8F85-4E8D-8F1E-4F860B99EE47}"/>
              </a:ext>
            </a:extLst>
          </p:cNvPr>
          <p:cNvPicPr>
            <a:picLocks noChangeAspect="1"/>
          </p:cNvPicPr>
          <p:nvPr/>
        </p:nvPicPr>
        <p:blipFill>
          <a:blip r:embed="rId4"/>
          <a:stretch>
            <a:fillRect/>
          </a:stretch>
        </p:blipFill>
        <p:spPr>
          <a:xfrm>
            <a:off x="6988629" y="3997233"/>
            <a:ext cx="3904922" cy="1926471"/>
          </a:xfrm>
          <a:prstGeom prst="rect">
            <a:avLst/>
          </a:prstGeom>
        </p:spPr>
      </p:pic>
    </p:spTree>
    <p:extLst>
      <p:ext uri="{BB962C8B-B14F-4D97-AF65-F5344CB8AC3E}">
        <p14:creationId xmlns:p14="http://schemas.microsoft.com/office/powerpoint/2010/main" val="14308958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عنوان 4">
            <a:extLst>
              <a:ext uri="{FF2B5EF4-FFF2-40B4-BE49-F238E27FC236}">
                <a16:creationId xmlns:a16="http://schemas.microsoft.com/office/drawing/2014/main" id="{0DBE6083-D392-4B24-92B3-FA0CA5A26672}"/>
              </a:ext>
            </a:extLst>
          </p:cNvPr>
          <p:cNvSpPr>
            <a:spLocks noGrp="1"/>
          </p:cNvSpPr>
          <p:nvPr>
            <p:ph type="title"/>
          </p:nvPr>
        </p:nvSpPr>
        <p:spPr/>
        <p:txBody>
          <a:bodyPr/>
          <a:lstStyle/>
          <a:p>
            <a:r>
              <a:rPr lang="en-US" b="0" i="0" u="none" strike="noStrike" dirty="0">
                <a:solidFill>
                  <a:srgbClr val="000000"/>
                </a:solidFill>
                <a:effectLst/>
                <a:latin typeface="Times New Roman" panose="02020603050405020304" pitchFamily="18" charset="0"/>
              </a:rPr>
              <a:t>Treatment &amp; Therapies</a:t>
            </a:r>
            <a:endParaRPr lang="ar-SA" dirty="0"/>
          </a:p>
        </p:txBody>
      </p:sp>
      <p:sp>
        <p:nvSpPr>
          <p:cNvPr id="6" name="عنصر نائب للمحتوى 5">
            <a:extLst>
              <a:ext uri="{FF2B5EF4-FFF2-40B4-BE49-F238E27FC236}">
                <a16:creationId xmlns:a16="http://schemas.microsoft.com/office/drawing/2014/main" id="{14B1BC6D-561C-4023-9375-3081B0AB7702}"/>
              </a:ext>
            </a:extLst>
          </p:cNvPr>
          <p:cNvSpPr>
            <a:spLocks noGrp="1"/>
          </p:cNvSpPr>
          <p:nvPr>
            <p:ph idx="1"/>
          </p:nvPr>
        </p:nvSpPr>
        <p:spPr/>
        <p:txBody>
          <a:bodyPr/>
          <a:lstStyle/>
          <a:p>
            <a:pPr algn="l" rtl="0">
              <a:buFont typeface="Wingdings" panose="05000000000000000000" pitchFamily="2" charset="2"/>
              <a:buChar char="q"/>
            </a:pPr>
            <a:r>
              <a:rPr lang="en-US" b="0" i="0" u="none" strike="noStrike" dirty="0">
                <a:solidFill>
                  <a:srgbClr val="000000"/>
                </a:solidFill>
                <a:effectLst/>
                <a:latin typeface="Times New Roman" panose="02020603050405020304" pitchFamily="18" charset="0"/>
              </a:rPr>
              <a:t> </a:t>
            </a:r>
            <a:r>
              <a:rPr lang="en-US" b="1" i="0" u="none" strike="noStrike" dirty="0">
                <a:solidFill>
                  <a:srgbClr val="000000"/>
                </a:solidFill>
                <a:effectLst/>
                <a:latin typeface="Baskerville Old Face" panose="02020602080505020303" pitchFamily="18" charset="0"/>
              </a:rPr>
              <a:t>Medical Treatments:</a:t>
            </a:r>
          </a:p>
          <a:p>
            <a:pPr algn="l" rtl="0">
              <a:buFont typeface="Wingdings" panose="05000000000000000000" pitchFamily="2" charset="2"/>
              <a:buChar char="ü"/>
            </a:pPr>
            <a:r>
              <a:rPr lang="en-US" b="0" i="0" u="none" strike="noStrike" dirty="0">
                <a:solidFill>
                  <a:srgbClr val="000000"/>
                </a:solidFill>
                <a:effectLst/>
                <a:latin typeface="Times New Roman" panose="02020603050405020304" pitchFamily="18" charset="0"/>
              </a:rPr>
              <a:t>People with Down syndrome are at increased risk for certain medical problems.  </a:t>
            </a:r>
          </a:p>
          <a:p>
            <a:pPr algn="l" rtl="0">
              <a:buFont typeface="Wingdings" panose="05000000000000000000" pitchFamily="2" charset="2"/>
              <a:buChar char="ü"/>
            </a:pPr>
            <a:r>
              <a:rPr lang="en-US" b="0" i="0" u="none" strike="noStrike" dirty="0">
                <a:solidFill>
                  <a:srgbClr val="000000"/>
                </a:solidFill>
                <a:effectLst/>
                <a:latin typeface="Times New Roman" panose="02020603050405020304" pitchFamily="18" charset="0"/>
              </a:rPr>
              <a:t>Some of the problems commonly faced by people with Down syndrome include heart defects, thyroid, muscle, joint, vision and hearing problems.</a:t>
            </a:r>
          </a:p>
          <a:p>
            <a:pPr algn="l" rtl="0">
              <a:buFont typeface="Wingdings" panose="05000000000000000000" pitchFamily="2" charset="2"/>
              <a:buChar char="ü"/>
            </a:pPr>
            <a:r>
              <a:rPr lang="en-US" b="0" i="0" u="none" strike="noStrike" dirty="0">
                <a:solidFill>
                  <a:srgbClr val="000000"/>
                </a:solidFill>
                <a:effectLst/>
                <a:latin typeface="Times New Roman" panose="02020603050405020304" pitchFamily="18" charset="0"/>
              </a:rPr>
              <a:t>Other conditions seen less frequently in Down syndrome include leukemia, and seizures.</a:t>
            </a:r>
            <a:endParaRPr lang="ar-SA" dirty="0"/>
          </a:p>
        </p:txBody>
      </p:sp>
    </p:spTree>
    <p:extLst>
      <p:ext uri="{BB962C8B-B14F-4D97-AF65-F5344CB8AC3E}">
        <p14:creationId xmlns:p14="http://schemas.microsoft.com/office/powerpoint/2010/main" val="30416004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صورة 4">
            <a:extLst>
              <a:ext uri="{FF2B5EF4-FFF2-40B4-BE49-F238E27FC236}">
                <a16:creationId xmlns:a16="http://schemas.microsoft.com/office/drawing/2014/main" id="{79F09A64-CFB8-4BDA-825F-D556D0C5354F}"/>
              </a:ext>
            </a:extLst>
          </p:cNvPr>
          <p:cNvPicPr>
            <a:picLocks noChangeAspect="1"/>
          </p:cNvPicPr>
          <p:nvPr/>
        </p:nvPicPr>
        <p:blipFill>
          <a:blip r:embed="rId2"/>
          <a:stretch>
            <a:fillRect/>
          </a:stretch>
        </p:blipFill>
        <p:spPr>
          <a:xfrm>
            <a:off x="3522616" y="802978"/>
            <a:ext cx="5146766" cy="1618488"/>
          </a:xfrm>
          <a:prstGeom prst="rect">
            <a:avLst/>
          </a:prstGeom>
        </p:spPr>
      </p:pic>
      <p:sp>
        <p:nvSpPr>
          <p:cNvPr id="2" name="عنوان 1">
            <a:extLst>
              <a:ext uri="{FF2B5EF4-FFF2-40B4-BE49-F238E27FC236}">
                <a16:creationId xmlns:a16="http://schemas.microsoft.com/office/drawing/2014/main" id="{B3928C99-C806-42B8-B00C-779A61BE3DB3}"/>
              </a:ext>
            </a:extLst>
          </p:cNvPr>
          <p:cNvSpPr>
            <a:spLocks noGrp="1"/>
          </p:cNvSpPr>
          <p:nvPr>
            <p:ph type="title"/>
          </p:nvPr>
        </p:nvSpPr>
        <p:spPr>
          <a:xfrm>
            <a:off x="1295401" y="982132"/>
            <a:ext cx="9601196" cy="1303867"/>
          </a:xfrm>
        </p:spPr>
        <p:txBody>
          <a:bodyPr/>
          <a:lstStyle/>
          <a:p>
            <a:r>
              <a:rPr lang="en-US" b="0" i="0" u="none" strike="noStrike" dirty="0">
                <a:solidFill>
                  <a:srgbClr val="000000"/>
                </a:solidFill>
                <a:effectLst/>
                <a:latin typeface="Times New Roman" panose="02020603050405020304" pitchFamily="18" charset="0"/>
              </a:rPr>
              <a:t>Treatment &amp; Therapies</a:t>
            </a:r>
            <a:endParaRPr lang="ar-SA" dirty="0"/>
          </a:p>
        </p:txBody>
      </p:sp>
      <p:sp>
        <p:nvSpPr>
          <p:cNvPr id="3" name="عنصر نائب للمحتوى 2">
            <a:extLst>
              <a:ext uri="{FF2B5EF4-FFF2-40B4-BE49-F238E27FC236}">
                <a16:creationId xmlns:a16="http://schemas.microsoft.com/office/drawing/2014/main" id="{20847909-D94E-4330-9069-70634259F70D}"/>
              </a:ext>
            </a:extLst>
          </p:cNvPr>
          <p:cNvSpPr>
            <a:spLocks noGrp="1"/>
          </p:cNvSpPr>
          <p:nvPr>
            <p:ph idx="1"/>
          </p:nvPr>
        </p:nvSpPr>
        <p:spPr>
          <a:ln>
            <a:noFill/>
          </a:ln>
        </p:spPr>
        <p:txBody>
          <a:bodyPr>
            <a:normAutofit fontScale="92500" lnSpcReduction="20000"/>
          </a:bodyPr>
          <a:lstStyle/>
          <a:p>
            <a:pPr algn="l" rtl="0">
              <a:buFont typeface="Wingdings" panose="05000000000000000000" pitchFamily="2" charset="2"/>
              <a:buChar char="v"/>
            </a:pPr>
            <a:r>
              <a:rPr lang="en-US" b="1" i="0" u="none" strike="noStrike" dirty="0">
                <a:solidFill>
                  <a:srgbClr val="000000"/>
                </a:solidFill>
                <a:effectLst/>
                <a:latin typeface="Baskerville Old Face" panose="02020602080505020303" pitchFamily="18" charset="0"/>
              </a:rPr>
              <a:t>Medications: </a:t>
            </a:r>
          </a:p>
          <a:p>
            <a:pPr algn="l" rtl="0"/>
            <a:r>
              <a:rPr lang="en-US" b="0" i="0" u="none" strike="noStrike" dirty="0">
                <a:solidFill>
                  <a:srgbClr val="000000"/>
                </a:solidFill>
                <a:effectLst/>
                <a:latin typeface="Times New Roman" panose="02020603050405020304" pitchFamily="18" charset="0"/>
              </a:rPr>
              <a:t>Medications can be used to treat certain conditions that occur in people with Down syndrome.  </a:t>
            </a:r>
          </a:p>
          <a:p>
            <a:pPr algn="l" rtl="0"/>
            <a:r>
              <a:rPr lang="en-US" b="0" i="0" u="none" strike="noStrike" dirty="0">
                <a:solidFill>
                  <a:srgbClr val="000000"/>
                </a:solidFill>
                <a:effectLst/>
                <a:latin typeface="Times New Roman" panose="02020603050405020304" pitchFamily="18" charset="0"/>
              </a:rPr>
              <a:t>For example, if a person with Down syndrome has a seizure disorder, they would benefit from taking anti - seizure medications.  </a:t>
            </a:r>
          </a:p>
          <a:p>
            <a:pPr algn="l" rtl="0"/>
            <a:r>
              <a:rPr lang="en-US" b="0" i="0" u="none" strike="noStrike" dirty="0">
                <a:solidFill>
                  <a:srgbClr val="000000"/>
                </a:solidFill>
                <a:effectLst/>
                <a:latin typeface="Times New Roman" panose="02020603050405020304" pitchFamily="18" charset="0"/>
              </a:rPr>
              <a:t>People with thyroid problems often take thyroid replacement hormones.  </a:t>
            </a:r>
          </a:p>
          <a:p>
            <a:pPr algn="l" rtl="0"/>
            <a:r>
              <a:rPr lang="en-US" b="0" i="0" u="none" strike="noStrike" dirty="0">
                <a:solidFill>
                  <a:srgbClr val="000000"/>
                </a:solidFill>
                <a:effectLst/>
                <a:latin typeface="Times New Roman" panose="02020603050405020304" pitchFamily="18" charset="0"/>
              </a:rPr>
              <a:t>While these medications help with their medical condition, they do not have any effect on their Down syndrome.  </a:t>
            </a:r>
          </a:p>
          <a:p>
            <a:pPr algn="l" rtl="0"/>
            <a:r>
              <a:rPr lang="en-US" b="0" i="0" u="none" strike="noStrike" dirty="0">
                <a:solidFill>
                  <a:srgbClr val="000000"/>
                </a:solidFill>
                <a:effectLst/>
                <a:latin typeface="Times New Roman" panose="02020603050405020304" pitchFamily="18" charset="0"/>
              </a:rPr>
              <a:t>At this point in time, there is no medicine that will cure Down syndrome</a:t>
            </a:r>
            <a:endParaRPr lang="ar-SA" dirty="0"/>
          </a:p>
        </p:txBody>
      </p:sp>
    </p:spTree>
    <p:extLst>
      <p:ext uri="{BB962C8B-B14F-4D97-AF65-F5344CB8AC3E}">
        <p14:creationId xmlns:p14="http://schemas.microsoft.com/office/powerpoint/2010/main" val="6624929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ABF676F-3C6D-46AC-BBC9-FD965232A9B8}"/>
              </a:ext>
            </a:extLst>
          </p:cNvPr>
          <p:cNvSpPr>
            <a:spLocks noGrp="1"/>
          </p:cNvSpPr>
          <p:nvPr>
            <p:ph type="title"/>
          </p:nvPr>
        </p:nvSpPr>
        <p:spPr/>
        <p:txBody>
          <a:bodyPr/>
          <a:lstStyle/>
          <a:p>
            <a:r>
              <a:rPr lang="en-US" b="0" i="0" u="none" strike="noStrike" dirty="0">
                <a:solidFill>
                  <a:srgbClr val="000000"/>
                </a:solidFill>
                <a:effectLst/>
                <a:latin typeface="Times New Roman" panose="02020603050405020304" pitchFamily="18" charset="0"/>
              </a:rPr>
              <a:t>Treatment &amp; Therapies</a:t>
            </a:r>
            <a:endParaRPr lang="ar-SA" dirty="0"/>
          </a:p>
        </p:txBody>
      </p:sp>
      <p:sp>
        <p:nvSpPr>
          <p:cNvPr id="3" name="عنصر نائب للمحتوى 2">
            <a:extLst>
              <a:ext uri="{FF2B5EF4-FFF2-40B4-BE49-F238E27FC236}">
                <a16:creationId xmlns:a16="http://schemas.microsoft.com/office/drawing/2014/main" id="{7D4A1F3F-F8FA-4104-A3A7-C13BD0D5AD60}"/>
              </a:ext>
            </a:extLst>
          </p:cNvPr>
          <p:cNvSpPr>
            <a:spLocks noGrp="1"/>
          </p:cNvSpPr>
          <p:nvPr>
            <p:ph idx="1"/>
          </p:nvPr>
        </p:nvSpPr>
        <p:spPr/>
        <p:txBody>
          <a:bodyPr>
            <a:normAutofit fontScale="85000" lnSpcReduction="20000"/>
          </a:bodyPr>
          <a:lstStyle/>
          <a:p>
            <a:pPr algn="l" rtl="0">
              <a:buFont typeface="Wingdings" panose="05000000000000000000" pitchFamily="2" charset="2"/>
              <a:buChar char="q"/>
            </a:pPr>
            <a:r>
              <a:rPr lang="en-US" b="1" i="0" u="none" strike="noStrike" dirty="0">
                <a:solidFill>
                  <a:srgbClr val="000000"/>
                </a:solidFill>
                <a:effectLst/>
                <a:latin typeface="Baskerville Old Face" panose="02020602080505020303" pitchFamily="18" charset="0"/>
              </a:rPr>
              <a:t>Surgical Treatments: </a:t>
            </a:r>
          </a:p>
          <a:p>
            <a:pPr algn="l" rtl="0">
              <a:buFont typeface="Wingdings" panose="05000000000000000000" pitchFamily="2" charset="2"/>
              <a:buChar char="ü"/>
            </a:pPr>
            <a:r>
              <a:rPr lang="en-US" b="0" i="0" u="none" strike="noStrike" dirty="0">
                <a:solidFill>
                  <a:srgbClr val="000000"/>
                </a:solidFill>
                <a:effectLst/>
                <a:latin typeface="Times New Roman" panose="02020603050405020304" pitchFamily="18" charset="0"/>
              </a:rPr>
              <a:t>Some medical conditions seen in children with Down syndrome require surgery.  </a:t>
            </a:r>
          </a:p>
          <a:p>
            <a:pPr algn="l" rtl="0">
              <a:buFont typeface="Wingdings" panose="05000000000000000000" pitchFamily="2" charset="2"/>
              <a:buChar char="ü"/>
            </a:pPr>
            <a:r>
              <a:rPr lang="en-US" b="0" i="0" u="none" strike="noStrike" dirty="0">
                <a:solidFill>
                  <a:srgbClr val="000000"/>
                </a:solidFill>
                <a:effectLst/>
                <a:latin typeface="Times New Roman" panose="02020603050405020304" pitchFamily="18" charset="0"/>
              </a:rPr>
              <a:t>For example, about 40% of children with Down syndrome have congenital heart defects.  </a:t>
            </a:r>
          </a:p>
          <a:p>
            <a:pPr algn="l" rtl="0">
              <a:buFont typeface="Wingdings" panose="05000000000000000000" pitchFamily="2" charset="2"/>
              <a:buChar char="ü"/>
            </a:pPr>
            <a:r>
              <a:rPr lang="en-US" b="0" i="0" u="none" strike="noStrike" dirty="0">
                <a:solidFill>
                  <a:srgbClr val="000000"/>
                </a:solidFill>
                <a:effectLst/>
                <a:latin typeface="Times New Roman" panose="02020603050405020304" pitchFamily="18" charset="0"/>
              </a:rPr>
              <a:t>Some of these defects are mild and may fix themselves, and some heart defects are more severe and will require surgery.  </a:t>
            </a:r>
          </a:p>
          <a:p>
            <a:pPr algn="l" rtl="0">
              <a:buFont typeface="Wingdings" panose="05000000000000000000" pitchFamily="2" charset="2"/>
              <a:buChar char="ü"/>
            </a:pPr>
            <a:r>
              <a:rPr lang="en-US" b="0" i="0" u="none" strike="noStrike" dirty="0">
                <a:solidFill>
                  <a:srgbClr val="000000"/>
                </a:solidFill>
                <a:effectLst/>
                <a:latin typeface="Times New Roman" panose="02020603050405020304" pitchFamily="18" charset="0"/>
              </a:rPr>
              <a:t>Children with Down syndrome can have intestinal defects that also require surgery.  </a:t>
            </a:r>
          </a:p>
          <a:p>
            <a:pPr algn="l" rtl="0">
              <a:buFont typeface="Wingdings" panose="05000000000000000000" pitchFamily="2" charset="2"/>
              <a:buChar char="ü"/>
            </a:pPr>
            <a:r>
              <a:rPr lang="en-US" b="0" i="0" u="none" strike="noStrike" dirty="0">
                <a:solidFill>
                  <a:srgbClr val="000000"/>
                </a:solidFill>
                <a:effectLst/>
                <a:latin typeface="Times New Roman" panose="02020603050405020304" pitchFamily="18" charset="0"/>
              </a:rPr>
              <a:t>The need for surgery does not correlate with the cognitive defect in Down syndrome.  </a:t>
            </a:r>
          </a:p>
          <a:p>
            <a:pPr algn="l" rtl="0">
              <a:buFont typeface="Wingdings" panose="05000000000000000000" pitchFamily="2" charset="2"/>
              <a:buChar char="ü"/>
            </a:pPr>
            <a:r>
              <a:rPr lang="en-US" b="0" i="0" u="none" strike="noStrike" dirty="0">
                <a:solidFill>
                  <a:srgbClr val="000000"/>
                </a:solidFill>
                <a:effectLst/>
                <a:latin typeface="Times New Roman" panose="02020603050405020304" pitchFamily="18" charset="0"/>
              </a:rPr>
              <a:t>In other words, just because a baby needs surgery, there is no reason to suspect that they have a "more severe" case of Down syndrome</a:t>
            </a:r>
            <a:endParaRPr lang="ar-SA" dirty="0"/>
          </a:p>
        </p:txBody>
      </p:sp>
    </p:spTree>
    <p:extLst>
      <p:ext uri="{BB962C8B-B14F-4D97-AF65-F5344CB8AC3E}">
        <p14:creationId xmlns:p14="http://schemas.microsoft.com/office/powerpoint/2010/main" val="20681140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88DD35C-C5FD-496D-B3CC-0C9C14825869}"/>
              </a:ext>
            </a:extLst>
          </p:cNvPr>
          <p:cNvSpPr>
            <a:spLocks noGrp="1"/>
          </p:cNvSpPr>
          <p:nvPr>
            <p:ph type="title"/>
          </p:nvPr>
        </p:nvSpPr>
        <p:spPr/>
        <p:txBody>
          <a:bodyPr/>
          <a:lstStyle/>
          <a:p>
            <a:r>
              <a:rPr lang="en-US" b="0" i="0" u="none" strike="noStrike" dirty="0">
                <a:solidFill>
                  <a:srgbClr val="000000"/>
                </a:solidFill>
                <a:effectLst/>
                <a:latin typeface="Times New Roman" panose="02020603050405020304" pitchFamily="18" charset="0"/>
              </a:rPr>
              <a:t>Treatment &amp; Therapies</a:t>
            </a:r>
            <a:endParaRPr lang="ar-SA" dirty="0"/>
          </a:p>
        </p:txBody>
      </p:sp>
      <p:sp>
        <p:nvSpPr>
          <p:cNvPr id="3" name="عنصر نائب للمحتوى 2">
            <a:extLst>
              <a:ext uri="{FF2B5EF4-FFF2-40B4-BE49-F238E27FC236}">
                <a16:creationId xmlns:a16="http://schemas.microsoft.com/office/drawing/2014/main" id="{9535F0C7-E013-4107-852F-FDF3D1573DE2}"/>
              </a:ext>
            </a:extLst>
          </p:cNvPr>
          <p:cNvSpPr>
            <a:spLocks noGrp="1"/>
          </p:cNvSpPr>
          <p:nvPr>
            <p:ph idx="1"/>
          </p:nvPr>
        </p:nvSpPr>
        <p:spPr/>
        <p:txBody>
          <a:bodyPr>
            <a:normAutofit fontScale="92500"/>
          </a:bodyPr>
          <a:lstStyle/>
          <a:p>
            <a:pPr algn="l" rtl="0">
              <a:buFont typeface="Wingdings" panose="05000000000000000000" pitchFamily="2" charset="2"/>
              <a:buChar char="v"/>
            </a:pPr>
            <a:r>
              <a:rPr lang="en-US" b="0" i="0" u="none" strike="noStrike" dirty="0">
                <a:solidFill>
                  <a:srgbClr val="000000"/>
                </a:solidFill>
                <a:effectLst/>
                <a:latin typeface="Times New Roman" panose="02020603050405020304" pitchFamily="18" charset="0"/>
              </a:rPr>
              <a:t> </a:t>
            </a:r>
            <a:r>
              <a:rPr lang="en-US" b="1" i="0" u="none" strike="noStrike" dirty="0">
                <a:solidFill>
                  <a:srgbClr val="000000"/>
                </a:solidFill>
                <a:effectLst/>
                <a:latin typeface="Baskerville Old Face" panose="02020602080505020303" pitchFamily="18" charset="0"/>
              </a:rPr>
              <a:t>Physical Therapy: </a:t>
            </a:r>
          </a:p>
          <a:p>
            <a:pPr algn="l" rtl="0">
              <a:buFont typeface="Wingdings" panose="05000000000000000000" pitchFamily="2" charset="2"/>
              <a:buChar char="ü"/>
            </a:pPr>
            <a:r>
              <a:rPr lang="en-US" b="0" i="0" u="none" strike="noStrike" dirty="0">
                <a:solidFill>
                  <a:srgbClr val="000000"/>
                </a:solidFill>
                <a:effectLst/>
                <a:latin typeface="Times New Roman" panose="02020603050405020304" pitchFamily="18" charset="0"/>
              </a:rPr>
              <a:t>Physical therapy focuses on motor development.  </a:t>
            </a:r>
          </a:p>
          <a:p>
            <a:pPr algn="l" rtl="0">
              <a:buFont typeface="Wingdings" panose="05000000000000000000" pitchFamily="2" charset="2"/>
              <a:buChar char="ü"/>
            </a:pPr>
            <a:r>
              <a:rPr lang="en-US" b="0" i="0" u="none" strike="noStrike" dirty="0">
                <a:solidFill>
                  <a:srgbClr val="000000"/>
                </a:solidFill>
                <a:effectLst/>
                <a:latin typeface="Times New Roman" panose="02020603050405020304" pitchFamily="18" charset="0"/>
              </a:rPr>
              <a:t>Since most children with Down syndrome have hypotonia or low muscle tone, the goal of physical therapy is to teach the children with Down syndrome to move their bodies in appropriate ways, and to improve their muscle tone.  </a:t>
            </a:r>
          </a:p>
          <a:p>
            <a:pPr algn="l" rtl="0">
              <a:buFont typeface="Wingdings" panose="05000000000000000000" pitchFamily="2" charset="2"/>
              <a:buChar char="ü"/>
            </a:pPr>
            <a:r>
              <a:rPr lang="en-US" b="0" i="0" u="none" strike="noStrike" dirty="0">
                <a:solidFill>
                  <a:srgbClr val="000000"/>
                </a:solidFill>
                <a:effectLst/>
                <a:latin typeface="Times New Roman" panose="02020603050405020304" pitchFamily="18" charset="0"/>
              </a:rPr>
              <a:t>Working with their muscles and movements will help.  Children reach some of their motor milestones and will prevent them from developing problems, such as bad posture, that can accompany low muscle tone</a:t>
            </a:r>
            <a:endParaRPr lang="ar-SA" dirty="0"/>
          </a:p>
        </p:txBody>
      </p:sp>
    </p:spTree>
    <p:extLst>
      <p:ext uri="{BB962C8B-B14F-4D97-AF65-F5344CB8AC3E}">
        <p14:creationId xmlns:p14="http://schemas.microsoft.com/office/powerpoint/2010/main" val="36558019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صورة 4">
            <a:extLst>
              <a:ext uri="{FF2B5EF4-FFF2-40B4-BE49-F238E27FC236}">
                <a16:creationId xmlns:a16="http://schemas.microsoft.com/office/drawing/2014/main" id="{2247A410-6678-4CC1-9992-1D37AD8C8C6A}"/>
              </a:ext>
            </a:extLst>
          </p:cNvPr>
          <p:cNvPicPr>
            <a:picLocks noChangeAspect="1"/>
          </p:cNvPicPr>
          <p:nvPr/>
        </p:nvPicPr>
        <p:blipFill>
          <a:blip r:embed="rId2"/>
          <a:stretch>
            <a:fillRect/>
          </a:stretch>
        </p:blipFill>
        <p:spPr>
          <a:xfrm>
            <a:off x="1524000" y="888274"/>
            <a:ext cx="9144000" cy="4987594"/>
          </a:xfrm>
          <a:prstGeom prst="rect">
            <a:avLst/>
          </a:prstGeom>
        </p:spPr>
      </p:pic>
      <p:sp>
        <p:nvSpPr>
          <p:cNvPr id="2" name="عنوان 1">
            <a:extLst>
              <a:ext uri="{FF2B5EF4-FFF2-40B4-BE49-F238E27FC236}">
                <a16:creationId xmlns:a16="http://schemas.microsoft.com/office/drawing/2014/main" id="{085093C0-9C0B-46EC-93F3-4AEBD5CAC9B3}"/>
              </a:ext>
            </a:extLst>
          </p:cNvPr>
          <p:cNvSpPr>
            <a:spLocks noGrp="1"/>
          </p:cNvSpPr>
          <p:nvPr>
            <p:ph type="title"/>
          </p:nvPr>
        </p:nvSpPr>
        <p:spPr/>
        <p:txBody>
          <a:bodyPr/>
          <a:lstStyle/>
          <a:p>
            <a:r>
              <a:rPr lang="en-US" b="0" i="0" u="none" strike="noStrike" dirty="0">
                <a:solidFill>
                  <a:srgbClr val="000000"/>
                </a:solidFill>
                <a:effectLst/>
                <a:latin typeface="Times New Roman" panose="02020603050405020304" pitchFamily="18" charset="0"/>
              </a:rPr>
              <a:t>Treatment &amp; Therapies</a:t>
            </a:r>
            <a:endParaRPr lang="ar-SA" dirty="0"/>
          </a:p>
        </p:txBody>
      </p:sp>
      <p:sp>
        <p:nvSpPr>
          <p:cNvPr id="3" name="عنصر نائب للمحتوى 2">
            <a:extLst>
              <a:ext uri="{FF2B5EF4-FFF2-40B4-BE49-F238E27FC236}">
                <a16:creationId xmlns:a16="http://schemas.microsoft.com/office/drawing/2014/main" id="{DF7B2486-87C0-4E77-9F4D-D7BAA15AED51}"/>
              </a:ext>
            </a:extLst>
          </p:cNvPr>
          <p:cNvSpPr>
            <a:spLocks noGrp="1"/>
          </p:cNvSpPr>
          <p:nvPr>
            <p:ph idx="1"/>
          </p:nvPr>
        </p:nvSpPr>
        <p:spPr/>
        <p:txBody>
          <a:bodyPr>
            <a:normAutofit fontScale="92500" lnSpcReduction="20000"/>
          </a:bodyPr>
          <a:lstStyle/>
          <a:p>
            <a:pPr algn="l" rtl="0">
              <a:buFont typeface="Wingdings" panose="05000000000000000000" pitchFamily="2" charset="2"/>
              <a:buChar char="v"/>
            </a:pPr>
            <a:r>
              <a:rPr lang="en-US" b="1" i="0" u="none" strike="noStrike" dirty="0">
                <a:solidFill>
                  <a:srgbClr val="000000"/>
                </a:solidFill>
                <a:effectLst/>
                <a:latin typeface="Baskerville Old Face" panose="02020602080505020303" pitchFamily="18" charset="0"/>
              </a:rPr>
              <a:t>Speech Therapy (Young Children): </a:t>
            </a:r>
          </a:p>
          <a:p>
            <a:pPr algn="l" rtl="0">
              <a:buFont typeface="Wingdings" panose="05000000000000000000" pitchFamily="2" charset="2"/>
              <a:buChar char="ü"/>
            </a:pPr>
            <a:r>
              <a:rPr lang="en-US" b="0" i="0" u="none" strike="noStrike" dirty="0">
                <a:solidFill>
                  <a:srgbClr val="000000"/>
                </a:solidFill>
                <a:effectLst/>
                <a:latin typeface="Times New Roman" panose="02020603050405020304" pitchFamily="18" charset="0"/>
              </a:rPr>
              <a:t>Although most children with Down syndrome learn to speak and will use speech as their primary means of communication, they will understand language and have the desire to communicate well before they are able to speak.  </a:t>
            </a:r>
          </a:p>
          <a:p>
            <a:pPr algn="l" rtl="0">
              <a:buFont typeface="Wingdings" panose="05000000000000000000" pitchFamily="2" charset="2"/>
              <a:buChar char="ü"/>
            </a:pPr>
            <a:r>
              <a:rPr lang="en-US" b="0" i="0" u="none" strike="noStrike" dirty="0">
                <a:solidFill>
                  <a:srgbClr val="000000"/>
                </a:solidFill>
                <a:effectLst/>
                <a:latin typeface="Times New Roman" panose="02020603050405020304" pitchFamily="18" charset="0"/>
              </a:rPr>
              <a:t>Because children with Down syndrome often have small mouths and slightly enlarged tongues, they can have trouble speaking clearly.  </a:t>
            </a:r>
          </a:p>
          <a:p>
            <a:pPr algn="l" rtl="0">
              <a:buFont typeface="Wingdings" panose="05000000000000000000" pitchFamily="2" charset="2"/>
              <a:buChar char="ü"/>
            </a:pPr>
            <a:r>
              <a:rPr lang="en-US" b="0" i="0" u="none" strike="noStrike" dirty="0">
                <a:solidFill>
                  <a:srgbClr val="000000"/>
                </a:solidFill>
                <a:effectLst/>
                <a:latin typeface="Times New Roman" panose="02020603050405020304" pitchFamily="18" charset="0"/>
              </a:rPr>
              <a:t>A speech therapist will work with an individual to help them learn to communicate clearly.  This can be achieved through talking, or in the case of many children using sign language, pictures, and / or electronic synthesized speech can serve as a transitional communication system.</a:t>
            </a:r>
            <a:endParaRPr lang="ar-SA" dirty="0"/>
          </a:p>
        </p:txBody>
      </p:sp>
    </p:spTree>
    <p:extLst>
      <p:ext uri="{BB962C8B-B14F-4D97-AF65-F5344CB8AC3E}">
        <p14:creationId xmlns:p14="http://schemas.microsoft.com/office/powerpoint/2010/main" val="4041674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وان 3">
            <a:extLst>
              <a:ext uri="{FF2B5EF4-FFF2-40B4-BE49-F238E27FC236}">
                <a16:creationId xmlns:a16="http://schemas.microsoft.com/office/drawing/2014/main" id="{3867E9AD-3760-46C4-89CE-487C65B74706}"/>
              </a:ext>
            </a:extLst>
          </p:cNvPr>
          <p:cNvSpPr>
            <a:spLocks noGrp="1"/>
          </p:cNvSpPr>
          <p:nvPr>
            <p:ph type="title"/>
          </p:nvPr>
        </p:nvSpPr>
        <p:spPr/>
        <p:txBody>
          <a:bodyPr/>
          <a:lstStyle/>
          <a:p>
            <a:r>
              <a:rPr lang="en-US" b="0" i="0" u="none" strike="noStrike" dirty="0">
                <a:solidFill>
                  <a:srgbClr val="000000"/>
                </a:solidFill>
                <a:effectLst/>
                <a:latin typeface="Times New Roman" panose="02020603050405020304" pitchFamily="18" charset="0"/>
              </a:rPr>
              <a:t>Treatment &amp; Therapies</a:t>
            </a:r>
            <a:endParaRPr lang="ar-SA" dirty="0"/>
          </a:p>
        </p:txBody>
      </p:sp>
      <p:sp>
        <p:nvSpPr>
          <p:cNvPr id="5" name="عنصر نائب للمحتوى 4">
            <a:extLst>
              <a:ext uri="{FF2B5EF4-FFF2-40B4-BE49-F238E27FC236}">
                <a16:creationId xmlns:a16="http://schemas.microsoft.com/office/drawing/2014/main" id="{766892B0-3684-4EA9-B65B-B90C671BA780}"/>
              </a:ext>
            </a:extLst>
          </p:cNvPr>
          <p:cNvSpPr>
            <a:spLocks noGrp="1"/>
          </p:cNvSpPr>
          <p:nvPr>
            <p:ph sz="half" idx="1"/>
          </p:nvPr>
        </p:nvSpPr>
        <p:spPr>
          <a:xfrm>
            <a:off x="1292352" y="2521131"/>
            <a:ext cx="4718304" cy="3540035"/>
          </a:xfrm>
        </p:spPr>
        <p:txBody>
          <a:bodyPr>
            <a:normAutofit fontScale="62500" lnSpcReduction="20000"/>
          </a:bodyPr>
          <a:lstStyle/>
          <a:p>
            <a:pPr algn="l" rtl="0"/>
            <a:r>
              <a:rPr lang="en-US" sz="3400" b="1" i="0" u="none" strike="noStrike" dirty="0">
                <a:solidFill>
                  <a:srgbClr val="000000"/>
                </a:solidFill>
                <a:effectLst/>
                <a:latin typeface="Baskerville Old Face" panose="02020602080505020303" pitchFamily="18" charset="0"/>
              </a:rPr>
              <a:t>Speech Therapy (Adolescents): </a:t>
            </a:r>
          </a:p>
          <a:p>
            <a:pPr marL="0" indent="0" algn="l" rtl="0">
              <a:buNone/>
            </a:pPr>
            <a:r>
              <a:rPr lang="en-US" b="0" i="0" u="sng" strike="noStrike" dirty="0">
                <a:solidFill>
                  <a:srgbClr val="000000"/>
                </a:solidFill>
                <a:effectLst/>
                <a:latin typeface="Times New Roman" panose="02020603050405020304" pitchFamily="18" charset="0"/>
              </a:rPr>
              <a:t>SPEECH CHARACTERISTICS OF ADOLESCENTS WITH DS </a:t>
            </a:r>
          </a:p>
          <a:p>
            <a:pPr marL="0" indent="0" algn="l" rtl="0">
              <a:buNone/>
            </a:pPr>
            <a:r>
              <a:rPr lang="en-US" sz="2500" b="0" i="0" u="none" strike="noStrike" dirty="0">
                <a:solidFill>
                  <a:srgbClr val="000000"/>
                </a:solidFill>
                <a:effectLst/>
                <a:latin typeface="Times New Roman" panose="02020603050405020304" pitchFamily="18" charset="0"/>
              </a:rPr>
              <a:t>Speech intelligibility (speech that can be easily understood) is one of the most difficult areas for people with Down syndrome at all ages.  Many children have difficulty with the strength, timing and coordination of muscle movements for speech.  Speech involves coordinating breathing (respiration), voice (phonation), and how speech sounds are produced (articulation). </a:t>
            </a:r>
            <a:endParaRPr lang="ar-SA" sz="2500" dirty="0"/>
          </a:p>
        </p:txBody>
      </p:sp>
      <p:sp>
        <p:nvSpPr>
          <p:cNvPr id="6" name="عنصر نائب للمحتوى 5">
            <a:extLst>
              <a:ext uri="{FF2B5EF4-FFF2-40B4-BE49-F238E27FC236}">
                <a16:creationId xmlns:a16="http://schemas.microsoft.com/office/drawing/2014/main" id="{29B968F4-A109-48C8-B51C-4FF11050F416}"/>
              </a:ext>
            </a:extLst>
          </p:cNvPr>
          <p:cNvSpPr>
            <a:spLocks noGrp="1"/>
          </p:cNvSpPr>
          <p:nvPr>
            <p:ph sz="half" idx="2"/>
          </p:nvPr>
        </p:nvSpPr>
        <p:spPr>
          <a:xfrm>
            <a:off x="6309360" y="2521131"/>
            <a:ext cx="4590288" cy="2926080"/>
          </a:xfrm>
        </p:spPr>
        <p:txBody>
          <a:bodyPr>
            <a:normAutofit fontScale="62500" lnSpcReduction="20000"/>
          </a:bodyPr>
          <a:lstStyle/>
          <a:p>
            <a:pPr marL="0" indent="0" algn="l" rtl="0">
              <a:buNone/>
            </a:pPr>
            <a:endParaRPr lang="en-US" b="0" i="0" u="none" strike="noStrike" dirty="0">
              <a:solidFill>
                <a:srgbClr val="000000"/>
              </a:solidFill>
              <a:effectLst/>
              <a:latin typeface="Times New Roman" panose="02020603050405020304" pitchFamily="18" charset="0"/>
            </a:endParaRPr>
          </a:p>
          <a:p>
            <a:pPr marL="0" indent="0" algn="l" rtl="0">
              <a:buNone/>
            </a:pPr>
            <a:r>
              <a:rPr lang="en-US" b="0" i="0" u="sng" strike="noStrike" dirty="0">
                <a:solidFill>
                  <a:srgbClr val="000000"/>
                </a:solidFill>
                <a:effectLst/>
                <a:latin typeface="Times New Roman" panose="02020603050405020304" pitchFamily="18" charset="0"/>
              </a:rPr>
              <a:t>ROLE OF A SPEECH - LANGUAGE PATHOLOGIST</a:t>
            </a:r>
          </a:p>
          <a:p>
            <a:pPr marL="0" indent="0" algn="l" rtl="0">
              <a:buNone/>
            </a:pPr>
            <a:r>
              <a:rPr lang="en-US" sz="2600" b="0" i="0" u="none" strike="noStrike" dirty="0">
                <a:solidFill>
                  <a:srgbClr val="000000"/>
                </a:solidFill>
                <a:effectLst/>
                <a:latin typeface="Times New Roman" panose="02020603050405020304" pitchFamily="18" charset="0"/>
              </a:rPr>
              <a:t> A speech - language pathologist (SLP) can provide evaluation and treatment for the speech and language difficulties experienced by adolescents with Down syndrome.  They can help develop a comprehensive treatment plan in the areas of receptive and expressive language, semantics, syntax, pragmatics, social and conversational skills, classroom language skills, etc.  SLPs can work with families and teachers to help children develop effective communication skills.</a:t>
            </a:r>
            <a:endParaRPr lang="ar-SA" sz="2600" dirty="0"/>
          </a:p>
        </p:txBody>
      </p:sp>
      <p:cxnSp>
        <p:nvCxnSpPr>
          <p:cNvPr id="10" name="رابط مستقيم 9">
            <a:extLst>
              <a:ext uri="{FF2B5EF4-FFF2-40B4-BE49-F238E27FC236}">
                <a16:creationId xmlns:a16="http://schemas.microsoft.com/office/drawing/2014/main" id="{94053152-1C04-42F9-99B3-4347B8669108}"/>
              </a:ext>
            </a:extLst>
          </p:cNvPr>
          <p:cNvCxnSpPr>
            <a:cxnSpLocks/>
          </p:cNvCxnSpPr>
          <p:nvPr/>
        </p:nvCxnSpPr>
        <p:spPr>
          <a:xfrm>
            <a:off x="6096000" y="2403566"/>
            <a:ext cx="0" cy="384048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867528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عنوان 7">
            <a:extLst>
              <a:ext uri="{FF2B5EF4-FFF2-40B4-BE49-F238E27FC236}">
                <a16:creationId xmlns:a16="http://schemas.microsoft.com/office/drawing/2014/main" id="{81E53916-2087-432D-81AA-AACC235F0307}"/>
              </a:ext>
            </a:extLst>
          </p:cNvPr>
          <p:cNvSpPr>
            <a:spLocks noGrp="1"/>
          </p:cNvSpPr>
          <p:nvPr>
            <p:ph type="title"/>
          </p:nvPr>
        </p:nvSpPr>
        <p:spPr/>
        <p:txBody>
          <a:bodyPr/>
          <a:lstStyle/>
          <a:p>
            <a:r>
              <a:rPr lang="en-US" b="0" i="0" u="none" strike="noStrike" dirty="0">
                <a:solidFill>
                  <a:srgbClr val="000000"/>
                </a:solidFill>
                <a:effectLst/>
                <a:latin typeface="Times New Roman" panose="02020603050405020304" pitchFamily="18" charset="0"/>
              </a:rPr>
              <a:t>Treatment &amp; Therapies</a:t>
            </a:r>
            <a:endParaRPr lang="ar-SA" dirty="0"/>
          </a:p>
        </p:txBody>
      </p:sp>
      <p:sp>
        <p:nvSpPr>
          <p:cNvPr id="9" name="عنصر نائب للمحتوى 8">
            <a:extLst>
              <a:ext uri="{FF2B5EF4-FFF2-40B4-BE49-F238E27FC236}">
                <a16:creationId xmlns:a16="http://schemas.microsoft.com/office/drawing/2014/main" id="{5D30E7F9-DECE-4D52-B438-705558CABD6E}"/>
              </a:ext>
            </a:extLst>
          </p:cNvPr>
          <p:cNvSpPr>
            <a:spLocks noGrp="1"/>
          </p:cNvSpPr>
          <p:nvPr>
            <p:ph idx="1"/>
          </p:nvPr>
        </p:nvSpPr>
        <p:spPr/>
        <p:txBody>
          <a:bodyPr>
            <a:normAutofit lnSpcReduction="10000"/>
          </a:bodyPr>
          <a:lstStyle/>
          <a:p>
            <a:pPr algn="l" rtl="0">
              <a:buFont typeface="Wingdings" panose="05000000000000000000" pitchFamily="2" charset="2"/>
              <a:buChar char="v"/>
            </a:pPr>
            <a:r>
              <a:rPr lang="en-US" b="1" i="0" u="none" strike="noStrike" dirty="0">
                <a:solidFill>
                  <a:srgbClr val="000000"/>
                </a:solidFill>
                <a:effectLst/>
                <a:latin typeface="Baskerville Old Face" panose="02020602080505020303" pitchFamily="18" charset="0"/>
              </a:rPr>
              <a:t>Occupational Therapy</a:t>
            </a:r>
            <a:r>
              <a:rPr lang="en-US" b="0" i="0" u="none" strike="noStrike" dirty="0">
                <a:solidFill>
                  <a:srgbClr val="000000"/>
                </a:solidFill>
                <a:effectLst/>
                <a:latin typeface="Times New Roman" panose="02020603050405020304" pitchFamily="18" charset="0"/>
              </a:rPr>
              <a:t>: </a:t>
            </a:r>
          </a:p>
          <a:p>
            <a:pPr algn="l" rtl="0">
              <a:buFont typeface="Wingdings" panose="05000000000000000000" pitchFamily="2" charset="2"/>
              <a:buChar char="ü"/>
            </a:pPr>
            <a:r>
              <a:rPr lang="en-US" b="0" i="0" u="none" strike="noStrike" dirty="0">
                <a:solidFill>
                  <a:srgbClr val="000000"/>
                </a:solidFill>
                <a:effectLst/>
                <a:latin typeface="Times New Roman" panose="02020603050405020304" pitchFamily="18" charset="0"/>
              </a:rPr>
              <a:t>Occupational therapists focus on the child's ability to master skills for independence.  These can include: </a:t>
            </a:r>
          </a:p>
          <a:p>
            <a:pPr algn="l" rtl="0">
              <a:buFont typeface="Wingdings" panose="05000000000000000000" pitchFamily="2" charset="2"/>
              <a:buChar char="q"/>
            </a:pPr>
            <a:r>
              <a:rPr lang="en-US" b="0" i="0" u="none" strike="noStrike" dirty="0">
                <a:solidFill>
                  <a:srgbClr val="000000"/>
                </a:solidFill>
                <a:effectLst/>
                <a:latin typeface="Times New Roman" panose="02020603050405020304" pitchFamily="18" charset="0"/>
              </a:rPr>
              <a:t>Self care skills (feeding, dressing, grooming, etc.) </a:t>
            </a:r>
          </a:p>
          <a:p>
            <a:pPr algn="l" rtl="0">
              <a:buFont typeface="Wingdings" panose="05000000000000000000" pitchFamily="2" charset="2"/>
              <a:buChar char="q"/>
            </a:pPr>
            <a:r>
              <a:rPr lang="en-US" b="0" i="0" u="none" strike="noStrike" dirty="0">
                <a:solidFill>
                  <a:srgbClr val="000000"/>
                </a:solidFill>
                <a:effectLst/>
                <a:latin typeface="Times New Roman" panose="02020603050405020304" pitchFamily="18" charset="0"/>
              </a:rPr>
              <a:t>Fine and gross motor skills </a:t>
            </a:r>
          </a:p>
          <a:p>
            <a:pPr algn="l" rtl="0">
              <a:buFont typeface="Wingdings" panose="05000000000000000000" pitchFamily="2" charset="2"/>
              <a:buChar char="q"/>
            </a:pPr>
            <a:r>
              <a:rPr lang="en-US" b="0" i="0" u="none" strike="noStrike" dirty="0">
                <a:solidFill>
                  <a:srgbClr val="000000"/>
                </a:solidFill>
                <a:effectLst/>
                <a:latin typeface="Times New Roman" panose="02020603050405020304" pitchFamily="18" charset="0"/>
              </a:rPr>
              <a:t>skills related to school performance (</a:t>
            </a:r>
            <a:r>
              <a:rPr lang="en-US" b="0" i="0" u="none" strike="noStrike" dirty="0" err="1">
                <a:solidFill>
                  <a:srgbClr val="000000"/>
                </a:solidFill>
                <a:effectLst/>
                <a:latin typeface="Times New Roman" panose="02020603050405020304" pitchFamily="18" charset="0"/>
              </a:rPr>
              <a:t>eg</a:t>
            </a:r>
            <a:r>
              <a:rPr lang="en-US" b="0" i="0" u="none" strike="noStrike" dirty="0">
                <a:solidFill>
                  <a:srgbClr val="000000"/>
                </a:solidFill>
                <a:effectLst/>
                <a:latin typeface="Times New Roman" panose="02020603050405020304" pitchFamily="18" charset="0"/>
              </a:rPr>
              <a:t>: printing, cutting, etc.)</a:t>
            </a:r>
          </a:p>
          <a:p>
            <a:pPr algn="l" rtl="0">
              <a:buFont typeface="Wingdings" panose="05000000000000000000" pitchFamily="2" charset="2"/>
              <a:buChar char="q"/>
            </a:pPr>
            <a:r>
              <a:rPr lang="en-US" b="0" i="0" u="none" strike="noStrike" dirty="0">
                <a:solidFill>
                  <a:srgbClr val="000000"/>
                </a:solidFill>
                <a:effectLst/>
                <a:latin typeface="Times New Roman" panose="02020603050405020304" pitchFamily="18" charset="0"/>
              </a:rPr>
              <a:t> Play and leisure skills</a:t>
            </a:r>
            <a:endParaRPr lang="ar-SA" dirty="0"/>
          </a:p>
        </p:txBody>
      </p:sp>
    </p:spTree>
    <p:extLst>
      <p:ext uri="{BB962C8B-B14F-4D97-AF65-F5344CB8AC3E}">
        <p14:creationId xmlns:p14="http://schemas.microsoft.com/office/powerpoint/2010/main" val="1199448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صورة 6">
            <a:extLst>
              <a:ext uri="{FF2B5EF4-FFF2-40B4-BE49-F238E27FC236}">
                <a16:creationId xmlns:a16="http://schemas.microsoft.com/office/drawing/2014/main" id="{8428B8EE-0FBF-4E94-B9AD-F6A4B11C1552}"/>
              </a:ext>
            </a:extLst>
          </p:cNvPr>
          <p:cNvPicPr>
            <a:picLocks noChangeAspect="1"/>
          </p:cNvPicPr>
          <p:nvPr/>
        </p:nvPicPr>
        <p:blipFill rotWithShape="1">
          <a:blip r:embed="rId2"/>
          <a:srcRect b="30343"/>
          <a:stretch/>
        </p:blipFill>
        <p:spPr>
          <a:xfrm>
            <a:off x="5956663" y="1285875"/>
            <a:ext cx="5677436" cy="4286250"/>
          </a:xfrm>
          <a:prstGeom prst="rect">
            <a:avLst/>
          </a:prstGeom>
        </p:spPr>
      </p:pic>
      <p:pic>
        <p:nvPicPr>
          <p:cNvPr id="5" name="صورة 4">
            <a:extLst>
              <a:ext uri="{FF2B5EF4-FFF2-40B4-BE49-F238E27FC236}">
                <a16:creationId xmlns:a16="http://schemas.microsoft.com/office/drawing/2014/main" id="{06723319-5FA9-4A17-9384-E6D5F7B39B5F}"/>
              </a:ext>
            </a:extLst>
          </p:cNvPr>
          <p:cNvPicPr>
            <a:picLocks noChangeAspect="1"/>
          </p:cNvPicPr>
          <p:nvPr/>
        </p:nvPicPr>
        <p:blipFill>
          <a:blip r:embed="rId3"/>
          <a:stretch>
            <a:fillRect/>
          </a:stretch>
        </p:blipFill>
        <p:spPr>
          <a:xfrm>
            <a:off x="1005840" y="1285875"/>
            <a:ext cx="4950823" cy="4286250"/>
          </a:xfrm>
          <a:prstGeom prst="rect">
            <a:avLst/>
          </a:prstGeom>
        </p:spPr>
      </p:pic>
      <p:sp>
        <p:nvSpPr>
          <p:cNvPr id="2" name="عنوان 1">
            <a:extLst>
              <a:ext uri="{FF2B5EF4-FFF2-40B4-BE49-F238E27FC236}">
                <a16:creationId xmlns:a16="http://schemas.microsoft.com/office/drawing/2014/main" id="{8AA918BF-6773-45B4-B140-71C3C8694957}"/>
              </a:ext>
            </a:extLst>
          </p:cNvPr>
          <p:cNvSpPr>
            <a:spLocks noGrp="1"/>
          </p:cNvSpPr>
          <p:nvPr>
            <p:ph type="title"/>
          </p:nvPr>
        </p:nvSpPr>
        <p:spPr/>
        <p:txBody>
          <a:bodyPr/>
          <a:lstStyle/>
          <a:p>
            <a:r>
              <a:rPr lang="en-US" b="0" i="0" u="none" strike="noStrike" dirty="0">
                <a:solidFill>
                  <a:srgbClr val="000000"/>
                </a:solidFill>
                <a:effectLst/>
                <a:latin typeface="Times New Roman" panose="02020603050405020304" pitchFamily="18" charset="0"/>
              </a:rPr>
              <a:t>Treatment &amp; Therapies</a:t>
            </a:r>
            <a:endParaRPr lang="ar-SA" dirty="0"/>
          </a:p>
        </p:txBody>
      </p:sp>
      <p:sp>
        <p:nvSpPr>
          <p:cNvPr id="3" name="عنصر نائب للمحتوى 2">
            <a:extLst>
              <a:ext uri="{FF2B5EF4-FFF2-40B4-BE49-F238E27FC236}">
                <a16:creationId xmlns:a16="http://schemas.microsoft.com/office/drawing/2014/main" id="{56D0AEF3-9673-4B2F-9084-17BCF8FA2256}"/>
              </a:ext>
            </a:extLst>
          </p:cNvPr>
          <p:cNvSpPr>
            <a:spLocks noGrp="1"/>
          </p:cNvSpPr>
          <p:nvPr>
            <p:ph idx="1"/>
          </p:nvPr>
        </p:nvSpPr>
        <p:spPr/>
        <p:txBody>
          <a:bodyPr>
            <a:normAutofit fontScale="92500" lnSpcReduction="20000"/>
          </a:bodyPr>
          <a:lstStyle/>
          <a:p>
            <a:pPr algn="l" rtl="0"/>
            <a:r>
              <a:rPr lang="en-US" b="1" i="0" u="none" strike="noStrike" dirty="0">
                <a:solidFill>
                  <a:srgbClr val="000000"/>
                </a:solidFill>
                <a:effectLst/>
                <a:latin typeface="Baskerville Old Face" panose="02020602080505020303" pitchFamily="18" charset="0"/>
              </a:rPr>
              <a:t>WHEN THE CHILD IS AN INFANT, AN OT MAY BECOME INVOLVED TO: </a:t>
            </a:r>
          </a:p>
          <a:p>
            <a:pPr algn="l" rtl="0">
              <a:buFont typeface="Wingdings" panose="05000000000000000000" pitchFamily="2" charset="2"/>
              <a:buChar char="q"/>
            </a:pPr>
            <a:r>
              <a:rPr lang="en-US" b="0" i="0" u="none" strike="noStrike" dirty="0">
                <a:solidFill>
                  <a:srgbClr val="000000"/>
                </a:solidFill>
                <a:effectLst/>
                <a:latin typeface="Times New Roman" panose="02020603050405020304" pitchFamily="18" charset="0"/>
              </a:rPr>
              <a:t>Assist with </a:t>
            </a:r>
            <a:r>
              <a:rPr lang="en-US" b="0" i="0" u="sng" strike="noStrike" dirty="0">
                <a:solidFill>
                  <a:srgbClr val="000000"/>
                </a:solidFill>
                <a:effectLst/>
                <a:latin typeface="Times New Roman" panose="02020603050405020304" pitchFamily="18" charset="0"/>
              </a:rPr>
              <a:t>oral - motor feeding problems.  </a:t>
            </a:r>
          </a:p>
          <a:p>
            <a:pPr algn="l" rtl="0">
              <a:buFont typeface="Wingdings" panose="05000000000000000000" pitchFamily="2" charset="2"/>
              <a:buChar char="q"/>
            </a:pPr>
            <a:r>
              <a:rPr lang="en-US" b="0" i="0" u="none" strike="noStrike" dirty="0">
                <a:solidFill>
                  <a:srgbClr val="000000"/>
                </a:solidFill>
                <a:effectLst/>
                <a:latin typeface="Times New Roman" panose="02020603050405020304" pitchFamily="18" charset="0"/>
              </a:rPr>
              <a:t>Help facilitate </a:t>
            </a:r>
            <a:r>
              <a:rPr lang="en-US" b="0" i="0" u="sng" strike="noStrike" dirty="0">
                <a:solidFill>
                  <a:srgbClr val="000000"/>
                </a:solidFill>
                <a:effectLst/>
                <a:latin typeface="Times New Roman" panose="02020603050405020304" pitchFamily="18" charset="0"/>
              </a:rPr>
              <a:t>motor milestones, </a:t>
            </a:r>
            <a:r>
              <a:rPr lang="en-US" b="0" i="0" u="none" strike="noStrike" dirty="0">
                <a:solidFill>
                  <a:srgbClr val="000000"/>
                </a:solidFill>
                <a:effectLst/>
                <a:latin typeface="Times New Roman" panose="02020603050405020304" pitchFamily="18" charset="0"/>
              </a:rPr>
              <a:t>particularly for fine </a:t>
            </a:r>
            <a:r>
              <a:rPr lang="en-US" b="0" i="0" u="sng" strike="noStrike" dirty="0">
                <a:solidFill>
                  <a:srgbClr val="000000"/>
                </a:solidFill>
                <a:effectLst/>
                <a:latin typeface="Times New Roman" panose="02020603050405020304" pitchFamily="18" charset="0"/>
              </a:rPr>
              <a:t>motor skills.  </a:t>
            </a:r>
          </a:p>
          <a:p>
            <a:pPr algn="l" rtl="0">
              <a:buFont typeface="Wingdings" panose="05000000000000000000" pitchFamily="2" charset="2"/>
              <a:buChar char="q"/>
            </a:pPr>
            <a:r>
              <a:rPr lang="en-US" b="0" i="0" u="none" strike="noStrike" dirty="0">
                <a:solidFill>
                  <a:srgbClr val="000000"/>
                </a:solidFill>
                <a:effectLst/>
                <a:latin typeface="Times New Roman" panose="02020603050405020304" pitchFamily="18" charset="0"/>
              </a:rPr>
              <a:t>Occupational therapists and Physical therapists work closely together to help the young child develop gross motor milestones (ex: </a:t>
            </a:r>
            <a:r>
              <a:rPr lang="en-US" b="0" i="0" u="sng" strike="noStrike" dirty="0">
                <a:solidFill>
                  <a:srgbClr val="000000"/>
                </a:solidFill>
                <a:effectLst/>
                <a:latin typeface="Times New Roman" panose="02020603050405020304" pitchFamily="18" charset="0"/>
              </a:rPr>
              <a:t>sitting, crawling, standing, walking</a:t>
            </a:r>
            <a:r>
              <a:rPr lang="en-US" b="0" i="0" u="none" strike="noStrike" dirty="0">
                <a:solidFill>
                  <a:srgbClr val="000000"/>
                </a:solidFill>
                <a:effectLst/>
                <a:latin typeface="Times New Roman" panose="02020603050405020304" pitchFamily="18" charset="0"/>
              </a:rPr>
              <a:t>).  </a:t>
            </a:r>
          </a:p>
          <a:p>
            <a:pPr algn="l" rtl="0">
              <a:buFont typeface="Wingdings" panose="05000000000000000000" pitchFamily="2" charset="2"/>
              <a:buChar char="q"/>
            </a:pPr>
            <a:r>
              <a:rPr lang="en-US" b="0" i="0" u="none" strike="noStrike" dirty="0">
                <a:solidFill>
                  <a:srgbClr val="000000"/>
                </a:solidFill>
                <a:effectLst/>
                <a:latin typeface="Times New Roman" panose="02020603050405020304" pitchFamily="18" charset="0"/>
              </a:rPr>
              <a:t>OTs work with the child at this stage to promote arm and hand movements that lay the foundation for later developing fine motor skills.</a:t>
            </a:r>
            <a:endParaRPr lang="ar-SA" dirty="0"/>
          </a:p>
        </p:txBody>
      </p:sp>
    </p:spTree>
    <p:extLst>
      <p:ext uri="{BB962C8B-B14F-4D97-AF65-F5344CB8AC3E}">
        <p14:creationId xmlns:p14="http://schemas.microsoft.com/office/powerpoint/2010/main" val="1791978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94B16AFE-24FB-4932-8332-F11843A047B5}"/>
              </a:ext>
            </a:extLst>
          </p:cNvPr>
          <p:cNvSpPr>
            <a:spLocks noGrp="1"/>
          </p:cNvSpPr>
          <p:nvPr>
            <p:ph type="title"/>
          </p:nvPr>
        </p:nvSpPr>
        <p:spPr/>
        <p:txBody>
          <a:bodyPr/>
          <a:lstStyle/>
          <a:p>
            <a:r>
              <a:rPr lang="en-US" b="0" i="0" u="none" strike="noStrike" dirty="0">
                <a:solidFill>
                  <a:srgbClr val="000000"/>
                </a:solidFill>
                <a:effectLst/>
                <a:latin typeface="Times New Roman" panose="02020603050405020304" pitchFamily="18" charset="0"/>
              </a:rPr>
              <a:t>Treatment &amp; Therapies</a:t>
            </a:r>
            <a:endParaRPr lang="ar-SA" dirty="0"/>
          </a:p>
        </p:txBody>
      </p:sp>
      <p:sp>
        <p:nvSpPr>
          <p:cNvPr id="3" name="عنصر نائب للمحتوى 2">
            <a:extLst>
              <a:ext uri="{FF2B5EF4-FFF2-40B4-BE49-F238E27FC236}">
                <a16:creationId xmlns:a16="http://schemas.microsoft.com/office/drawing/2014/main" id="{66A0263A-76F8-495C-95BF-0D655F26B420}"/>
              </a:ext>
            </a:extLst>
          </p:cNvPr>
          <p:cNvSpPr>
            <a:spLocks noGrp="1"/>
          </p:cNvSpPr>
          <p:nvPr>
            <p:ph idx="1"/>
          </p:nvPr>
        </p:nvSpPr>
        <p:spPr>
          <a:xfrm>
            <a:off x="1295401" y="2556931"/>
            <a:ext cx="9601196" cy="3621800"/>
          </a:xfrm>
        </p:spPr>
        <p:txBody>
          <a:bodyPr>
            <a:normAutofit fontScale="92500" lnSpcReduction="20000"/>
          </a:bodyPr>
          <a:lstStyle/>
          <a:p>
            <a:pPr algn="l" rtl="0"/>
            <a:r>
              <a:rPr lang="en-US" b="1" i="0" u="none" strike="noStrike" dirty="0">
                <a:solidFill>
                  <a:srgbClr val="000000"/>
                </a:solidFill>
                <a:effectLst/>
                <a:latin typeface="Baskerville Old Face" panose="02020602080505020303" pitchFamily="18" charset="0"/>
              </a:rPr>
              <a:t>WHEN THE CHILD IS A TODDLER AND PRESCHOOLER, AN OT MAY BECOME INVOLVED TO: </a:t>
            </a:r>
          </a:p>
          <a:p>
            <a:pPr algn="l" rtl="0">
              <a:buFont typeface="Wingdings" panose="05000000000000000000" pitchFamily="2" charset="2"/>
              <a:buChar char="q"/>
            </a:pPr>
            <a:r>
              <a:rPr lang="en-US" b="0" i="0" u="none" strike="noStrike" dirty="0">
                <a:solidFill>
                  <a:srgbClr val="000000"/>
                </a:solidFill>
                <a:effectLst/>
                <a:latin typeface="Times New Roman" panose="02020603050405020304" pitchFamily="18" charset="0"/>
              </a:rPr>
              <a:t>Facilitate the development of fine motor skills.  </a:t>
            </a:r>
          </a:p>
          <a:p>
            <a:pPr algn="l" rtl="0">
              <a:buFont typeface="Wingdings" panose="05000000000000000000" pitchFamily="2" charset="2"/>
              <a:buChar char="q"/>
            </a:pPr>
            <a:r>
              <a:rPr lang="en-US" b="0" i="0" u="none" strike="noStrike" dirty="0">
                <a:solidFill>
                  <a:srgbClr val="000000"/>
                </a:solidFill>
                <a:effectLst/>
                <a:latin typeface="Times New Roman" panose="02020603050405020304" pitchFamily="18" charset="0"/>
              </a:rPr>
              <a:t>Children do this through play, they open and close things, pick up and release toys of varying sizes and shapes, stack and build, manipulate knobs and buttons, experiment with crayons etc.  </a:t>
            </a:r>
          </a:p>
          <a:p>
            <a:pPr algn="l" rtl="0">
              <a:buFont typeface="Wingdings" panose="05000000000000000000" pitchFamily="2" charset="2"/>
              <a:buChar char="q"/>
            </a:pPr>
            <a:r>
              <a:rPr lang="en-US" b="0" i="0" u="none" strike="noStrike" dirty="0">
                <a:solidFill>
                  <a:srgbClr val="000000"/>
                </a:solidFill>
                <a:effectLst/>
                <a:latin typeface="Times New Roman" panose="02020603050405020304" pitchFamily="18" charset="0"/>
              </a:rPr>
              <a:t>Help the child promote the beginning steps of self help skills.  </a:t>
            </a:r>
          </a:p>
          <a:p>
            <a:pPr algn="l" rtl="0">
              <a:buFont typeface="Wingdings" panose="05000000000000000000" pitchFamily="2" charset="2"/>
              <a:buChar char="q"/>
            </a:pPr>
            <a:r>
              <a:rPr lang="en-US" b="0" i="0" u="none" strike="noStrike" dirty="0">
                <a:solidFill>
                  <a:srgbClr val="000000"/>
                </a:solidFill>
                <a:effectLst/>
                <a:latin typeface="Times New Roman" panose="02020603050405020304" pitchFamily="18" charset="0"/>
              </a:rPr>
              <a:t>An OT can suggest adaptations that might help the child be more independent.  For example, a child may have more success feeding herself with a particular type of spoon and dish.</a:t>
            </a:r>
            <a:endParaRPr lang="ar-SA" dirty="0"/>
          </a:p>
        </p:txBody>
      </p:sp>
    </p:spTree>
    <p:extLst>
      <p:ext uri="{BB962C8B-B14F-4D97-AF65-F5344CB8AC3E}">
        <p14:creationId xmlns:p14="http://schemas.microsoft.com/office/powerpoint/2010/main" val="27264819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4640968-2C5E-4175-92BD-6769AD5474C6}"/>
              </a:ext>
            </a:extLst>
          </p:cNvPr>
          <p:cNvSpPr>
            <a:spLocks noGrp="1"/>
          </p:cNvSpPr>
          <p:nvPr>
            <p:ph type="title"/>
          </p:nvPr>
        </p:nvSpPr>
        <p:spPr/>
        <p:txBody>
          <a:bodyPr>
            <a:noAutofit/>
          </a:bodyPr>
          <a:lstStyle/>
          <a:p>
            <a:r>
              <a:rPr lang="en-US" sz="2800" b="0" i="0" u="none" strike="noStrike" dirty="0">
                <a:solidFill>
                  <a:srgbClr val="000000"/>
                </a:solidFill>
                <a:effectLst/>
                <a:latin typeface="Times New Roman" panose="02020603050405020304" pitchFamily="18" charset="0"/>
              </a:rPr>
              <a:t>DOWN SYNDROME RESEARCHERS REMOVE EXTRA COPY OF CHROMOSOME 21 NOVEMBER 12, </a:t>
            </a:r>
            <a:r>
              <a:rPr lang="en-US" sz="2800" b="0" i="0" u="sng" dirty="0">
                <a:solidFill>
                  <a:srgbClr val="0066CC"/>
                </a:solidFill>
                <a:effectLst/>
                <a:latin typeface="Times New Roman" panose="02020603050405020304" pitchFamily="18" charset="0"/>
                <a:hlinkClick r:id="rId2"/>
              </a:rPr>
              <a:t>2012</a:t>
            </a:r>
            <a:endParaRPr lang="ar-SA" sz="2800" dirty="0"/>
          </a:p>
        </p:txBody>
      </p:sp>
      <p:sp>
        <p:nvSpPr>
          <p:cNvPr id="3" name="عنصر نائب للمحتوى 2">
            <a:extLst>
              <a:ext uri="{FF2B5EF4-FFF2-40B4-BE49-F238E27FC236}">
                <a16:creationId xmlns:a16="http://schemas.microsoft.com/office/drawing/2014/main" id="{6E0006A4-1076-4AEC-AEEE-E6085E1C063F}"/>
              </a:ext>
            </a:extLst>
          </p:cNvPr>
          <p:cNvSpPr>
            <a:spLocks noGrp="1"/>
          </p:cNvSpPr>
          <p:nvPr>
            <p:ph idx="1"/>
          </p:nvPr>
        </p:nvSpPr>
        <p:spPr>
          <a:xfrm>
            <a:off x="4416336" y="2448800"/>
            <a:ext cx="6764381" cy="3318936"/>
          </a:xfrm>
        </p:spPr>
        <p:txBody>
          <a:bodyPr/>
          <a:lstStyle/>
          <a:p>
            <a:pPr algn="l" rtl="0"/>
            <a:r>
              <a:rPr lang="en-US" b="0" i="0" u="none" strike="noStrike" dirty="0">
                <a:solidFill>
                  <a:srgbClr val="000000"/>
                </a:solidFill>
                <a:effectLst/>
                <a:latin typeface="Times New Roman" panose="02020603050405020304" pitchFamily="18" charset="0"/>
              </a:rPr>
              <a:t>Geneticists from the </a:t>
            </a:r>
            <a:r>
              <a:rPr lang="en-US" i="0" u="sng" strike="noStrike" dirty="0">
                <a:solidFill>
                  <a:schemeClr val="accent3">
                    <a:lumMod val="75000"/>
                  </a:schemeClr>
                </a:solidFill>
                <a:effectLst/>
                <a:latin typeface="Times New Roman" panose="02020603050405020304" pitchFamily="18" charset="0"/>
              </a:rPr>
              <a:t>University of Washington </a:t>
            </a:r>
            <a:r>
              <a:rPr lang="en-US" b="0" i="0" u="none" strike="noStrike" dirty="0">
                <a:solidFill>
                  <a:srgbClr val="000000"/>
                </a:solidFill>
                <a:effectLst/>
                <a:latin typeface="Times New Roman" panose="02020603050405020304" pitchFamily="18" charset="0"/>
              </a:rPr>
              <a:t>won a key victory in the battle against genetic diseases by successfully removing the extra chromosome 21 from cells derived from a person with Down, according to the team's  report in the journal </a:t>
            </a:r>
            <a:r>
              <a:rPr lang="en-US" b="0" i="0" u="sng" strike="noStrike" dirty="0">
                <a:solidFill>
                  <a:schemeClr val="accent3">
                    <a:lumMod val="75000"/>
                  </a:schemeClr>
                </a:solidFill>
                <a:effectLst/>
                <a:latin typeface="Times New Roman" panose="02020603050405020304" pitchFamily="18" charset="0"/>
              </a:rPr>
              <a:t>Cell Stem Cell</a:t>
            </a:r>
            <a:endParaRPr lang="ar-SA" u="sng" dirty="0">
              <a:solidFill>
                <a:schemeClr val="accent3">
                  <a:lumMod val="75000"/>
                </a:schemeClr>
              </a:solidFill>
            </a:endParaRPr>
          </a:p>
        </p:txBody>
      </p:sp>
      <p:pic>
        <p:nvPicPr>
          <p:cNvPr id="8" name="صورة 7">
            <a:extLst>
              <a:ext uri="{FF2B5EF4-FFF2-40B4-BE49-F238E27FC236}">
                <a16:creationId xmlns:a16="http://schemas.microsoft.com/office/drawing/2014/main" id="{68660744-4FB3-4BBB-BB49-5F5BCCCC21E5}"/>
              </a:ext>
            </a:extLst>
          </p:cNvPr>
          <p:cNvPicPr>
            <a:picLocks noChangeAspect="1"/>
          </p:cNvPicPr>
          <p:nvPr/>
        </p:nvPicPr>
        <p:blipFill>
          <a:blip r:embed="rId3"/>
          <a:stretch>
            <a:fillRect/>
          </a:stretch>
        </p:blipFill>
        <p:spPr>
          <a:xfrm>
            <a:off x="1318263" y="2720702"/>
            <a:ext cx="3098073" cy="3155166"/>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Tree>
    <p:extLst>
      <p:ext uri="{BB962C8B-B14F-4D97-AF65-F5344CB8AC3E}">
        <p14:creationId xmlns:p14="http://schemas.microsoft.com/office/powerpoint/2010/main" val="19589781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وان 3">
            <a:extLst>
              <a:ext uri="{FF2B5EF4-FFF2-40B4-BE49-F238E27FC236}">
                <a16:creationId xmlns:a16="http://schemas.microsoft.com/office/drawing/2014/main" id="{F373942E-99FC-4C8E-A18E-0B273D739B1C}"/>
              </a:ext>
            </a:extLst>
          </p:cNvPr>
          <p:cNvSpPr>
            <a:spLocks noGrp="1"/>
          </p:cNvSpPr>
          <p:nvPr>
            <p:ph type="title"/>
          </p:nvPr>
        </p:nvSpPr>
        <p:spPr/>
        <p:txBody>
          <a:bodyPr>
            <a:normAutofit/>
          </a:bodyPr>
          <a:lstStyle/>
          <a:p>
            <a:r>
              <a:rPr lang="en-US" b="0" i="0" u="none" strike="noStrike" dirty="0">
                <a:solidFill>
                  <a:srgbClr val="000000"/>
                </a:solidFill>
                <a:effectLst/>
                <a:latin typeface="Times New Roman" panose="02020603050405020304" pitchFamily="18" charset="0"/>
              </a:rPr>
              <a:t>Counseling Parents of Children With DS  </a:t>
            </a:r>
            <a:endParaRPr lang="ar-SA" dirty="0"/>
          </a:p>
        </p:txBody>
      </p:sp>
      <p:sp>
        <p:nvSpPr>
          <p:cNvPr id="5" name="عنصر نائب للمحتوى 4">
            <a:extLst>
              <a:ext uri="{FF2B5EF4-FFF2-40B4-BE49-F238E27FC236}">
                <a16:creationId xmlns:a16="http://schemas.microsoft.com/office/drawing/2014/main" id="{CF1E88CC-9FF1-42BE-9BC5-D30FEC36AAEB}"/>
              </a:ext>
            </a:extLst>
          </p:cNvPr>
          <p:cNvSpPr>
            <a:spLocks noGrp="1"/>
          </p:cNvSpPr>
          <p:nvPr>
            <p:ph sz="half" idx="1"/>
          </p:nvPr>
        </p:nvSpPr>
        <p:spPr>
          <a:xfrm>
            <a:off x="1298447" y="2560320"/>
            <a:ext cx="7244662" cy="3310128"/>
          </a:xfrm>
        </p:spPr>
        <p:txBody>
          <a:bodyPr>
            <a:normAutofit fontScale="92500" lnSpcReduction="10000"/>
          </a:bodyPr>
          <a:lstStyle/>
          <a:p>
            <a:pPr algn="l" rtl="0"/>
            <a:r>
              <a:rPr lang="en-US" b="0" i="0" u="none" strike="noStrike" dirty="0">
                <a:solidFill>
                  <a:srgbClr val="000000"/>
                </a:solidFill>
                <a:effectLst/>
                <a:latin typeface="Times New Roman" panose="02020603050405020304" pitchFamily="18" charset="0"/>
              </a:rPr>
              <a:t>The primary objective in counseling parents of a child with Down's syndrome is to secure realistic goals.  That is, it cannot be fully CURED.  </a:t>
            </a:r>
          </a:p>
          <a:p>
            <a:pPr algn="l" rtl="0"/>
            <a:r>
              <a:rPr lang="en-US" b="0" i="0" u="none" strike="noStrike" dirty="0">
                <a:solidFill>
                  <a:srgbClr val="000000"/>
                </a:solidFill>
                <a:effectLst/>
                <a:latin typeface="Times New Roman" panose="02020603050405020304" pitchFamily="18" charset="0"/>
              </a:rPr>
              <a:t>They are NOT the cause of their child's condition. </a:t>
            </a:r>
          </a:p>
          <a:p>
            <a:pPr algn="l" rtl="0"/>
            <a:r>
              <a:rPr lang="en-US" b="0" i="0" u="none" strike="noStrike" dirty="0">
                <a:solidFill>
                  <a:srgbClr val="000000"/>
                </a:solidFill>
                <a:effectLst/>
                <a:latin typeface="Times New Roman" panose="02020603050405020304" pitchFamily="18" charset="0"/>
              </a:rPr>
              <a:t>Genetic Counseling </a:t>
            </a:r>
          </a:p>
          <a:p>
            <a:pPr algn="l" rtl="0"/>
            <a:r>
              <a:rPr lang="en-US" b="0" i="0" u="none" strike="noStrike" dirty="0">
                <a:solidFill>
                  <a:srgbClr val="000000"/>
                </a:solidFill>
                <a:effectLst/>
                <a:latin typeface="Times New Roman" panose="02020603050405020304" pitchFamily="18" charset="0"/>
              </a:rPr>
              <a:t>An accepted place in the family for the child.  </a:t>
            </a:r>
          </a:p>
          <a:p>
            <a:pPr algn="l" rtl="0"/>
            <a:r>
              <a:rPr lang="en-US" b="0" i="0" u="none" strike="noStrike" dirty="0">
                <a:solidFill>
                  <a:srgbClr val="000000"/>
                </a:solidFill>
                <a:effectLst/>
                <a:latin typeface="Times New Roman" panose="02020603050405020304" pitchFamily="18" charset="0"/>
              </a:rPr>
              <a:t>A nurturing environment gives the child the best chance to reach full potential</a:t>
            </a:r>
            <a:endParaRPr lang="ar-SA" dirty="0"/>
          </a:p>
        </p:txBody>
      </p:sp>
      <p:pic>
        <p:nvPicPr>
          <p:cNvPr id="7" name="عنصر نائب للمحتوى 6">
            <a:extLst>
              <a:ext uri="{FF2B5EF4-FFF2-40B4-BE49-F238E27FC236}">
                <a16:creationId xmlns:a16="http://schemas.microsoft.com/office/drawing/2014/main" id="{EB63637D-00F9-44B2-B83C-667612D5C05E}"/>
              </a:ext>
            </a:extLst>
          </p:cNvPr>
          <p:cNvPicPr>
            <a:picLocks noGrp="1" noChangeAspect="1"/>
          </p:cNvPicPr>
          <p:nvPr>
            <p:ph sz="half" idx="2"/>
          </p:nvPr>
        </p:nvPicPr>
        <p:blipFill>
          <a:blip r:embed="rId2"/>
          <a:stretch>
            <a:fillRect/>
          </a:stretch>
        </p:blipFill>
        <p:spPr>
          <a:xfrm>
            <a:off x="8741478" y="2560320"/>
            <a:ext cx="2152075" cy="3237257"/>
          </a:xfrm>
          <a:prstGeom prst="rect">
            <a:avLst/>
          </a:prstGeom>
        </p:spPr>
      </p:pic>
    </p:spTree>
    <p:extLst>
      <p:ext uri="{BB962C8B-B14F-4D97-AF65-F5344CB8AC3E}">
        <p14:creationId xmlns:p14="http://schemas.microsoft.com/office/powerpoint/2010/main" val="27702087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مربع نص 7">
            <a:extLst>
              <a:ext uri="{FF2B5EF4-FFF2-40B4-BE49-F238E27FC236}">
                <a16:creationId xmlns:a16="http://schemas.microsoft.com/office/drawing/2014/main" id="{5AA7C92C-0896-4F1B-9350-CA41D752CEF9}"/>
              </a:ext>
            </a:extLst>
          </p:cNvPr>
          <p:cNvSpPr txBox="1"/>
          <p:nvPr/>
        </p:nvSpPr>
        <p:spPr>
          <a:xfrm>
            <a:off x="2719521" y="3028629"/>
            <a:ext cx="6113416" cy="1754326"/>
          </a:xfrm>
          <a:prstGeom prst="rect">
            <a:avLst/>
          </a:prstGeom>
          <a:noFill/>
        </p:spPr>
        <p:txBody>
          <a:bodyPr wrap="square">
            <a:spAutoFit/>
          </a:bodyPr>
          <a:lstStyle/>
          <a:p>
            <a:pPr algn="ctr"/>
            <a:r>
              <a:rPr lang="en-US" sz="5400" dirty="0">
                <a:latin typeface="Algerian" panose="04020705040A02060702" pitchFamily="82" charset="0"/>
              </a:rPr>
              <a:t>THANK</a:t>
            </a:r>
          </a:p>
          <a:p>
            <a:pPr algn="ctr"/>
            <a:r>
              <a:rPr lang="en-US" sz="5400" dirty="0">
                <a:latin typeface="Algerian" panose="04020705040A02060702" pitchFamily="82" charset="0"/>
              </a:rPr>
              <a:t>                     YOU!</a:t>
            </a:r>
            <a:endParaRPr lang="ar-SA" sz="5400" dirty="0">
              <a:latin typeface="Algerian" panose="04020705040A02060702" pitchFamily="82" charset="0"/>
            </a:endParaRPr>
          </a:p>
        </p:txBody>
      </p:sp>
      <p:pic>
        <p:nvPicPr>
          <p:cNvPr id="9" name="صورة 8">
            <a:extLst>
              <a:ext uri="{FF2B5EF4-FFF2-40B4-BE49-F238E27FC236}">
                <a16:creationId xmlns:a16="http://schemas.microsoft.com/office/drawing/2014/main" id="{29ED7974-DF73-4726-B720-C663FEF4FBE5}"/>
              </a:ext>
            </a:extLst>
          </p:cNvPr>
          <p:cNvPicPr>
            <a:picLocks noChangeAspect="1"/>
          </p:cNvPicPr>
          <p:nvPr/>
        </p:nvPicPr>
        <p:blipFill>
          <a:blip r:embed="rId2"/>
          <a:stretch>
            <a:fillRect/>
          </a:stretch>
        </p:blipFill>
        <p:spPr>
          <a:xfrm>
            <a:off x="7785464" y="808761"/>
            <a:ext cx="3520710" cy="2620237"/>
          </a:xfrm>
          <a:prstGeom prst="rect">
            <a:avLst/>
          </a:prstGeom>
        </p:spPr>
      </p:pic>
      <p:pic>
        <p:nvPicPr>
          <p:cNvPr id="10" name="صورة 9">
            <a:extLst>
              <a:ext uri="{FF2B5EF4-FFF2-40B4-BE49-F238E27FC236}">
                <a16:creationId xmlns:a16="http://schemas.microsoft.com/office/drawing/2014/main" id="{033EDE2E-3009-4F84-85B7-BF5EF84D323C}"/>
              </a:ext>
            </a:extLst>
          </p:cNvPr>
          <p:cNvPicPr>
            <a:picLocks noChangeAspect="1"/>
          </p:cNvPicPr>
          <p:nvPr/>
        </p:nvPicPr>
        <p:blipFill>
          <a:blip r:embed="rId3"/>
          <a:stretch>
            <a:fillRect/>
          </a:stretch>
        </p:blipFill>
        <p:spPr>
          <a:xfrm>
            <a:off x="821050" y="808762"/>
            <a:ext cx="3520710" cy="2620238"/>
          </a:xfrm>
          <a:prstGeom prst="rect">
            <a:avLst/>
          </a:prstGeom>
        </p:spPr>
      </p:pic>
      <p:pic>
        <p:nvPicPr>
          <p:cNvPr id="11" name="صورة 10">
            <a:extLst>
              <a:ext uri="{FF2B5EF4-FFF2-40B4-BE49-F238E27FC236}">
                <a16:creationId xmlns:a16="http://schemas.microsoft.com/office/drawing/2014/main" id="{C1182214-654E-4F54-8232-BD6324A01568}"/>
              </a:ext>
            </a:extLst>
          </p:cNvPr>
          <p:cNvPicPr>
            <a:picLocks noChangeAspect="1"/>
          </p:cNvPicPr>
          <p:nvPr/>
        </p:nvPicPr>
        <p:blipFill>
          <a:blip r:embed="rId4"/>
          <a:stretch>
            <a:fillRect/>
          </a:stretch>
        </p:blipFill>
        <p:spPr>
          <a:xfrm>
            <a:off x="821050" y="3905794"/>
            <a:ext cx="3520710" cy="2228351"/>
          </a:xfrm>
          <a:prstGeom prst="rect">
            <a:avLst/>
          </a:prstGeom>
        </p:spPr>
      </p:pic>
    </p:spTree>
    <p:extLst>
      <p:ext uri="{BB962C8B-B14F-4D97-AF65-F5344CB8AC3E}">
        <p14:creationId xmlns:p14="http://schemas.microsoft.com/office/powerpoint/2010/main" val="201266302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عضوي">
  <a:themeElements>
    <a:clrScheme name="عضوي">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عضوي">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عضوي">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